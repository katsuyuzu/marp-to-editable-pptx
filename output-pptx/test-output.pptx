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85765"/>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Proceeding to the next step</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Deploy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was successful. Please verify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Warning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This action cannot be undone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Star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to show your support</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Project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All tests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 — please verify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Important task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Deploy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Warning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the full flow.</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Completed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In-progress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Pending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Failed task</a:t>
            </a:r>
            <a:endParaRPr lang="en-US" sz="21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467100"/>
                <a:gridCol w="3533775"/>
                <a:gridCol w="335280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30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640360"/>
            <a:ext cx="10696575" cy="1585913"/>
          </a:xfrm>
          <a:prstGeom prst="roundRect">
            <a:avLst>
              <a:gd name="adj" fmla="val 5541"/>
            </a:avLst>
          </a:prstGeom>
          <a:solidFill>
            <a:srgbClr val="F0F4FF"/>
          </a:solidFill>
          <a:ln w="19050">
            <a:solidFill>
              <a:srgbClr val="333366"/>
            </a:solidFill>
            <a:prstDash val="solid"/>
          </a:ln>
        </p:spPr>
      </p:sp>
      <p:sp>
        <p:nvSpPr>
          <p:cNvPr id="4" name="Text 2"/>
          <p:cNvSpPr/>
          <p:nvPr/>
        </p:nvSpPr>
        <p:spPr>
          <a:xfrm>
            <a:off x="747713" y="2640360"/>
            <a:ext cx="11077575" cy="1585913"/>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package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7 specialized AI agents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support the full workflow from planning, documentation, design, estimation, test design, implementation, to review.</a:t>
            </a:r>
            <a:endParaRPr lang="en-US" sz="2175" dirty="0"/>
          </a:p>
        </p:txBody>
      </p:sp>
      <p:sp>
        <p:nvSpPr>
          <p:cNvPr id="5" name="Text 3"/>
          <p:cNvSpPr/>
          <p:nvPr/>
        </p:nvSpPr>
        <p:spPr>
          <a:xfrm>
            <a:off x="747713" y="42262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298236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First step: Install the tool</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732711"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 file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config.json</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operation ✅</a:t>
            </a:r>
            <a:endParaRPr lang="en-US" sz="21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1</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High-speed processing</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Low latency</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3</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Scalable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Provides an easy-to-use API.</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236018"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3152329"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5819"/>
            <a:ext cx="10696575" cy="3250257"/>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mcp.json</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9179"/>
            <a:ext cx="66675" cy="418951"/>
          </a:xfrm>
          <a:prstGeom prst="rect">
            <a:avLst/>
          </a:prstGeom>
          <a:solidFill>
            <a:srgbClr val="D1D9E0"/>
          </a:solidFill>
          <a:ln/>
        </p:spPr>
      </p:sp>
      <p:sp>
        <p:nvSpPr>
          <p:cNvPr id="8" name="Text 6"/>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9517707" cy="914400"/>
        </p:xfrm>
        <a:graphic>
          <a:graphicData uri="http://schemas.openxmlformats.org/drawingml/2006/table">
            <a:tbl>
              <a:tblPr/>
              <a:tblGrid>
                <a:gridCol w="809625"/>
                <a:gridCol w="2590800"/>
                <a:gridCol w="3305175"/>
                <a:gridCol w="2800350"/>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Responsible Agent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Estimator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Spec document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sheet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Design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 Requirements</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Test Design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Test case list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latin typeface="Consolas" pitchFamily="34" charset="0"/>
                          <a:ea typeface="Consolas" pitchFamily="34" charset="-122"/>
                          <a:cs typeface="Consolas" pitchFamily="34" charset="-120"/>
                        </a:rPr>
                        <a:t>dev-planner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TC + 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Implementation plan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Review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PR + 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Review results</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493889"/>
            <a:ext cx="5291138" cy="3294459"/>
          </a:xfrm>
          <a:prstGeom prst="roundRect">
            <a:avLst>
              <a:gd name="adj" fmla="val 1284"/>
            </a:avLst>
          </a:prstGeom>
          <a:ln w="9525">
            <a:solidFill>
              <a:srgbClr val="CCCCCC"/>
            </a:solidFill>
            <a:prstDash val="solid"/>
          </a:ln>
        </p:spPr>
      </p:sp>
      <p:sp>
        <p:nvSpPr>
          <p:cNvPr id="6" name="Text 4"/>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23925"/>
                <a:gridCol w="904875"/>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0302"/>
            <a:ext cx="66675" cy="414338"/>
          </a:xfrm>
          <a:prstGeom prst="rect">
            <a:avLst/>
          </a:prstGeom>
          <a:solidFill>
            <a:srgbClr val="D1D9E0"/>
          </a:solidFill>
          <a:ln/>
        </p:spPr>
      </p:sp>
      <p:sp>
        <p:nvSpPr>
          <p:cNvPr id="12" name="Text 9"/>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Testing agents and skills</a:t>
            </a:r>
            <a:endParaRPr lang="en-US" sz="2175" dirty="0"/>
          </a:p>
        </p:txBody>
      </p:sp>
      <p:sp>
        <p:nvSpPr>
          <p:cNvPr id="4" name="Text 2"/>
          <p:cNvSpPr/>
          <p:nvPr/>
        </p:nvSpPr>
        <p:spPr>
          <a:xfrm>
            <a:off x="747713" y="2704207"/>
            <a:ext cx="10696575" cy="2693194"/>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that a series of tasks completes automatically in 5–10 minutes: "Bug fix request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Analysis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Plan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 impl</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Code review</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Completion report"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Identify and share which agents and skills are effective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54980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61165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683276"/>
            <a:ext cx="11001375" cy="1747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7250013"/>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816751"/>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Done</a:t>
            </a:r>
            <a:endParaRPr lang="en-US" sz="217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368475" cy="352425"/>
          </a:xfrm>
          <a:prstGeom prst="roundRect">
            <a:avLst>
              <a:gd name="adj" fmla="val 129730"/>
            </a:avLst>
          </a:prstGeom>
          <a:solidFill>
            <a:srgbClr val="E53E3E"/>
          </a:solidFill>
          <a:ln/>
        </p:spPr>
      </p:sp>
      <p:sp>
        <p:nvSpPr>
          <p:cNvPr id="5" name="Text 3"/>
          <p:cNvSpPr/>
          <p:nvPr/>
        </p:nvSpPr>
        <p:spPr>
          <a:xfrm>
            <a:off x="2591246" y="2742307"/>
            <a:ext cx="136847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Not started</a:t>
            </a:r>
            <a:endParaRPr lang="en-US" sz="1849" dirty="0"/>
          </a:p>
        </p:txBody>
      </p:sp>
      <p:sp>
        <p:nvSpPr>
          <p:cNvPr id="6" name="Shape 4"/>
          <p:cNvSpPr/>
          <p:nvPr/>
        </p:nvSpPr>
        <p:spPr>
          <a:xfrm>
            <a:off x="2048173" y="3156645"/>
            <a:ext cx="1349425" cy="352425"/>
          </a:xfrm>
          <a:prstGeom prst="roundRect">
            <a:avLst>
              <a:gd name="adj" fmla="val 129730"/>
            </a:avLst>
          </a:prstGeom>
          <a:solidFill>
            <a:srgbClr val="3182CE"/>
          </a:solidFill>
          <a:ln/>
        </p:spPr>
      </p:sp>
      <p:sp>
        <p:nvSpPr>
          <p:cNvPr id="7" name="Text 5"/>
          <p:cNvSpPr/>
          <p:nvPr/>
        </p:nvSpPr>
        <p:spPr>
          <a:xfrm>
            <a:off x="2048173" y="3156645"/>
            <a:ext cx="134942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In progress</a:t>
            </a:r>
            <a:endParaRPr lang="en-US" sz="1849" dirty="0"/>
          </a:p>
        </p:txBody>
      </p:sp>
      <p:sp>
        <p:nvSpPr>
          <p:cNvPr id="8" name="Shape 6"/>
          <p:cNvSpPr/>
          <p:nvPr/>
        </p:nvSpPr>
        <p:spPr>
          <a:xfrm>
            <a:off x="2065883" y="3570982"/>
            <a:ext cx="1082427" cy="352425"/>
          </a:xfrm>
          <a:prstGeom prst="roundRect">
            <a:avLst>
              <a:gd name="adj" fmla="val 129730"/>
            </a:avLst>
          </a:prstGeom>
          <a:solidFill>
            <a:srgbClr val="38A169"/>
          </a:solidFill>
          <a:ln/>
        </p:spPr>
      </p:sp>
      <p:sp>
        <p:nvSpPr>
          <p:cNvPr id="9" name="Text 7"/>
          <p:cNvSpPr/>
          <p:nvPr/>
        </p:nvSpPr>
        <p:spPr>
          <a:xfrm>
            <a:off x="2065883" y="3570982"/>
            <a:ext cx="1082427"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Done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935831" cy="490538"/>
          </a:xfrm>
          <a:prstGeom prst="roundRect">
            <a:avLst>
              <a:gd name="adj" fmla="val 93204"/>
            </a:avLst>
          </a:prstGeom>
          <a:solidFill>
            <a:srgbClr val="C05621"/>
          </a:solidFill>
          <a:ln/>
        </p:spPr>
      </p:sp>
      <p:sp>
        <p:nvSpPr>
          <p:cNvPr id="13" name="Text 11"/>
          <p:cNvSpPr/>
          <p:nvPr/>
        </p:nvSpPr>
        <p:spPr>
          <a:xfrm>
            <a:off x="747713" y="4666357"/>
            <a:ext cx="935831"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HIGH</a:t>
            </a:r>
            <a:endParaRPr lang="en-US" sz="2175" dirty="0"/>
          </a:p>
        </p:txBody>
      </p:sp>
      <p:sp>
        <p:nvSpPr>
          <p:cNvPr id="14" name="Shape 12"/>
          <p:cNvSpPr/>
          <p:nvPr/>
        </p:nvSpPr>
        <p:spPr>
          <a:xfrm>
            <a:off x="1721644" y="4666357"/>
            <a:ext cx="843707" cy="490538"/>
          </a:xfrm>
          <a:prstGeom prst="roundRect">
            <a:avLst>
              <a:gd name="adj" fmla="val 93204"/>
            </a:avLst>
          </a:prstGeom>
          <a:solidFill>
            <a:srgbClr val="DD6B20"/>
          </a:solidFill>
          <a:ln/>
        </p:spPr>
      </p:sp>
      <p:sp>
        <p:nvSpPr>
          <p:cNvPr id="15" name="Text 13"/>
          <p:cNvSpPr/>
          <p:nvPr/>
        </p:nvSpPr>
        <p:spPr>
          <a:xfrm>
            <a:off x="1721644" y="4666357"/>
            <a:ext cx="84370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MED</a:t>
            </a:r>
            <a:endParaRPr lang="en-US" sz="2175" dirty="0"/>
          </a:p>
        </p:txBody>
      </p:sp>
      <p:sp>
        <p:nvSpPr>
          <p:cNvPr id="16" name="Shape 14"/>
          <p:cNvSpPr/>
          <p:nvPr/>
        </p:nvSpPr>
        <p:spPr>
          <a:xfrm>
            <a:off x="2603450" y="4666357"/>
            <a:ext cx="850106" cy="490538"/>
          </a:xfrm>
          <a:prstGeom prst="roundRect">
            <a:avLst>
              <a:gd name="adj" fmla="val 93204"/>
            </a:avLst>
          </a:prstGeom>
          <a:solidFill>
            <a:srgbClr val="2F855A"/>
          </a:solidFill>
          <a:ln/>
        </p:spPr>
      </p:sp>
      <p:sp>
        <p:nvSpPr>
          <p:cNvPr id="17" name="Text 15"/>
          <p:cNvSpPr/>
          <p:nvPr/>
        </p:nvSpPr>
        <p:spPr>
          <a:xfrm>
            <a:off x="2603450" y="4666357"/>
            <a:ext cx="850106"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LOW</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1937891" y="5949851"/>
            <a:ext cx="266700" cy="266700"/>
          </a:xfrm>
          <a:prstGeom prst="roundRect">
            <a:avLst>
              <a:gd name="adj" fmla="val 171429"/>
            </a:avLst>
          </a:prstGeom>
          <a:solidFill>
            <a:srgbClr val="3182CE"/>
          </a:solidFill>
          <a:ln/>
        </p:spPr>
      </p:sp>
      <p:sp>
        <p:nvSpPr>
          <p:cNvPr id="22" name="Text 20"/>
          <p:cNvSpPr/>
          <p:nvPr/>
        </p:nvSpPr>
        <p:spPr>
          <a:xfrm>
            <a:off x="1937891"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23" name="Shape 21"/>
          <p:cNvSpPr/>
          <p:nvPr/>
        </p:nvSpPr>
        <p:spPr>
          <a:xfrm>
            <a:off x="4509195" y="5918895"/>
            <a:ext cx="266700" cy="266700"/>
          </a:xfrm>
          <a:prstGeom prst="roundRect">
            <a:avLst>
              <a:gd name="adj" fmla="val 171429"/>
            </a:avLst>
          </a:prstGeom>
          <a:solidFill>
            <a:srgbClr val="38A169"/>
          </a:solidFill>
          <a:ln/>
        </p:spPr>
      </p:sp>
      <p:sp>
        <p:nvSpPr>
          <p:cNvPr id="24" name="Text 22"/>
          <p:cNvSpPr/>
          <p:nvPr/>
        </p:nvSpPr>
        <p:spPr>
          <a:xfrm>
            <a:off x="4509195" y="5918895"/>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a:t>
            </a:r>
            <a:endParaRPr lang="en-US" sz="2175" dirty="0"/>
          </a:p>
        </p:txBody>
      </p:sp>
      <p:sp>
        <p:nvSpPr>
          <p:cNvPr id="25" name="Text 23"/>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Install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Verify operation</a:t>
            </a:r>
            <a:endParaRPr lang="en-US" sz="2175"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04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827734"/>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436441"/>
            <a:ext cx="381000" cy="381000"/>
          </a:xfrm>
          <a:prstGeom prst="rect">
            <a:avLst/>
          </a:prstGeom>
          <a:solidFill>
            <a:srgbClr val="6B46C1"/>
          </a:solidFill>
          <a:ln/>
        </p:spPr>
      </p:sp>
      <p:sp>
        <p:nvSpPr>
          <p:cNvPr id="5" name="Text 3"/>
          <p:cNvSpPr/>
          <p:nvPr/>
        </p:nvSpPr>
        <p:spPr>
          <a:xfrm>
            <a:off x="747713" y="3436441"/>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Design</a:t>
            </a:r>
            <a:endParaRPr lang="en-US" sz="1740" dirty="0"/>
          </a:p>
        </p:txBody>
      </p:sp>
      <p:sp>
        <p:nvSpPr>
          <p:cNvPr id="6" name="Shape 4"/>
          <p:cNvSpPr/>
          <p:nvPr/>
        </p:nvSpPr>
        <p:spPr>
          <a:xfrm>
            <a:off x="1128713" y="3411141"/>
            <a:ext cx="381000" cy="381000"/>
          </a:xfrm>
          <a:prstGeom prst="roundRect">
            <a:avLst>
              <a:gd name="adj" fmla="val 120000"/>
            </a:avLst>
          </a:prstGeom>
          <a:solidFill>
            <a:srgbClr val="38A169"/>
          </a:solidFill>
          <a:ln/>
        </p:spPr>
      </p:sp>
      <p:sp>
        <p:nvSpPr>
          <p:cNvPr id="7" name="Text 5"/>
          <p:cNvSpPr/>
          <p:nvPr/>
        </p:nvSpPr>
        <p:spPr>
          <a:xfrm>
            <a:off x="1128713" y="3411141"/>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Text 6"/>
          <p:cNvSpPr/>
          <p:nvPr/>
        </p:nvSpPr>
        <p:spPr>
          <a:xfrm>
            <a:off x="747713" y="3969841"/>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Design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Implementation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Review </a:t>
            </a:r>
            <a:pPr algn="l" indent="0" marL="0">
              <a:lnSpc>
                <a:spcPct val="150000"/>
              </a:lnSpc>
              <a:buNone/>
            </a:pPr>
            <a:r>
              <a:rPr lang="en-US" sz="1740" dirty="0">
                <a:solidFill>
                  <a:srgbClr val="FFFFFF"/>
                </a:solidFill>
                <a:highlight>
                  <a:srgbClr val="C05621"/>
                </a:highlight>
                <a:latin typeface="Segoe UI" pitchFamily="34" charset="0"/>
                <a:ea typeface="Segoe UI" pitchFamily="34" charset="-122"/>
                <a:cs typeface="Segoe UI" pitchFamily="34" charset="-120"/>
              </a:rPr>
              <a:t>Needs review</a:t>
            </a:r>
            <a:endParaRPr lang="en-US" sz="217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6343948" cy="85725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958405"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704927"/>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054400"/>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04470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46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861965"/>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852267"/>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emphasised with this technique. Test whether the marker portion is rendered as text highlight or background colour in PPTX.</a:t>
            </a:r>
            <a:endParaRPr lang="en-US" sz="2175"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Set up the environment</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the configuration file</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Run tests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verify operation</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6420743" cy="914400"/>
        </p:xfrm>
        <a:graphic>
          <a:graphicData uri="http://schemas.openxmlformats.org/drawingml/2006/table">
            <a:tbl>
              <a:tblPr/>
              <a:tblGrid>
                <a:gridCol w="790575"/>
                <a:gridCol w="1704975"/>
                <a:gridCol w="1533525"/>
                <a:gridCol w="1524000"/>
                <a:gridCol w="85725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Tool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Before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After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Verdict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A</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Code completion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input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Auto-complete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B</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Review</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check</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Auto-detect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Test generation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write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Auto-generate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Documentation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update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Semi-auto</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7959179" y="2661791"/>
            <a:ext cx="3485108"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7959179" y="2661791"/>
            <a:ext cx="3866108"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I want to improve the performance of this function.</a:t>
            </a:r>
            <a:endParaRPr lang="en-US" sz="1125" dirty="0"/>
          </a:p>
        </p:txBody>
      </p:sp>
      <p:sp>
        <p:nvSpPr>
          <p:cNvPr id="5" name="Shape 3"/>
          <p:cNvSpPr/>
          <p:nvPr/>
        </p:nvSpPr>
        <p:spPr>
          <a:xfrm>
            <a:off x="747713" y="3161854"/>
            <a:ext cx="3264545"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3340745"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Sure, here are a few approaches.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Memoisation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cache computed results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Lazy evaluation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compute only when needed</a:t>
            </a:r>
            <a:endParaRPr lang="en-US" sz="1125" dirty="0"/>
          </a:p>
        </p:txBody>
      </p:sp>
      <p:sp>
        <p:nvSpPr>
          <p:cNvPr id="7" name="Shape 5"/>
          <p:cNvSpPr/>
          <p:nvPr/>
        </p:nvSpPr>
        <p:spPr>
          <a:xfrm>
            <a:off x="8206234" y="4109591"/>
            <a:ext cx="3238054"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8206234" y="4109591"/>
            <a:ext cx="3619054"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Can you show me an example of memoisation?</a:t>
            </a:r>
            <a:endParaRPr lang="en-US" sz="1125" dirty="0"/>
          </a:p>
        </p:txBody>
      </p:sp>
      <p:sp>
        <p:nvSpPr>
          <p:cNvPr id="9" name="Shape 7"/>
          <p:cNvSpPr/>
          <p:nvPr/>
        </p:nvSpPr>
        <p:spPr>
          <a:xfrm>
            <a:off x="747713" y="4609654"/>
            <a:ext cx="6541740"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6617940"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Map</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memoisation pattern is common. It works well for pure functions with no side effects.</a:t>
            </a:r>
            <a:endParaRPr lang="en-US" sz="112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Analytics report</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Executions: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Success rate: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98.5%</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Average duration: 2.3 s</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Caution</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API rate limits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60 requests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minute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429 error.</a:t>
            </a:r>
            <a:endParaRPr lang="en-US" sz="217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your key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config.json</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overwrite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settings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operation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executing.</a:t>
            </a:r>
            <a:endParaRPr lang="en-US" sz="1125"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91125" y="3026122"/>
            <a:ext cx="1809750" cy="604838"/>
          </a:xfrm>
          <a:prstGeom prst="roundRect">
            <a:avLst>
              <a:gd name="adj" fmla="val 38093"/>
            </a:avLst>
          </a:prstGeom>
          <a:solidFill>
            <a:srgbClr val="2563EB"/>
          </a:solidFill>
          <a:ln/>
        </p:spPr>
      </p:sp>
      <p:sp>
        <p:nvSpPr>
          <p:cNvPr id="4" name="Text 2"/>
          <p:cNvSpPr/>
          <p:nvPr/>
        </p:nvSpPr>
        <p:spPr>
          <a:xfrm>
            <a:off x="5191125" y="3026122"/>
            <a:ext cx="1885950"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data</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Data validation</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Transform &amp;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Output &amp; save</a:t>
            </a:r>
            <a:endParaRPr lang="en-US" sz="217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61975"/>
                <a:gridCol w="1152525"/>
                <a:gridCol w="1990725"/>
              </a:tblGrid>
              <a:tr h="0">
                <a:tc>
                  <a:txBody>
                    <a:bodyPr/>
                    <a:lstStyle/>
                    <a:p>
                      <a:pPr algn="l" indent="0" marL="0">
                        <a:buNone/>
                      </a:pPr>
                      <a:endParaRPr lang="en-US" sz="2175" dirty="0">
                        <a:latin typeface="Segoe UI" charset="0"/>
                        <a:ea typeface="Segoe UI" charset="0"/>
                        <a:cs typeface="Segoe UI" charset="0"/>
                      </a:endParaRPr>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7566"/>
            <a:ext cx="11001375" cy="833289"/>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325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64172"/>
            <a:ext cx="7343775" cy="833289"/>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49861"/>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1973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Copy the config directory</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Restart the application</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Launch from the command palette</a:t>
            </a:r>
            <a:endParaRPr lang="en-US" sz="2392"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63334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20007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development efficiency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improvements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1514475"/>
                <a:gridCol w="1400175"/>
                <a:gridCol w="1257300"/>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Current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Target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Test automation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Partial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Full coverage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CI integration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Manual trigger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Automated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Deploy</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Weekly manual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Daily auto</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percentages (42%)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test-first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approach for quality assurance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Fix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High / Medium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findings during review before completion</a:t>
            </a:r>
            <a:endParaRPr lang="en-US" sz="2175"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42691"/>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28380"/>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2379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Background and Purpose</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Current Issues</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Migration Strategy</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Technical Approach</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Implementation Plan</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Expected Outcomes</a:t>
            </a:r>
            <a:endParaRPr lang="en-US" sz="16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2026-04-11T01:11:36Z</dcterms:created>
  <dcterms:modified xsi:type="dcterms:W3CDTF">2026-04-11T01:11:36Z</dcterms:modified>
</cp:coreProperties>
</file>