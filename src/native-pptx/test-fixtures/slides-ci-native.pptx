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1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25000"/>
              </a:lnSpc>
              <a:buNone/>
            </a:pPr>
            <a:endParaRPr lang="en-US" sz="3480" dirty="0"/>
          </a:p>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8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4" name="Text 2"/>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025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233761"/>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3018830"/>
            <a:ext cx="112918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627239"/>
            <a:ext cx="11291888" cy="362545"/>
          </a:xfrm>
          <a:prstGeom prst="rect">
            <a:avLst/>
          </a:prstGeom>
          <a:noFill/>
          <a:ln/>
        </p:spPr>
        <p:txBody>
          <a:bodyPr wrap="square" lIns="0" tIns="0" rIns="0" bIns="0" rtlCol="0" anchor="t"/>
          <a:lstStyle/>
          <a:p>
            <a:pPr algn="l" indent="0" marL="0">
              <a:lnSpc>
                <a:spcPct val="125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14218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12325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日本語と English が混在していても問題ないことを確認します。</a:t>
            </a:r>
            <a:endParaRPr lang="en-US" sz="2175" dirty="0"/>
          </a:p>
        </p:txBody>
      </p:sp>
      <p:sp>
        <p:nvSpPr>
          <p:cNvPr id="8" name="Text 6"/>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45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85765"/>
            <a:ext cx="11001375" cy="418951"/>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is also tested.</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endParaRPr lang="en-US" sz="2175" dirty="0"/>
          </a:p>
        </p:txBody>
      </p:sp>
      <p:sp>
        <p:nvSpPr>
          <p:cNvPr id="6" name="Text 4"/>
          <p:cNvSpPr/>
          <p:nvPr/>
        </p:nvSpPr>
        <p:spPr>
          <a:xfrm>
            <a:off x="747713" y="4490591"/>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15175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5471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113907"/>
            <a:ext cx="11001375" cy="1657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Task completed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Proceeding to the next step</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Deploy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was successful. Please verify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Warning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This action cannot be undone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Star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to show your support</a:t>
            </a:r>
            <a:endParaRPr lang="en-US" sz="2175" dirty="0"/>
          </a:p>
        </p:txBody>
      </p:sp>
      <p:sp>
        <p:nvSpPr>
          <p:cNvPr id="7" name="Text 5"/>
          <p:cNvSpPr/>
          <p:nvPr/>
        </p:nvSpPr>
        <p:spPr>
          <a:xfrm>
            <a:off x="747713" y="592365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90395"/>
            <a:ext cx="11001375" cy="36760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Project completed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All tests passed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747713" y="7471470"/>
            <a:ext cx="11001375" cy="9144"/>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Consecutive emoji:</a:t>
            </a:r>
            <a:endParaRPr lang="en-US" sz="2175" dirty="0"/>
          </a:p>
        </p:txBody>
      </p:sp>
      <p:sp>
        <p:nvSpPr>
          <p:cNvPr id="10" name="Text 8"/>
          <p:cNvSpPr/>
          <p:nvPr/>
        </p:nvSpPr>
        <p:spPr>
          <a:xfrm>
            <a:off x="747713" y="80382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Five consecutive emoji in a row</a:t>
            </a:r>
            <a:endParaRPr lang="en-US" sz="2175" dirty="0"/>
          </a:p>
        </p:txBody>
      </p:sp>
      <p:sp>
        <p:nvSpPr>
          <p:cNvPr id="11" name="Text 9"/>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206528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Task complete — please verify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Important task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263202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Deploy</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 Warning check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the full flow.</a:t>
            </a:r>
            <a:endParaRPr lang="en-US" sz="2175" dirty="0"/>
          </a:p>
        </p:txBody>
      </p:sp>
      <p:sp>
        <p:nvSpPr>
          <p:cNvPr id="5" name="Text 3"/>
          <p:cNvSpPr/>
          <p:nvPr/>
        </p:nvSpPr>
        <p:spPr>
          <a:xfrm>
            <a:off x="747713" y="3198763"/>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6" name="Text 4"/>
          <p:cNvSpPr/>
          <p:nvPr/>
        </p:nvSpPr>
        <p:spPr>
          <a:xfrm>
            <a:off x="747713" y="3765500"/>
            <a:ext cx="10696575" cy="1864519"/>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Completed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In-progress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Pending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Failed task</a:t>
            </a:r>
            <a:endParaRPr lang="en-US" sz="2175"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3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Shape 1"/>
          <p:cNvSpPr/>
          <p:nvPr/>
        </p:nvSpPr>
        <p:spPr>
          <a:xfrm>
            <a:off x="747713" y="2785616"/>
            <a:ext cx="10696575" cy="1143000"/>
          </a:xfrm>
          <a:prstGeom prst="roundRect">
            <a:avLst>
              <a:gd name="adj" fmla="val 8000"/>
            </a:avLst>
          </a:prstGeom>
          <a:solidFill>
            <a:srgbClr val="F6F8FA"/>
          </a:solidFill>
          <a:ln w="9525">
            <a:solidFill>
              <a:srgbClr val="D1D9E0"/>
            </a:solidFill>
            <a:prstDash val="solid"/>
          </a:ln>
        </p:spPr>
      </p:sp>
      <p:sp>
        <p:nvSpPr>
          <p:cNvPr id="4" name="Text 2"/>
          <p:cNvSpPr/>
          <p:nvPr/>
        </p:nvSpPr>
        <p:spPr>
          <a:xfrm>
            <a:off x="747713" y="2785616"/>
            <a:ext cx="11077575" cy="1143000"/>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function</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greet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`Hello, </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Shape 3"/>
          <p:cNvSpPr/>
          <p:nvPr/>
        </p:nvSpPr>
        <p:spPr>
          <a:xfrm>
            <a:off x="747713" y="4081016"/>
            <a:ext cx="66675" cy="828675"/>
          </a:xfrm>
          <a:prstGeom prst="rect">
            <a:avLst/>
          </a:prstGeom>
          <a:solidFill>
            <a:srgbClr val="D1D9E0"/>
          </a:solidFill>
          <a:ln/>
        </p:spPr>
      </p:sp>
      <p:sp>
        <p:nvSpPr>
          <p:cNvPr id="6" name="Text 4"/>
          <p:cNvSpPr/>
          <p:nvPr/>
        </p:nvSpPr>
        <p:spPr>
          <a:xfrm>
            <a:off x="814388" y="4081016"/>
            <a:ext cx="10629900" cy="828675"/>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6</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77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495104"/>
          <a:ext cx="10355312" cy="914400"/>
        </p:xfrm>
        <a:graphic>
          <a:graphicData uri="http://schemas.openxmlformats.org/drawingml/2006/table">
            <a:tbl>
              <a:tblPr/>
              <a:tblGrid>
                <a:gridCol w="3467100"/>
                <a:gridCol w="3533775"/>
                <a:gridCol w="3352800"/>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4" name="Text 1"/>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7</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85020"/>
            <a:ext cx="10696575" cy="365998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97401"/>
            <a:ext cx="10696575" cy="1460599"/>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8</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Shape 1"/>
          <p:cNvSpPr/>
          <p:nvPr/>
        </p:nvSpPr>
        <p:spPr>
          <a:xfrm>
            <a:off x="747713" y="1585020"/>
            <a:ext cx="10696575" cy="2486025"/>
          </a:xfrm>
          <a:prstGeom prst="roundRect">
            <a:avLst>
              <a:gd name="adj" fmla="val 1691"/>
            </a:avLst>
          </a:prstGeom>
          <a:solidFill>
            <a:srgbClr val="F6F8FA"/>
          </a:solidFill>
          <a:ln w="9525">
            <a:solidFill>
              <a:srgbClr val="D1D9E0"/>
            </a:solidFill>
            <a:prstDash val="solid"/>
          </a:ln>
        </p:spPr>
      </p:sp>
      <p:sp>
        <p:nvSpPr>
          <p:cNvPr id="4" name="Text 2"/>
          <p:cNvSpPr/>
          <p:nvPr/>
        </p:nvSpPr>
        <p:spPr>
          <a:xfrm>
            <a:off x="747713" y="1585020"/>
            <a:ext cx="11077575" cy="24860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Python sample</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import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asyncio</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def</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fetch_data</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url: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-&gt;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dict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"""Fetch data asynchronously"""</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aiohttp.ClientSession()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session.get(url)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await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response.json()</a:t>
            </a:r>
            <a:endParaRPr lang="en-US" sz="1849" dirty="0"/>
          </a:p>
        </p:txBody>
      </p:sp>
      <p:sp>
        <p:nvSpPr>
          <p:cNvPr id="5" name="Shape 3"/>
          <p:cNvSpPr/>
          <p:nvPr/>
        </p:nvSpPr>
        <p:spPr>
          <a:xfrm>
            <a:off x="747713" y="4223445"/>
            <a:ext cx="10696575" cy="1952625"/>
          </a:xfrm>
          <a:prstGeom prst="roundRect">
            <a:avLst>
              <a:gd name="adj" fmla="val 2741"/>
            </a:avLst>
          </a:prstGeom>
          <a:solidFill>
            <a:srgbClr val="F6F8FA"/>
          </a:solidFill>
          <a:ln w="9525">
            <a:solidFill>
              <a:srgbClr val="D1D9E0"/>
            </a:solidFill>
            <a:prstDash val="solid"/>
          </a:ln>
        </p:spPr>
      </p:sp>
      <p:sp>
        <p:nvSpPr>
          <p:cNvPr id="6" name="Text 4"/>
          <p:cNvSpPr/>
          <p:nvPr/>
        </p:nvSpPr>
        <p:spPr>
          <a:xfrm>
            <a:off x="747713" y="4223445"/>
            <a:ext cx="11077575" cy="19526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SELECT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u.name,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COUNT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(o.id)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FROM</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users u</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LEFT</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JOIN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orders o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o.user_id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WHERE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u.created_at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&gt;=</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'2024-01-01'</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GROUP</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ORDER</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DESC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9</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4028182"/>
            <a:ext cx="81438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9493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7"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5009257"/>
            <a:ext cx="110013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sp>
        <p:nvSpPr>
          <p:cNvPr id="6" name="Text 3"/>
          <p:cNvSpPr/>
          <p:nvPr/>
        </p:nvSpPr>
        <p:spPr>
          <a:xfrm>
            <a:off x="747713" y="85335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Grayscale (right)</a:t>
            </a:r>
            <a:endParaRPr lang="en-US" sz="2175" dirty="0"/>
          </a:p>
        </p:txBody>
      </p:sp>
      <p:pic>
        <p:nvPicPr>
          <p:cNvPr id="7"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8" name="Text 4"/>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11</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endParaRPr lang="en-US" sz="2175" dirty="0"/>
          </a:p>
        </p:txBody>
      </p:sp>
      <p:sp>
        <p:nvSpPr>
          <p:cNvPr id="4" name="Text 2"/>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12</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8884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22614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50000"/>
              </a:lnSpc>
              <a:buNone/>
            </a:pPr>
            <a:endParaRPr lang="en-US" sz="2175" dirty="0"/>
          </a:p>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4" name="Text 2"/>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13</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30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Shape 1"/>
          <p:cNvSpPr/>
          <p:nvPr/>
        </p:nvSpPr>
        <p:spPr>
          <a:xfrm>
            <a:off x="747713" y="2640360"/>
            <a:ext cx="10696575" cy="1585913"/>
          </a:xfrm>
          <a:prstGeom prst="roundRect">
            <a:avLst>
              <a:gd name="adj" fmla="val 5541"/>
            </a:avLst>
          </a:prstGeom>
          <a:solidFill>
            <a:srgbClr val="F0F4FF"/>
          </a:solidFill>
          <a:ln w="19050">
            <a:solidFill>
              <a:srgbClr val="333366"/>
            </a:solidFill>
            <a:prstDash val="solid"/>
          </a:ln>
        </p:spPr>
      </p:sp>
      <p:sp>
        <p:nvSpPr>
          <p:cNvPr id="4" name="Text 2"/>
          <p:cNvSpPr/>
          <p:nvPr/>
        </p:nvSpPr>
        <p:spPr>
          <a:xfrm>
            <a:off x="747713" y="2640360"/>
            <a:ext cx="11077575" cy="1585913"/>
          </a:xfrm>
          <a:prstGeom prst="rect">
            <a:avLst/>
          </a:prstGeom>
          <a:noFill/>
          <a:ln/>
        </p:spPr>
        <p:txBody>
          <a:bodyPr wrap="square" lIns="152400" tIns="152400" rIns="152400" bIns="1524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package provides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7 specialized AI agents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They support the full workflow from planning, documentation, design, estimation, test design, implementation, to review.</a:t>
            </a:r>
            <a:endParaRPr lang="en-US" sz="2175" dirty="0"/>
          </a:p>
        </p:txBody>
      </p:sp>
      <p:sp>
        <p:nvSpPr>
          <p:cNvPr id="5" name="Text 3"/>
          <p:cNvSpPr/>
          <p:nvPr/>
        </p:nvSpPr>
        <p:spPr>
          <a:xfrm>
            <a:off x="747713" y="4226272"/>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6" name="Text 4"/>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14</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295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Shape 1"/>
          <p:cNvSpPr/>
          <p:nvPr/>
        </p:nvSpPr>
        <p:spPr>
          <a:xfrm>
            <a:off x="747713" y="2780258"/>
            <a:ext cx="5272088" cy="2134791"/>
          </a:xfrm>
          <a:prstGeom prst="roundRect">
            <a:avLst>
              <a:gd name="adj" fmla="val 4587"/>
            </a:avLst>
          </a:prstGeom>
          <a:solidFill>
            <a:srgbClr val="F8F9FF"/>
          </a:solidFill>
          <a:ln w="9525">
            <a:solidFill>
              <a:srgbClr val="CCCCCC"/>
            </a:solidFill>
            <a:prstDash val="solid"/>
          </a:ln>
        </p:spPr>
      </p:sp>
      <p:sp>
        <p:nvSpPr>
          <p:cNvPr id="4" name="Text 2"/>
          <p:cNvSpPr/>
          <p:nvPr/>
        </p:nvSpPr>
        <p:spPr>
          <a:xfrm>
            <a:off x="909638"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A</a:t>
            </a:r>
            <a:endParaRPr lang="en-US" sz="2392" dirty="0"/>
          </a:p>
        </p:txBody>
      </p:sp>
      <p:sp>
        <p:nvSpPr>
          <p:cNvPr id="5" name="Text 3"/>
          <p:cNvSpPr/>
          <p:nvPr/>
        </p:nvSpPr>
        <p:spPr>
          <a:xfrm>
            <a:off x="909638" y="3702993"/>
            <a:ext cx="4948238"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175" dirty="0"/>
          </a:p>
        </p:txBody>
      </p:sp>
      <p:sp>
        <p:nvSpPr>
          <p:cNvPr id="6" name="Shape 4"/>
          <p:cNvSpPr/>
          <p:nvPr/>
        </p:nvSpPr>
        <p:spPr>
          <a:xfrm>
            <a:off x="6172200" y="2780258"/>
            <a:ext cx="5272088" cy="2134791"/>
          </a:xfrm>
          <a:prstGeom prst="roundRect">
            <a:avLst>
              <a:gd name="adj" fmla="val 4587"/>
            </a:avLst>
          </a:prstGeom>
          <a:solidFill>
            <a:srgbClr val="FFF8F0"/>
          </a:solidFill>
          <a:ln w="9525">
            <a:solidFill>
              <a:srgbClr val="CCCCCC"/>
            </a:solidFill>
            <a:prstDash val="solid"/>
          </a:ln>
        </p:spPr>
      </p:sp>
      <p:sp>
        <p:nvSpPr>
          <p:cNvPr id="7" name="Text 5"/>
          <p:cNvSpPr/>
          <p:nvPr/>
        </p:nvSpPr>
        <p:spPr>
          <a:xfrm>
            <a:off x="6334125"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B</a:t>
            </a:r>
            <a:endParaRPr lang="en-US" sz="2392" dirty="0"/>
          </a:p>
        </p:txBody>
      </p:sp>
      <p:sp>
        <p:nvSpPr>
          <p:cNvPr id="8" name="Text 6"/>
          <p:cNvSpPr/>
          <p:nvPr/>
        </p:nvSpPr>
        <p:spPr>
          <a:xfrm>
            <a:off x="6334125" y="3702993"/>
            <a:ext cx="4948238"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15</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102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Shape 1"/>
          <p:cNvSpPr/>
          <p:nvPr/>
        </p:nvSpPr>
        <p:spPr>
          <a:xfrm>
            <a:off x="747713" y="3499991"/>
            <a:ext cx="3489275" cy="1247775"/>
          </a:xfrm>
          <a:prstGeom prst="roundRect">
            <a:avLst>
              <a:gd name="adj" fmla="val 8951"/>
            </a:avLst>
          </a:prstGeom>
          <a:ln w="19050">
            <a:solidFill>
              <a:srgbClr val="0066CC"/>
            </a:solidFill>
            <a:prstDash val="solid"/>
          </a:ln>
        </p:spPr>
      </p:sp>
      <p:sp>
        <p:nvSpPr>
          <p:cNvPr id="4" name="Text 2"/>
          <p:cNvSpPr/>
          <p:nvPr/>
        </p:nvSpPr>
        <p:spPr>
          <a:xfrm>
            <a:off x="881063"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Shape 3"/>
          <p:cNvSpPr/>
          <p:nvPr/>
        </p:nvSpPr>
        <p:spPr>
          <a:xfrm>
            <a:off x="4351288" y="3499991"/>
            <a:ext cx="3489275" cy="1247775"/>
          </a:xfrm>
          <a:prstGeom prst="roundRect">
            <a:avLst>
              <a:gd name="adj" fmla="val 8951"/>
            </a:avLst>
          </a:prstGeom>
          <a:ln w="19050">
            <a:solidFill>
              <a:srgbClr val="CC6600"/>
            </a:solidFill>
            <a:prstDash val="solid"/>
          </a:ln>
        </p:spPr>
      </p:sp>
      <p:sp>
        <p:nvSpPr>
          <p:cNvPr id="6" name="Text 4"/>
          <p:cNvSpPr/>
          <p:nvPr/>
        </p:nvSpPr>
        <p:spPr>
          <a:xfrm>
            <a:off x="4484638"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7" name="Shape 5"/>
          <p:cNvSpPr/>
          <p:nvPr/>
        </p:nvSpPr>
        <p:spPr>
          <a:xfrm>
            <a:off x="7954863" y="3499991"/>
            <a:ext cx="3489424" cy="1247775"/>
          </a:xfrm>
          <a:prstGeom prst="roundRect">
            <a:avLst>
              <a:gd name="adj" fmla="val 8951"/>
            </a:avLst>
          </a:prstGeom>
          <a:ln w="19050">
            <a:solidFill>
              <a:srgbClr val="006600"/>
            </a:solidFill>
            <a:prstDash val="solid"/>
          </a:ln>
        </p:spPr>
      </p:sp>
      <p:sp>
        <p:nvSpPr>
          <p:cNvPr id="8" name="Text 6"/>
          <p:cNvSpPr/>
          <p:nvPr/>
        </p:nvSpPr>
        <p:spPr>
          <a:xfrm>
            <a:off x="8088213" y="3633341"/>
            <a:ext cx="3527524"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9"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16</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4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73722"/>
            <a:ext cx="106584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564285"/>
            <a:ext cx="104108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Shape 5"/>
          <p:cNvSpPr/>
          <p:nvPr/>
        </p:nvSpPr>
        <p:spPr>
          <a:xfrm>
            <a:off x="1042988" y="4131022"/>
            <a:ext cx="10106025" cy="566738"/>
          </a:xfrm>
          <a:prstGeom prst="roundRect">
            <a:avLst>
              <a:gd name="adj" fmla="val 21693"/>
            </a:avLst>
          </a:prstGeom>
          <a:solidFill>
            <a:srgbClr val="FFF3CD"/>
          </a:solidFill>
          <a:ln/>
        </p:spPr>
      </p:sp>
      <p:sp>
        <p:nvSpPr>
          <p:cNvPr id="8" name="Text 6"/>
          <p:cNvSpPr/>
          <p:nvPr/>
        </p:nvSpPr>
        <p:spPr>
          <a:xfrm>
            <a:off x="1042988" y="4131022"/>
            <a:ext cx="10487025" cy="566738"/>
          </a:xfrm>
          <a:prstGeom prst="rect">
            <a:avLst/>
          </a:prstGeom>
          <a:noFill/>
          <a:ln/>
        </p:spPr>
        <p:txBody>
          <a:bodyPr wrap="square" lIns="76200" tIns="76200" rIns="76200" bIns="762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9"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17</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721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Shape 1"/>
          <p:cNvSpPr/>
          <p:nvPr/>
        </p:nvSpPr>
        <p:spPr>
          <a:xfrm>
            <a:off x="747713" y="3164235"/>
            <a:ext cx="304800" cy="304800"/>
          </a:xfrm>
          <a:prstGeom prst="roundRect">
            <a:avLst>
              <a:gd name="adj" fmla="val 150000"/>
            </a:avLst>
          </a:prstGeom>
          <a:solidFill>
            <a:srgbClr val="0066CC"/>
          </a:solidFill>
          <a:ln/>
        </p:spPr>
      </p:sp>
      <p:sp>
        <p:nvSpPr>
          <p:cNvPr id="4" name="Text 2"/>
          <p:cNvSpPr/>
          <p:nvPr/>
        </p:nvSpPr>
        <p:spPr>
          <a:xfrm>
            <a:off x="747713" y="316423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5" name="Text 3"/>
          <p:cNvSpPr/>
          <p:nvPr/>
        </p:nvSpPr>
        <p:spPr>
          <a:xfrm>
            <a:off x="1147763" y="3109466"/>
            <a:ext cx="2982367"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First step: Install the tool</a:t>
            </a:r>
            <a:endParaRPr lang="en-US" sz="2175" dirty="0"/>
          </a:p>
        </p:txBody>
      </p:sp>
      <p:sp>
        <p:nvSpPr>
          <p:cNvPr id="6" name="Shape 4"/>
          <p:cNvSpPr/>
          <p:nvPr/>
        </p:nvSpPr>
        <p:spPr>
          <a:xfrm>
            <a:off x="747713" y="3695105"/>
            <a:ext cx="304800" cy="304800"/>
          </a:xfrm>
          <a:prstGeom prst="roundRect">
            <a:avLst>
              <a:gd name="adj" fmla="val 150000"/>
            </a:avLst>
          </a:prstGeom>
          <a:solidFill>
            <a:srgbClr val="0066CC"/>
          </a:solidFill>
          <a:ln/>
        </p:spPr>
      </p:sp>
      <p:sp>
        <p:nvSpPr>
          <p:cNvPr id="7" name="Text 5"/>
          <p:cNvSpPr/>
          <p:nvPr/>
        </p:nvSpPr>
        <p:spPr>
          <a:xfrm>
            <a:off x="747713" y="369510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8" name="Text 6"/>
          <p:cNvSpPr/>
          <p:nvPr/>
        </p:nvSpPr>
        <p:spPr>
          <a:xfrm>
            <a:off x="1147763" y="3638104"/>
            <a:ext cx="5732711"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config file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config.json</a:t>
            </a:r>
            <a:endParaRPr lang="en-US" sz="2175" dirty="0"/>
          </a:p>
        </p:txBody>
      </p:sp>
      <p:sp>
        <p:nvSpPr>
          <p:cNvPr id="9" name="Shape 7"/>
          <p:cNvSpPr/>
          <p:nvPr/>
        </p:nvSpPr>
        <p:spPr>
          <a:xfrm>
            <a:off x="747713" y="4226123"/>
            <a:ext cx="304800" cy="304800"/>
          </a:xfrm>
          <a:prstGeom prst="roundRect">
            <a:avLst>
              <a:gd name="adj" fmla="val 150000"/>
            </a:avLst>
          </a:prstGeom>
          <a:solidFill>
            <a:srgbClr val="0066CC"/>
          </a:solidFill>
          <a:ln/>
        </p:spPr>
      </p:sp>
      <p:sp>
        <p:nvSpPr>
          <p:cNvPr id="10" name="Text 8"/>
          <p:cNvSpPr/>
          <p:nvPr/>
        </p:nvSpPr>
        <p:spPr>
          <a:xfrm>
            <a:off x="747713" y="4226123"/>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11" name="Text 9"/>
          <p:cNvSpPr/>
          <p:nvPr/>
        </p:nvSpPr>
        <p:spPr>
          <a:xfrm>
            <a:off x="1147763" y="4171355"/>
            <a:ext cx="106013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operation ✅</a:t>
            </a:r>
            <a:endParaRPr lang="en-US" sz="2175" dirty="0"/>
          </a:p>
        </p:txBody>
      </p:sp>
      <p:sp>
        <p:nvSpPr>
          <p:cNvPr id="12" name="Text 10"/>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18</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4886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714774"/>
            <a:ext cx="52530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246983"/>
            <a:ext cx="5253038" cy="1243013"/>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1</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High-speed processing</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Low latency</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3</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Scalable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642396"/>
            <a:ext cx="525303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Provides an easy-to-use API.</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19</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6" name="Text 4"/>
          <p:cNvSpPr/>
          <p:nvPr/>
        </p:nvSpPr>
        <p:spPr>
          <a:xfrm>
            <a:off x="285750" y="6400800"/>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20</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017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93908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505819"/>
            <a:ext cx="10696575" cy="3250257"/>
          </a:xfrm>
          <a:prstGeom prst="rect">
            <a:avLst/>
          </a:prstGeom>
          <a:noFill/>
          <a:ln/>
        </p:spPr>
        <p:txBody>
          <a:bodyPr wrap="square" lIns="0" tIns="0" rIns="0" bIns="0" rtlCol="0" anchor="t"/>
          <a:lstStyle/>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Fullwidth symbols: 「括弧」『二重括弧』【太括弧】〔亀甲括弧〕</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Math-like: x² + y² = z², α・β・γ</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Long vowel mark: ー (katakana) included in words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Repetition mark: 〜がテ゛スト〜</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Zero-width character check: 通常テキスト (verify no invisible characters are mixed in)</a:t>
            </a:r>
            <a:endParaRPr lang="en-US" sz="1849"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21</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005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2037904"/>
            <a:ext cx="11001375" cy="248602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7632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endParaRPr lang="en-US" sz="2175" dirty="0"/>
          </a:p>
        </p:txBody>
      </p:sp>
      <p:sp>
        <p:nvSpPr>
          <p:cNvPr id="5" name="Text 3"/>
          <p:cNvSpPr/>
          <p:nvPr/>
        </p:nvSpPr>
        <p:spPr>
          <a:xfrm>
            <a:off x="747713" y="524306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6" name="Text 4"/>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22</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8746"/>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39727"/>
            <a:ext cx="11291888" cy="383828"/>
          </a:xfrm>
          <a:prstGeom prst="rect">
            <a:avLst/>
          </a:prstGeom>
          <a:noFill/>
          <a:ln/>
        </p:spPr>
        <p:txBody>
          <a:bodyPr wrap="square" lIns="0" tIns="0" rIns="0" bIns="74295" rtlCol="0" anchor="t"/>
          <a:lstStyle/>
          <a:p>
            <a:pPr algn="l" indent="0" marL="0">
              <a:lnSpc>
                <a:spcPct val="125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75955"/>
            <a:ext cx="11001375" cy="285750"/>
          </a:xfrm>
          <a:prstGeom prst="rect">
            <a:avLst/>
          </a:prstGeom>
          <a:noFill/>
          <a:ln/>
        </p:spPr>
        <p:txBody>
          <a:bodyPr wrap="square" lIns="0" tIns="0" rIns="0" bIns="0" rtlCol="0" anchor="t"/>
          <a:lstStyle/>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Shape 3"/>
          <p:cNvSpPr/>
          <p:nvPr/>
        </p:nvSpPr>
        <p:spPr>
          <a:xfrm>
            <a:off x="747713" y="3314105"/>
            <a:ext cx="5291138" cy="1390650"/>
          </a:xfrm>
          <a:prstGeom prst="roundRect">
            <a:avLst>
              <a:gd name="adj" fmla="val 7206"/>
            </a:avLst>
          </a:prstGeom>
          <a:solidFill>
            <a:srgbClr val="F0F8FF"/>
          </a:solidFill>
          <a:ln w="9525">
            <a:solidFill>
              <a:srgbClr val="CCCCCC"/>
            </a:solidFill>
            <a:prstDash val="solid"/>
          </a:ln>
        </p:spPr>
      </p:sp>
      <p:sp>
        <p:nvSpPr>
          <p:cNvPr id="6" name="Text 4"/>
          <p:cNvSpPr/>
          <p:nvPr/>
        </p:nvSpPr>
        <p:spPr>
          <a:xfrm>
            <a:off x="747713" y="3314105"/>
            <a:ext cx="53673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Shape 5"/>
          <p:cNvSpPr/>
          <p:nvPr/>
        </p:nvSpPr>
        <p:spPr>
          <a:xfrm>
            <a:off x="6153150" y="3314105"/>
            <a:ext cx="5291138" cy="1390650"/>
          </a:xfrm>
          <a:prstGeom prst="roundRect">
            <a:avLst>
              <a:gd name="adj" fmla="val 7206"/>
            </a:avLst>
          </a:prstGeom>
          <a:solidFill>
            <a:srgbClr val="FFF0F0"/>
          </a:solidFill>
          <a:ln w="9525">
            <a:solidFill>
              <a:srgbClr val="CCCCCC"/>
            </a:solidFill>
            <a:prstDash val="solid"/>
          </a:ln>
        </p:spPr>
      </p:sp>
      <p:sp>
        <p:nvSpPr>
          <p:cNvPr id="8" name="Text 6"/>
          <p:cNvSpPr/>
          <p:nvPr/>
        </p:nvSpPr>
        <p:spPr>
          <a:xfrm>
            <a:off x="6153150" y="3314105"/>
            <a:ext cx="56721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9" name="Shape 7"/>
          <p:cNvSpPr/>
          <p:nvPr/>
        </p:nvSpPr>
        <p:spPr>
          <a:xfrm>
            <a:off x="747713" y="4780955"/>
            <a:ext cx="10696575" cy="438150"/>
          </a:xfrm>
          <a:prstGeom prst="roundRect">
            <a:avLst>
              <a:gd name="adj" fmla="val 54442"/>
            </a:avLst>
          </a:prstGeom>
          <a:solidFill>
            <a:srgbClr val="FFFDE7"/>
          </a:solidFill>
          <a:ln w="9525">
            <a:solidFill>
              <a:srgbClr val="F0C040"/>
            </a:solidFill>
            <a:prstDash val="solid"/>
          </a:ln>
        </p:spPr>
      </p:sp>
      <p:sp>
        <p:nvSpPr>
          <p:cNvPr id="10" name="Text 8"/>
          <p:cNvSpPr/>
          <p:nvPr/>
        </p:nvSpPr>
        <p:spPr>
          <a:xfrm>
            <a:off x="747713" y="4780955"/>
            <a:ext cx="11077575" cy="438150"/>
          </a:xfrm>
          <a:prstGeom prst="rect">
            <a:avLst/>
          </a:prstGeom>
          <a:noFill/>
          <a:ln/>
        </p:spPr>
        <p:txBody>
          <a:bodyPr wrap="square" lIns="95250" tIns="95250" rIns="95250" bIns="9525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5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mcp.json</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11" name="Text 9"/>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23</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97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7029"/>
            <a:ext cx="66675" cy="414338"/>
          </a:xfrm>
          <a:prstGeom prst="rect">
            <a:avLst/>
          </a:prstGeom>
          <a:solidFill>
            <a:srgbClr val="D1D9E0"/>
          </a:solidFill>
          <a:ln/>
        </p:spPr>
      </p:sp>
      <p:sp>
        <p:nvSpPr>
          <p:cNvPr id="4" name="Text 2"/>
          <p:cNvSpPr/>
          <p:nvPr/>
        </p:nvSpPr>
        <p:spPr>
          <a:xfrm>
            <a:off x="814388" y="2657029"/>
            <a:ext cx="10629900"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23766"/>
            <a:ext cx="66675" cy="1243013"/>
          </a:xfrm>
          <a:prstGeom prst="rect">
            <a:avLst/>
          </a:prstGeom>
          <a:solidFill>
            <a:srgbClr val="D1D9E0"/>
          </a:solidFill>
          <a:ln/>
        </p:spPr>
      </p:sp>
      <p:sp>
        <p:nvSpPr>
          <p:cNvPr id="6" name="Text 4"/>
          <p:cNvSpPr/>
          <p:nvPr/>
        </p:nvSpPr>
        <p:spPr>
          <a:xfrm>
            <a:off x="814388" y="3223766"/>
            <a:ext cx="10629900" cy="1243013"/>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9179"/>
            <a:ext cx="66675" cy="418951"/>
          </a:xfrm>
          <a:prstGeom prst="rect">
            <a:avLst/>
          </a:prstGeom>
          <a:solidFill>
            <a:srgbClr val="D1D9E0"/>
          </a:solidFill>
          <a:ln/>
        </p:spPr>
      </p:sp>
      <p:sp>
        <p:nvSpPr>
          <p:cNvPr id="8" name="Text 6"/>
          <p:cNvSpPr/>
          <p:nvPr/>
        </p:nvSpPr>
        <p:spPr>
          <a:xfrm>
            <a:off x="814388" y="4619179"/>
            <a:ext cx="10629900" cy="418951"/>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5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9"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24</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88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6022"/>
          <a:ext cx="9517707" cy="914400"/>
        </p:xfrm>
        <a:graphic>
          <a:graphicData uri="http://schemas.openxmlformats.org/drawingml/2006/table">
            <a:tbl>
              <a:tblPr/>
              <a:tblGrid>
                <a:gridCol w="809625"/>
                <a:gridCol w="2590800"/>
                <a:gridCol w="3305175"/>
                <a:gridCol w="2800350"/>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Responsible Agent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Estimator</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Spec document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Estimate sheet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Design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Estimate + Requirements</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Design doc</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Test Design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Design doc</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Test case list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dev-planner</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TC + Design doc</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Implementation plan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Review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PR + Design doc</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Review results</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4" name="Text 1"/>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25</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577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Shape 1"/>
          <p:cNvSpPr/>
          <p:nvPr/>
        </p:nvSpPr>
        <p:spPr>
          <a:xfrm>
            <a:off x="747713" y="1795016"/>
            <a:ext cx="10696575" cy="4105275"/>
          </a:xfrm>
          <a:prstGeom prst="roundRect">
            <a:avLst>
              <a:gd name="adj" fmla="val 620"/>
            </a:avLst>
          </a:prstGeom>
          <a:solidFill>
            <a:srgbClr val="F6F8FA"/>
          </a:solidFill>
          <a:ln w="9525">
            <a:solidFill>
              <a:srgbClr val="D1D9E0"/>
            </a:solidFill>
            <a:prstDash val="solid"/>
          </a:ln>
        </p:spPr>
      </p:sp>
      <p:sp>
        <p:nvSpPr>
          <p:cNvPr id="4" name="Text 2"/>
          <p:cNvSpPr/>
          <p:nvPr/>
        </p:nvSpPr>
        <p:spPr>
          <a:xfrm>
            <a:off x="747713" y="1795016"/>
            <a:ext cx="11077575" cy="41052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Very long single line of code — wrapping/clipping test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veryLongVariableName =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someFunction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Code with comments</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config =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apiKey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process.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env</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API_KEY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Loaded from environment variable</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timeout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30000</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Timeout: 30 seconds</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retries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Retry count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26</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3573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401639"/>
            <a:ext cx="6326386"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2933849"/>
            <a:ext cx="6326386" cy="1869132"/>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4955381"/>
            <a:ext cx="63263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173039"/>
            <a:ext cx="4217789" cy="661988"/>
          </a:xfrm>
          <a:prstGeom prst="roundRect">
            <a:avLst>
              <a:gd name="adj" fmla="val 31800"/>
            </a:avLst>
          </a:prstGeom>
          <a:ln w="9525">
            <a:solidFill>
              <a:srgbClr val="DDDDDD"/>
            </a:solidFill>
            <a:prstDash val="solid"/>
          </a:ln>
        </p:spPr>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27</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78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64512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8214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Shape 4"/>
          <p:cNvSpPr/>
          <p:nvPr/>
        </p:nvSpPr>
        <p:spPr>
          <a:xfrm>
            <a:off x="747713" y="4388197"/>
            <a:ext cx="10696575" cy="661988"/>
          </a:xfrm>
          <a:prstGeom prst="roundRect">
            <a:avLst>
              <a:gd name="adj" fmla="val 23850"/>
            </a:avLst>
          </a:prstGeom>
          <a:solidFill>
            <a:srgbClr val="E8F4FF"/>
          </a:solidFill>
          <a:ln w="9525">
            <a:solidFill>
              <a:srgbClr val="336699"/>
            </a:solidFill>
            <a:prstDash val="solid"/>
          </a:ln>
        </p:spPr>
      </p:sp>
      <p:sp>
        <p:nvSpPr>
          <p:cNvPr id="7" name="Text 5"/>
          <p:cNvSpPr/>
          <p:nvPr/>
        </p:nvSpPr>
        <p:spPr>
          <a:xfrm>
            <a:off x="747713" y="4388197"/>
            <a:ext cx="11077575" cy="661988"/>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28</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59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83285"/>
            <a:ext cx="11001375" cy="400050"/>
          </a:xfrm>
          <a:prstGeom prst="rect">
            <a:avLst/>
          </a:prstGeom>
          <a:noFill/>
          <a:ln/>
        </p:spPr>
        <p:txBody>
          <a:bodyPr wrap="square" lIns="0" tIns="0" rIns="0" bIns="0" rtlCol="0" anchor="t"/>
          <a:lstStyle/>
          <a:p>
            <a:pPr algn="l" indent="0" marL="0">
              <a:lnSpc>
                <a:spcPct val="150000"/>
              </a:lnSpc>
              <a:buNone/>
            </a:pPr>
            <a:r>
              <a:rPr lang="en-US" sz="2100" dirty="0">
                <a:solidFill>
                  <a:srgbClr val="1F2328"/>
                </a:solidFill>
                <a:latin typeface="Segoe UI" pitchFamily="34" charset="0"/>
                <a:ea typeface="Segoe UI" pitchFamily="34" charset="-122"/>
                <a:cs typeface="Segoe UI" pitchFamily="34" charset="-120"/>
              </a:rPr>
              <a:t>Large text (28px)</a:t>
            </a:r>
            <a:endParaRPr lang="en-US" sz="2100" dirty="0"/>
          </a:p>
        </p:txBody>
      </p:sp>
      <p:sp>
        <p:nvSpPr>
          <p:cNvPr id="4" name="Text 2"/>
          <p:cNvSpPr/>
          <p:nvPr/>
        </p:nvSpPr>
        <p:spPr>
          <a:xfrm>
            <a:off x="747713" y="3583335"/>
            <a:ext cx="11001375"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Normal text (22px)</a:t>
            </a:r>
            <a:endParaRPr lang="en-US" sz="1650" dirty="0"/>
          </a:p>
        </p:txBody>
      </p:sp>
      <p:sp>
        <p:nvSpPr>
          <p:cNvPr id="5" name="Text 3"/>
          <p:cNvSpPr/>
          <p:nvPr/>
        </p:nvSpPr>
        <p:spPr>
          <a:xfrm>
            <a:off x="747713" y="3897660"/>
            <a:ext cx="11001375" cy="257175"/>
          </a:xfrm>
          <a:prstGeom prst="rect">
            <a:avLst/>
          </a:prstGeom>
          <a:noFill/>
          <a:ln/>
        </p:spPr>
        <p:txBody>
          <a:bodyPr wrap="square" lIns="0" tIns="0" rIns="0" bIns="0" rtlCol="0" anchor="t"/>
          <a:lstStyle/>
          <a:p>
            <a:pPr algn="l" indent="0" marL="0">
              <a:lnSpc>
                <a:spcPct val="150000"/>
              </a:lnSpc>
              <a:buNone/>
            </a:pPr>
            <a:r>
              <a:rPr lang="en-US" sz="1350" dirty="0">
                <a:solidFill>
                  <a:srgbClr val="1F2328"/>
                </a:solidFill>
                <a:latin typeface="Segoe UI" pitchFamily="34" charset="0"/>
                <a:ea typeface="Segoe UI" pitchFamily="34" charset="-122"/>
                <a:cs typeface="Segoe UI" pitchFamily="34" charset="-120"/>
              </a:rPr>
              <a:t>Slightly smaller text (18px)</a:t>
            </a:r>
            <a:endParaRPr lang="en-US" sz="1350" dirty="0"/>
          </a:p>
        </p:txBody>
      </p:sp>
      <p:sp>
        <p:nvSpPr>
          <p:cNvPr id="6" name="Text 4"/>
          <p:cNvSpPr/>
          <p:nvPr/>
        </p:nvSpPr>
        <p:spPr>
          <a:xfrm>
            <a:off x="747713" y="4154835"/>
            <a:ext cx="11001375" cy="200025"/>
          </a:xfrm>
          <a:prstGeom prst="rect">
            <a:avLst/>
          </a:prstGeom>
          <a:noFill/>
          <a:ln/>
        </p:spPr>
        <p:txBody>
          <a:bodyPr wrap="square" lIns="0" tIns="0" rIns="0" bIns="0" rtlCol="0" anchor="t"/>
          <a:lstStyle/>
          <a:p>
            <a:pPr algn="l" indent="0" marL="0">
              <a:lnSpc>
                <a:spcPct val="150000"/>
              </a:lnSpc>
              <a:buNone/>
            </a:pPr>
            <a:r>
              <a:rPr lang="en-US" sz="1050" dirty="0">
                <a:solidFill>
                  <a:srgbClr val="1F2328"/>
                </a:solidFill>
                <a:latin typeface="Segoe UI" pitchFamily="34" charset="0"/>
                <a:ea typeface="Segoe UI" pitchFamily="34" charset="-122"/>
                <a:cs typeface="Segoe UI" pitchFamily="34" charset="-120"/>
              </a:rPr>
              <a:t>Small text (14px)</a:t>
            </a:r>
            <a:endParaRPr lang="en-US" sz="1050" dirty="0"/>
          </a:p>
        </p:txBody>
      </p:sp>
      <p:sp>
        <p:nvSpPr>
          <p:cNvPr id="7" name="Text 5"/>
          <p:cNvSpPr/>
          <p:nvPr/>
        </p:nvSpPr>
        <p:spPr>
          <a:xfrm>
            <a:off x="747713" y="4354860"/>
            <a:ext cx="11001375" cy="157163"/>
          </a:xfrm>
          <a:prstGeom prst="rect">
            <a:avLst/>
          </a:prstGeom>
          <a:noFill/>
          <a:ln/>
        </p:spPr>
        <p:txBody>
          <a:bodyPr wrap="square" lIns="0" tIns="0" rIns="0" bIns="0" rtlCol="0" anchor="t"/>
          <a:lstStyle/>
          <a:p>
            <a:pPr algn="l" indent="0" marL="0">
              <a:lnSpc>
                <a:spcPct val="15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825" dirty="0"/>
          </a:p>
        </p:txBody>
      </p:sp>
      <p:sp>
        <p:nvSpPr>
          <p:cNvPr id="8" name="Text 6"/>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29</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1497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Shape 1"/>
          <p:cNvSpPr/>
          <p:nvPr/>
        </p:nvSpPr>
        <p:spPr>
          <a:xfrm>
            <a:off x="747713" y="2752279"/>
            <a:ext cx="3514725" cy="1057275"/>
          </a:xfrm>
          <a:prstGeom prst="roundRect">
            <a:avLst>
              <a:gd name="adj" fmla="val 9350"/>
            </a:avLst>
          </a:prstGeom>
          <a:solidFill>
            <a:srgbClr val="1A73E8"/>
          </a:solidFill>
          <a:ln/>
        </p:spPr>
      </p:sp>
      <p:sp>
        <p:nvSpPr>
          <p:cNvPr id="4" name="Text 2"/>
          <p:cNvSpPr/>
          <p:nvPr/>
        </p:nvSpPr>
        <p:spPr>
          <a:xfrm>
            <a:off x="747713"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Shape 3"/>
          <p:cNvSpPr/>
          <p:nvPr/>
        </p:nvSpPr>
        <p:spPr>
          <a:xfrm>
            <a:off x="4338638" y="2752279"/>
            <a:ext cx="3514725" cy="1057275"/>
          </a:xfrm>
          <a:prstGeom prst="roundRect">
            <a:avLst>
              <a:gd name="adj" fmla="val 9350"/>
            </a:avLst>
          </a:prstGeom>
          <a:solidFill>
            <a:srgbClr val="34A853"/>
          </a:solidFill>
          <a:ln/>
        </p:spPr>
      </p:sp>
      <p:sp>
        <p:nvSpPr>
          <p:cNvPr id="6" name="Text 4"/>
          <p:cNvSpPr/>
          <p:nvPr/>
        </p:nvSpPr>
        <p:spPr>
          <a:xfrm>
            <a:off x="4338638"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7" name="Shape 5"/>
          <p:cNvSpPr/>
          <p:nvPr/>
        </p:nvSpPr>
        <p:spPr>
          <a:xfrm>
            <a:off x="7929563" y="2752279"/>
            <a:ext cx="3514725" cy="1057275"/>
          </a:xfrm>
          <a:prstGeom prst="roundRect">
            <a:avLst>
              <a:gd name="adj" fmla="val 9350"/>
            </a:avLst>
          </a:prstGeom>
          <a:solidFill>
            <a:srgbClr val="EA4335"/>
          </a:solidFill>
          <a:ln/>
        </p:spPr>
      </p:sp>
      <p:sp>
        <p:nvSpPr>
          <p:cNvPr id="8" name="Text 6"/>
          <p:cNvSpPr/>
          <p:nvPr/>
        </p:nvSpPr>
        <p:spPr>
          <a:xfrm>
            <a:off x="7929563" y="2752279"/>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9" name="Shape 7"/>
          <p:cNvSpPr/>
          <p:nvPr/>
        </p:nvSpPr>
        <p:spPr>
          <a:xfrm>
            <a:off x="747713" y="3885754"/>
            <a:ext cx="3514725" cy="1057275"/>
          </a:xfrm>
          <a:prstGeom prst="roundRect">
            <a:avLst>
              <a:gd name="adj" fmla="val 9350"/>
            </a:avLst>
          </a:prstGeom>
          <a:solidFill>
            <a:srgbClr val="FBBC04"/>
          </a:solidFill>
          <a:ln/>
        </p:spPr>
      </p:sp>
      <p:sp>
        <p:nvSpPr>
          <p:cNvPr id="10" name="Text 8"/>
          <p:cNvSpPr/>
          <p:nvPr/>
        </p:nvSpPr>
        <p:spPr>
          <a:xfrm>
            <a:off x="747713"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50000"/>
              </a:lnSpc>
              <a:buNone/>
            </a:pPr>
            <a:endParaRPr lang="en-US" sz="2175" dirty="0"/>
          </a:p>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11" name="Shape 9"/>
          <p:cNvSpPr/>
          <p:nvPr/>
        </p:nvSpPr>
        <p:spPr>
          <a:xfrm>
            <a:off x="4338638" y="3885754"/>
            <a:ext cx="3514725" cy="1057275"/>
          </a:xfrm>
          <a:prstGeom prst="roundRect">
            <a:avLst>
              <a:gd name="adj" fmla="val 9350"/>
            </a:avLst>
          </a:prstGeom>
          <a:solidFill>
            <a:srgbClr val="9C27B0"/>
          </a:solidFill>
          <a:ln/>
        </p:spPr>
      </p:sp>
      <p:sp>
        <p:nvSpPr>
          <p:cNvPr id="12" name="Text 10"/>
          <p:cNvSpPr/>
          <p:nvPr/>
        </p:nvSpPr>
        <p:spPr>
          <a:xfrm>
            <a:off x="4338638"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3" name="Shape 11"/>
          <p:cNvSpPr/>
          <p:nvPr/>
        </p:nvSpPr>
        <p:spPr>
          <a:xfrm>
            <a:off x="7929563" y="3885754"/>
            <a:ext cx="3514725" cy="1057275"/>
          </a:xfrm>
          <a:prstGeom prst="roundRect">
            <a:avLst>
              <a:gd name="adj" fmla="val 9350"/>
            </a:avLst>
          </a:prstGeom>
          <a:solidFill>
            <a:srgbClr val="FF5722"/>
          </a:solidFill>
          <a:ln/>
        </p:spPr>
      </p:sp>
      <p:sp>
        <p:nvSpPr>
          <p:cNvPr id="14" name="Text 12"/>
          <p:cNvSpPr/>
          <p:nvPr/>
        </p:nvSpPr>
        <p:spPr>
          <a:xfrm>
            <a:off x="7929563" y="3885754"/>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5" name="Text 1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30</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35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8308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45011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6"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31</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21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922538"/>
            <a:ext cx="11001375" cy="418951"/>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493889"/>
            <a:ext cx="5291138" cy="3294459"/>
          </a:xfrm>
          <a:prstGeom prst="roundRect">
            <a:avLst>
              <a:gd name="adj" fmla="val 1284"/>
            </a:avLst>
          </a:prstGeom>
          <a:ln w="9525">
            <a:solidFill>
              <a:srgbClr val="CCCCCC"/>
            </a:solidFill>
            <a:prstDash val="solid"/>
          </a:ln>
        </p:spPr>
      </p:sp>
      <p:sp>
        <p:nvSpPr>
          <p:cNvPr id="6" name="Text 4"/>
          <p:cNvSpPr/>
          <p:nvPr/>
        </p:nvSpPr>
        <p:spPr>
          <a:xfrm>
            <a:off x="871538" y="3846314"/>
            <a:ext cx="50434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78523"/>
            <a:ext cx="504348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Shape 6"/>
          <p:cNvSpPr/>
          <p:nvPr/>
        </p:nvSpPr>
        <p:spPr>
          <a:xfrm>
            <a:off x="871538" y="5912048"/>
            <a:ext cx="5043488" cy="600075"/>
          </a:xfrm>
          <a:prstGeom prst="roundRect">
            <a:avLst>
              <a:gd name="adj" fmla="val 29025"/>
            </a:avLst>
          </a:prstGeom>
          <a:solidFill>
            <a:srgbClr val="F6F8FA"/>
          </a:solidFill>
          <a:ln w="9525">
            <a:solidFill>
              <a:srgbClr val="D1D9E0"/>
            </a:solidFill>
            <a:prstDash val="solid"/>
          </a:ln>
        </p:spPr>
      </p:sp>
      <p:sp>
        <p:nvSpPr>
          <p:cNvPr id="9" name="Text 7"/>
          <p:cNvSpPr/>
          <p:nvPr/>
        </p:nvSpPr>
        <p:spPr>
          <a:xfrm>
            <a:off x="871538" y="5912048"/>
            <a:ext cx="5119688" cy="6000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x =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1</a:t>
            </a:r>
            <a:endParaRPr lang="en-US" sz="1849"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493889"/>
          <a:ext cx="1845618" cy="914400"/>
        </p:xfrm>
        <a:graphic>
          <a:graphicData uri="http://schemas.openxmlformats.org/drawingml/2006/table">
            <a:tbl>
              <a:tblPr/>
              <a:tblGrid>
                <a:gridCol w="923925"/>
                <a:gridCol w="904875"/>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1" name="Shape 8"/>
          <p:cNvSpPr/>
          <p:nvPr/>
        </p:nvSpPr>
        <p:spPr>
          <a:xfrm>
            <a:off x="6153150" y="5270302"/>
            <a:ext cx="66675" cy="414338"/>
          </a:xfrm>
          <a:prstGeom prst="rect">
            <a:avLst/>
          </a:prstGeom>
          <a:solidFill>
            <a:srgbClr val="D1D9E0"/>
          </a:solidFill>
          <a:ln/>
        </p:spPr>
      </p:sp>
      <p:sp>
        <p:nvSpPr>
          <p:cNvPr id="12" name="Text 9"/>
          <p:cNvSpPr/>
          <p:nvPr/>
        </p:nvSpPr>
        <p:spPr>
          <a:xfrm>
            <a:off x="6219825" y="5270302"/>
            <a:ext cx="5224462"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13" name="Text 10"/>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32</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Testing agents and skills</a:t>
            </a:r>
            <a:endParaRPr lang="en-US" sz="2175" dirty="0"/>
          </a:p>
        </p:txBody>
      </p:sp>
      <p:sp>
        <p:nvSpPr>
          <p:cNvPr id="4" name="Text 2"/>
          <p:cNvSpPr/>
          <p:nvPr/>
        </p:nvSpPr>
        <p:spPr>
          <a:xfrm>
            <a:off x="747713" y="2704207"/>
            <a:ext cx="10696575" cy="2693194"/>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that a series of tasks completes automatically in 5–10 minutes: "Bug fix request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Analysis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Plan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Auto unit test impl</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Auto unit test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Code review</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Completion report"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Identify and share which agents and skills are effective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Flow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549801"/>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endParaRPr lang="en-US" sz="2175" dirty="0"/>
          </a:p>
        </p:txBody>
      </p:sp>
      <p:sp>
        <p:nvSpPr>
          <p:cNvPr id="6" name="Text 4"/>
          <p:cNvSpPr/>
          <p:nvPr/>
        </p:nvSpPr>
        <p:spPr>
          <a:xfrm>
            <a:off x="747713" y="611653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(no spaces before/after)</a:t>
            </a:r>
            <a:endParaRPr lang="en-US" sz="2175" dirty="0"/>
          </a:p>
        </p:txBody>
      </p:sp>
      <p:sp>
        <p:nvSpPr>
          <p:cNvPr id="7" name="Text 5"/>
          <p:cNvSpPr/>
          <p:nvPr/>
        </p:nvSpPr>
        <p:spPr>
          <a:xfrm>
            <a:off x="747713" y="6683276"/>
            <a:ext cx="11001375" cy="17472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8" name="Text 6"/>
          <p:cNvSpPr/>
          <p:nvPr/>
        </p:nvSpPr>
        <p:spPr>
          <a:xfrm>
            <a:off x="747713" y="7250013"/>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Verification in lists:</a:t>
            </a:r>
            <a:endParaRPr lang="en-US" sz="2175" dirty="0"/>
          </a:p>
        </p:txBody>
      </p:sp>
      <p:sp>
        <p:nvSpPr>
          <p:cNvPr id="9" name="Text 7"/>
          <p:cNvSpPr/>
          <p:nvPr/>
        </p:nvSpPr>
        <p:spPr>
          <a:xfrm>
            <a:off x="747713" y="7816751"/>
            <a:ext cx="10696575" cy="9144"/>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Step 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Step 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Done</a:t>
            </a:r>
            <a:endParaRPr lang="en-US" sz="2175" dirty="0"/>
          </a:p>
        </p:txBody>
      </p:sp>
      <p:sp>
        <p:nvSpPr>
          <p:cNvPr id="10" name="Text 8"/>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33</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Shape 2"/>
          <p:cNvSpPr/>
          <p:nvPr/>
        </p:nvSpPr>
        <p:spPr>
          <a:xfrm>
            <a:off x="2591246" y="2742307"/>
            <a:ext cx="1368475" cy="352425"/>
          </a:xfrm>
          <a:prstGeom prst="roundRect">
            <a:avLst>
              <a:gd name="adj" fmla="val 129730"/>
            </a:avLst>
          </a:prstGeom>
          <a:solidFill>
            <a:srgbClr val="E53E3E"/>
          </a:solidFill>
          <a:ln/>
        </p:spPr>
      </p:sp>
      <p:sp>
        <p:nvSpPr>
          <p:cNvPr id="5" name="Shape 3"/>
          <p:cNvSpPr/>
          <p:nvPr/>
        </p:nvSpPr>
        <p:spPr>
          <a:xfrm>
            <a:off x="2048173" y="3156645"/>
            <a:ext cx="1349425" cy="352425"/>
          </a:xfrm>
          <a:prstGeom prst="roundRect">
            <a:avLst>
              <a:gd name="adj" fmla="val 129730"/>
            </a:avLst>
          </a:prstGeom>
          <a:solidFill>
            <a:srgbClr val="3182CE"/>
          </a:solidFill>
          <a:ln/>
        </p:spPr>
      </p:sp>
      <p:sp>
        <p:nvSpPr>
          <p:cNvPr id="6" name="Shape 4"/>
          <p:cNvSpPr/>
          <p:nvPr/>
        </p:nvSpPr>
        <p:spPr>
          <a:xfrm>
            <a:off x="2065883" y="3570982"/>
            <a:ext cx="1082427" cy="352425"/>
          </a:xfrm>
          <a:prstGeom prst="roundRect">
            <a:avLst>
              <a:gd name="adj" fmla="val 129730"/>
            </a:avLst>
          </a:prstGeom>
          <a:solidFill>
            <a:srgbClr val="38A169"/>
          </a:solidFill>
          <a:ln/>
        </p:spPr>
      </p:sp>
      <p:sp>
        <p:nvSpPr>
          <p:cNvPr id="7" name="Text 5"/>
          <p:cNvSpPr/>
          <p:nvPr/>
        </p:nvSpPr>
        <p:spPr>
          <a:xfrm>
            <a:off x="747713" y="270420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50000"/>
              </a:lnSpc>
              <a:buNone/>
            </a:pPr>
            <a:r>
              <a:rPr lang="en-US" sz="1849" dirty="0">
                <a:solidFill>
                  <a:srgbClr val="FFFFFF"/>
                </a:solidFill>
                <a:latin typeface="Segoe UI" pitchFamily="34" charset="0"/>
                <a:ea typeface="Segoe UI" pitchFamily="34" charset="-122"/>
                <a:cs typeface="Segoe UI" pitchFamily="34" charset="-120"/>
              </a:rPr>
              <a:t>Not started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50000"/>
              </a:lnSpc>
              <a:buNone/>
            </a:pPr>
            <a:r>
              <a:rPr lang="en-US" sz="1849" dirty="0">
                <a:solidFill>
                  <a:srgbClr val="FFFFFF"/>
                </a:solidFill>
                <a:latin typeface="Segoe UI" pitchFamily="34" charset="0"/>
                <a:ea typeface="Segoe UI" pitchFamily="34" charset="-122"/>
                <a:cs typeface="Segoe UI" pitchFamily="34" charset="-120"/>
              </a:rPr>
              <a:t>In progress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Complete: </a:t>
            </a:r>
            <a:pPr algn="l" indent="0" marL="0">
              <a:lnSpc>
                <a:spcPct val="150000"/>
              </a:lnSpc>
              <a:buNone/>
            </a:pPr>
            <a:r>
              <a:rPr lang="en-US" sz="1849" dirty="0">
                <a:solidFill>
                  <a:srgbClr val="FFFFFF"/>
                </a:solidFill>
                <a:latin typeface="Segoe UI" pitchFamily="34" charset="0"/>
                <a:ea typeface="Segoe UI" pitchFamily="34" charset="-122"/>
                <a:cs typeface="Segoe UI" pitchFamily="34" charset="-120"/>
              </a:rPr>
              <a:t>Done </a:t>
            </a:r>
            <a:pPr algn="l" indent="0" marL="0">
              <a:lnSpc>
                <a:spcPct val="150000"/>
              </a:lnSpc>
              <a:buNone/>
            </a:pPr>
            <a:r>
              <a:rPr lang="en-US" sz="1849" dirty="0">
                <a:solidFill>
                  <a:srgbClr val="FFFFFF"/>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747713" y="40996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9" name="Shape 7"/>
          <p:cNvSpPr/>
          <p:nvPr/>
        </p:nvSpPr>
        <p:spPr>
          <a:xfrm>
            <a:off x="747713" y="4666357"/>
            <a:ext cx="935831" cy="490538"/>
          </a:xfrm>
          <a:prstGeom prst="roundRect">
            <a:avLst>
              <a:gd name="adj" fmla="val 93204"/>
            </a:avLst>
          </a:prstGeom>
          <a:solidFill>
            <a:srgbClr val="C05621"/>
          </a:solidFill>
          <a:ln/>
        </p:spPr>
      </p:sp>
      <p:sp>
        <p:nvSpPr>
          <p:cNvPr id="10" name="Text 8"/>
          <p:cNvSpPr/>
          <p:nvPr/>
        </p:nvSpPr>
        <p:spPr>
          <a:xfrm>
            <a:off x="747713" y="4666357"/>
            <a:ext cx="935831"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HIGH</a:t>
            </a:r>
            <a:endParaRPr lang="en-US" sz="2175" dirty="0"/>
          </a:p>
        </p:txBody>
      </p:sp>
      <p:sp>
        <p:nvSpPr>
          <p:cNvPr id="11" name="Shape 9"/>
          <p:cNvSpPr/>
          <p:nvPr/>
        </p:nvSpPr>
        <p:spPr>
          <a:xfrm>
            <a:off x="1721644" y="4666357"/>
            <a:ext cx="843707" cy="490538"/>
          </a:xfrm>
          <a:prstGeom prst="roundRect">
            <a:avLst>
              <a:gd name="adj" fmla="val 93204"/>
            </a:avLst>
          </a:prstGeom>
          <a:solidFill>
            <a:srgbClr val="DD6B20"/>
          </a:solidFill>
          <a:ln/>
        </p:spPr>
      </p:sp>
      <p:sp>
        <p:nvSpPr>
          <p:cNvPr id="12" name="Text 10"/>
          <p:cNvSpPr/>
          <p:nvPr/>
        </p:nvSpPr>
        <p:spPr>
          <a:xfrm>
            <a:off x="1721644" y="4666357"/>
            <a:ext cx="843707"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MED</a:t>
            </a:r>
            <a:endParaRPr lang="en-US" sz="2175" dirty="0"/>
          </a:p>
        </p:txBody>
      </p:sp>
      <p:sp>
        <p:nvSpPr>
          <p:cNvPr id="13" name="Shape 11"/>
          <p:cNvSpPr/>
          <p:nvPr/>
        </p:nvSpPr>
        <p:spPr>
          <a:xfrm>
            <a:off x="2603450" y="4666357"/>
            <a:ext cx="850106" cy="490538"/>
          </a:xfrm>
          <a:prstGeom prst="roundRect">
            <a:avLst>
              <a:gd name="adj" fmla="val 93204"/>
            </a:avLst>
          </a:prstGeom>
          <a:solidFill>
            <a:srgbClr val="2F855A"/>
          </a:solidFill>
          <a:ln/>
        </p:spPr>
      </p:sp>
      <p:sp>
        <p:nvSpPr>
          <p:cNvPr id="14" name="Text 12"/>
          <p:cNvSpPr/>
          <p:nvPr/>
        </p:nvSpPr>
        <p:spPr>
          <a:xfrm>
            <a:off x="2603450" y="4666357"/>
            <a:ext cx="850106"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LOW</a:t>
            </a:r>
            <a:endParaRPr lang="en-US" sz="2175" dirty="0"/>
          </a:p>
        </p:txBody>
      </p:sp>
      <p:sp>
        <p:nvSpPr>
          <p:cNvPr id="15" name="Text 13"/>
          <p:cNvSpPr/>
          <p:nvPr/>
        </p:nvSpPr>
        <p:spPr>
          <a:xfrm>
            <a:off x="747713" y="530929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6" name="Shape 14"/>
          <p:cNvSpPr/>
          <p:nvPr/>
        </p:nvSpPr>
        <p:spPr>
          <a:xfrm>
            <a:off x="747713" y="5949851"/>
            <a:ext cx="266700" cy="266700"/>
          </a:xfrm>
          <a:prstGeom prst="roundRect">
            <a:avLst>
              <a:gd name="adj" fmla="val 171429"/>
            </a:avLst>
          </a:prstGeom>
          <a:solidFill>
            <a:srgbClr val="3182CE"/>
          </a:solidFill>
          <a:ln/>
        </p:spPr>
      </p:sp>
      <p:sp>
        <p:nvSpPr>
          <p:cNvPr id="17" name="Text 15"/>
          <p:cNvSpPr/>
          <p:nvPr/>
        </p:nvSpPr>
        <p:spPr>
          <a:xfrm>
            <a:off x="747713"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18" name="Shape 16"/>
          <p:cNvSpPr/>
          <p:nvPr/>
        </p:nvSpPr>
        <p:spPr>
          <a:xfrm>
            <a:off x="1937891" y="5949851"/>
            <a:ext cx="266700" cy="266700"/>
          </a:xfrm>
          <a:prstGeom prst="roundRect">
            <a:avLst>
              <a:gd name="adj" fmla="val 171429"/>
            </a:avLst>
          </a:prstGeom>
          <a:solidFill>
            <a:srgbClr val="3182CE"/>
          </a:solidFill>
          <a:ln/>
        </p:spPr>
      </p:sp>
      <p:sp>
        <p:nvSpPr>
          <p:cNvPr id="19" name="Shape 17"/>
          <p:cNvSpPr/>
          <p:nvPr/>
        </p:nvSpPr>
        <p:spPr>
          <a:xfrm>
            <a:off x="4509195" y="5918895"/>
            <a:ext cx="266700" cy="266700"/>
          </a:xfrm>
          <a:prstGeom prst="roundRect">
            <a:avLst>
              <a:gd name="adj" fmla="val 171429"/>
            </a:avLst>
          </a:prstGeom>
          <a:solidFill>
            <a:srgbClr val="38A169"/>
          </a:solidFill>
          <a:ln/>
        </p:spPr>
      </p:sp>
      <p:sp>
        <p:nvSpPr>
          <p:cNvPr id="20" name="Text 18"/>
          <p:cNvSpPr/>
          <p:nvPr/>
        </p:nvSpPr>
        <p:spPr>
          <a:xfrm>
            <a:off x="1014413" y="5876032"/>
            <a:ext cx="107346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Install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config</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Verify operation</a:t>
            </a:r>
            <a:endParaRPr lang="en-US" sz="2175" dirty="0"/>
          </a:p>
        </p:txBody>
      </p:sp>
      <p:sp>
        <p:nvSpPr>
          <p:cNvPr id="21" name="Text 19"/>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34</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97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709541"/>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4" name="Text 2"/>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35</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042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827734"/>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Shape 2"/>
          <p:cNvSpPr/>
          <p:nvPr/>
        </p:nvSpPr>
        <p:spPr>
          <a:xfrm>
            <a:off x="747713" y="3436441"/>
            <a:ext cx="381000" cy="381000"/>
          </a:xfrm>
          <a:prstGeom prst="rect">
            <a:avLst/>
          </a:prstGeom>
          <a:solidFill>
            <a:srgbClr val="6B46C1"/>
          </a:solidFill>
          <a:ln/>
        </p:spPr>
      </p:sp>
      <p:sp>
        <p:nvSpPr>
          <p:cNvPr id="5" name="Text 3"/>
          <p:cNvSpPr/>
          <p:nvPr/>
        </p:nvSpPr>
        <p:spPr>
          <a:xfrm>
            <a:off x="747713" y="3436441"/>
            <a:ext cx="381000" cy="38100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Design</a:t>
            </a:r>
            <a:endParaRPr lang="en-US" sz="1740" dirty="0"/>
          </a:p>
        </p:txBody>
      </p:sp>
      <p:sp>
        <p:nvSpPr>
          <p:cNvPr id="6" name="Shape 4"/>
          <p:cNvSpPr/>
          <p:nvPr/>
        </p:nvSpPr>
        <p:spPr>
          <a:xfrm>
            <a:off x="1128713" y="3411141"/>
            <a:ext cx="381000" cy="381000"/>
          </a:xfrm>
          <a:prstGeom prst="roundRect">
            <a:avLst>
              <a:gd name="adj" fmla="val 120000"/>
            </a:avLst>
          </a:prstGeom>
          <a:solidFill>
            <a:srgbClr val="38A169"/>
          </a:solidFill>
          <a:ln/>
        </p:spPr>
      </p:sp>
      <p:sp>
        <p:nvSpPr>
          <p:cNvPr id="7" name="Text 5"/>
          <p:cNvSpPr/>
          <p:nvPr/>
        </p:nvSpPr>
        <p:spPr>
          <a:xfrm>
            <a:off x="1128713" y="3411141"/>
            <a:ext cx="381000" cy="381000"/>
          </a:xfrm>
          <a:prstGeom prst="rect">
            <a:avLst/>
          </a:prstGeom>
          <a:no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8" name="Shape 6"/>
          <p:cNvSpPr/>
          <p:nvPr/>
        </p:nvSpPr>
        <p:spPr>
          <a:xfrm>
            <a:off x="2220813" y="4519910"/>
            <a:ext cx="1460302" cy="314325"/>
          </a:xfrm>
          <a:prstGeom prst="roundRect">
            <a:avLst>
              <a:gd name="adj" fmla="val 141047"/>
            </a:avLst>
          </a:prstGeom>
          <a:solidFill>
            <a:srgbClr val="C05621"/>
          </a:solidFill>
          <a:ln/>
        </p:spPr>
      </p:sp>
      <p:sp>
        <p:nvSpPr>
          <p:cNvPr id="9" name="Text 7"/>
          <p:cNvSpPr/>
          <p:nvPr/>
        </p:nvSpPr>
        <p:spPr>
          <a:xfrm>
            <a:off x="747713" y="3969841"/>
            <a:ext cx="10696575" cy="897731"/>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Design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Implementation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Review </a:t>
            </a:r>
            <a:pPr algn="l" indent="0" marL="0">
              <a:lnSpc>
                <a:spcPct val="150000"/>
              </a:lnSpc>
              <a:buNone/>
            </a:pPr>
            <a:r>
              <a:rPr lang="en-US" sz="1740" dirty="0">
                <a:solidFill>
                  <a:srgbClr val="FFFFFF"/>
                </a:solidFill>
                <a:latin typeface="Segoe UI" pitchFamily="34" charset="0"/>
                <a:ea typeface="Segoe UI" pitchFamily="34" charset="-122"/>
                <a:cs typeface="Segoe UI" pitchFamily="34" charset="-120"/>
              </a:rPr>
              <a:t>Needs review</a:t>
            </a:r>
            <a:endParaRPr lang="en-US" sz="2175" dirty="0"/>
          </a:p>
        </p:txBody>
      </p:sp>
      <p:sp>
        <p:nvSpPr>
          <p:cNvPr id="10" name="Text 8"/>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36</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1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6343948" cy="857250"/>
          </a:xfrm>
          <a:prstGeom prst="rect">
            <a:avLst/>
          </a:prstGeom>
        </p:spPr>
      </p:pic>
      <p:sp>
        <p:nvSpPr>
          <p:cNvPr id="4" name="Text 1"/>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37</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35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430810"/>
            <a:ext cx="4286250" cy="2733675"/>
          </a:xfrm>
          <a:prstGeom prst="rect">
            <a:avLst/>
          </a:prstGeom>
        </p:spPr>
      </p:pic>
      <p:sp>
        <p:nvSpPr>
          <p:cNvPr id="4" name="Text 1"/>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38</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3390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423666"/>
            <a:ext cx="52720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2990404"/>
            <a:ext cx="2958405" cy="523875"/>
          </a:xfrm>
          <a:prstGeom prst="rect">
            <a:avLst/>
          </a:prstGeom>
        </p:spPr>
      </p:pic>
      <p:sp>
        <p:nvSpPr>
          <p:cNvPr id="5" name="Text 2"/>
          <p:cNvSpPr/>
          <p:nvPr/>
        </p:nvSpPr>
        <p:spPr>
          <a:xfrm>
            <a:off x="6172200" y="2423666"/>
            <a:ext cx="55768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2990404"/>
            <a:ext cx="4286250" cy="2733675"/>
          </a:xfrm>
          <a:prstGeom prst="rect">
            <a:avLst/>
          </a:prstGeom>
        </p:spPr>
      </p:pic>
      <p:sp>
        <p:nvSpPr>
          <p:cNvPr id="7"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39</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74843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13819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704927"/>
            <a:ext cx="11001375"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90616"/>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8" name="Text 6"/>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40</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43202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345531"/>
            <a:ext cx="47625" cy="556468"/>
          </a:xfrm>
          <a:prstGeom prst="rect">
            <a:avLst/>
          </a:prstGeom>
          <a:solidFill>
            <a:srgbClr val="2563EB"/>
          </a:solidFill>
          <a:ln w="12700">
            <a:solidFill>
              <a:srgbClr val="2563EB"/>
            </a:solidFill>
            <a:prstDash val="solid"/>
          </a:ln>
        </p:spPr>
      </p:sp>
      <p:sp>
        <p:nvSpPr>
          <p:cNvPr id="4" name="Text 2"/>
          <p:cNvSpPr/>
          <p:nvPr/>
        </p:nvSpPr>
        <p:spPr>
          <a:xfrm>
            <a:off x="795338" y="2345531"/>
            <a:ext cx="11244263" cy="556468"/>
          </a:xfrm>
          <a:prstGeom prst="rect">
            <a:avLst/>
          </a:prstGeom>
          <a:noFill/>
          <a:ln/>
        </p:spPr>
        <p:txBody>
          <a:bodyPr wrap="square" lIns="11430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054400"/>
            <a:ext cx="11001375" cy="83790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04470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41</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2465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2861965"/>
            <a:ext cx="11001375" cy="83790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3852267"/>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Important keywords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emphasised with this technique. Test whether the marker portion is rendered as text highlight or background colour in PPTX.</a:t>
            </a:r>
            <a:endParaRPr lang="en-US" sz="2175"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42</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387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Shape 1"/>
          <p:cNvSpPr/>
          <p:nvPr/>
        </p:nvSpPr>
        <p:spPr>
          <a:xfrm>
            <a:off x="747713" y="2661791"/>
            <a:ext cx="514350" cy="333375"/>
          </a:xfrm>
          <a:prstGeom prst="roundRect">
            <a:avLst>
              <a:gd name="adj" fmla="val 137143"/>
            </a:avLst>
          </a:prstGeom>
          <a:solidFill>
            <a:srgbClr val="2563EB"/>
          </a:solidFill>
          <a:ln/>
        </p:spPr>
      </p:sp>
      <p:sp>
        <p:nvSpPr>
          <p:cNvPr id="4" name="Text 2"/>
          <p:cNvSpPr/>
          <p:nvPr/>
        </p:nvSpPr>
        <p:spPr>
          <a:xfrm>
            <a:off x="747713" y="2661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5" name="Text 3"/>
          <p:cNvSpPr/>
          <p:nvPr/>
        </p:nvSpPr>
        <p:spPr>
          <a:xfrm>
            <a:off x="1262063" y="2576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Set up the environment</a:t>
            </a:r>
            <a:endParaRPr lang="en-US" sz="2175" dirty="0"/>
          </a:p>
        </p:txBody>
      </p:sp>
      <p:sp>
        <p:nvSpPr>
          <p:cNvPr id="6" name="Shape 4"/>
          <p:cNvSpPr/>
          <p:nvPr/>
        </p:nvSpPr>
        <p:spPr>
          <a:xfrm>
            <a:off x="747713" y="3233291"/>
            <a:ext cx="514350" cy="333375"/>
          </a:xfrm>
          <a:prstGeom prst="roundRect">
            <a:avLst>
              <a:gd name="adj" fmla="val 137143"/>
            </a:avLst>
          </a:prstGeom>
          <a:solidFill>
            <a:srgbClr val="2563EB"/>
          </a:solidFill>
          <a:ln/>
        </p:spPr>
      </p:sp>
      <p:sp>
        <p:nvSpPr>
          <p:cNvPr id="7" name="Text 5"/>
          <p:cNvSpPr/>
          <p:nvPr/>
        </p:nvSpPr>
        <p:spPr>
          <a:xfrm>
            <a:off x="747713" y="32332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8" name="Text 6"/>
          <p:cNvSpPr/>
          <p:nvPr/>
        </p:nvSpPr>
        <p:spPr>
          <a:xfrm>
            <a:off x="1262063" y="31475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the configuration file</a:t>
            </a:r>
            <a:endParaRPr lang="en-US" sz="2175" dirty="0"/>
          </a:p>
        </p:txBody>
      </p:sp>
      <p:sp>
        <p:nvSpPr>
          <p:cNvPr id="9" name="Shape 7"/>
          <p:cNvSpPr/>
          <p:nvPr/>
        </p:nvSpPr>
        <p:spPr>
          <a:xfrm>
            <a:off x="747713" y="3804791"/>
            <a:ext cx="514350" cy="333375"/>
          </a:xfrm>
          <a:prstGeom prst="roundRect">
            <a:avLst>
              <a:gd name="adj" fmla="val 137143"/>
            </a:avLst>
          </a:prstGeom>
          <a:solidFill>
            <a:srgbClr val="2563EB"/>
          </a:solidFill>
          <a:ln/>
        </p:spPr>
      </p:sp>
      <p:sp>
        <p:nvSpPr>
          <p:cNvPr id="10" name="Text 8"/>
          <p:cNvSpPr/>
          <p:nvPr/>
        </p:nvSpPr>
        <p:spPr>
          <a:xfrm>
            <a:off x="747713" y="3804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11" name="Text 9"/>
          <p:cNvSpPr/>
          <p:nvPr/>
        </p:nvSpPr>
        <p:spPr>
          <a:xfrm>
            <a:off x="1262063" y="3719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Run tests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verify operation</a:t>
            </a:r>
            <a:endParaRPr lang="en-US" sz="2175" dirty="0"/>
          </a:p>
        </p:txBody>
      </p:sp>
      <p:sp>
        <p:nvSpPr>
          <p:cNvPr id="12" name="Text 10"/>
          <p:cNvSpPr/>
          <p:nvPr/>
        </p:nvSpPr>
        <p:spPr>
          <a:xfrm>
            <a:off x="747713" y="4290566"/>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13" name="Text 11"/>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43</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8835"/>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6420743" cy="914400"/>
        </p:xfrm>
        <a:graphic>
          <a:graphicData uri="http://schemas.openxmlformats.org/drawingml/2006/table">
            <a:tbl>
              <a:tblPr/>
              <a:tblGrid>
                <a:gridCol w="790575"/>
                <a:gridCol w="1704975"/>
                <a:gridCol w="1533525"/>
                <a:gridCol w="1524000"/>
                <a:gridCol w="85725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Tool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Before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After</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Verdict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A</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Code completion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input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Auto-complete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B</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Review</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check</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Auto-detect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C</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Test generation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write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Auto-generate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D</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Documentation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update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Semi-auto</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703415"/>
            <a:ext cx="11001375" cy="285750"/>
          </a:xfrm>
          <a:prstGeom prst="rect">
            <a:avLst/>
          </a:prstGeom>
          <a:noFill/>
          <a:ln/>
        </p:spPr>
        <p:txBody>
          <a:bodyPr wrap="square" lIns="0" tIns="0" rIns="0" bIns="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5" name="Text 2"/>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44</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448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Shape 1"/>
          <p:cNvSpPr/>
          <p:nvPr/>
        </p:nvSpPr>
        <p:spPr>
          <a:xfrm>
            <a:off x="7959179" y="2661791"/>
            <a:ext cx="3485108" cy="404813"/>
          </a:xfrm>
          <a:prstGeom prst="roundRect">
            <a:avLst>
              <a:gd name="adj" fmla="val 112941"/>
            </a:avLst>
          </a:prstGeom>
          <a:solidFill>
            <a:srgbClr val="DCF8C6"/>
          </a:solidFill>
          <a:ln w="6350">
            <a:solidFill>
              <a:srgbClr val="CCCCCC"/>
            </a:solidFill>
            <a:prstDash val="solid"/>
          </a:ln>
        </p:spPr>
      </p:sp>
      <p:sp>
        <p:nvSpPr>
          <p:cNvPr id="4" name="Text 2"/>
          <p:cNvSpPr/>
          <p:nvPr/>
        </p:nvSpPr>
        <p:spPr>
          <a:xfrm>
            <a:off x="7959179" y="2661791"/>
            <a:ext cx="3866108"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I want to improve the performance of this function.</a:t>
            </a:r>
            <a:endParaRPr lang="en-US" sz="1125" dirty="0"/>
          </a:p>
        </p:txBody>
      </p:sp>
      <p:sp>
        <p:nvSpPr>
          <p:cNvPr id="5" name="Shape 3"/>
          <p:cNvSpPr/>
          <p:nvPr/>
        </p:nvSpPr>
        <p:spPr>
          <a:xfrm>
            <a:off x="747713" y="3161854"/>
            <a:ext cx="3264545" cy="852488"/>
          </a:xfrm>
          <a:prstGeom prst="roundRect">
            <a:avLst>
              <a:gd name="adj" fmla="val 38351"/>
            </a:avLst>
          </a:prstGeom>
          <a:solidFill>
            <a:srgbClr val="FFFFFF"/>
          </a:solidFill>
          <a:ln w="9525">
            <a:solidFill>
              <a:srgbClr val="E2E8F0"/>
            </a:solidFill>
            <a:prstDash val="solid"/>
          </a:ln>
        </p:spPr>
      </p:sp>
      <p:sp>
        <p:nvSpPr>
          <p:cNvPr id="6" name="Text 4"/>
          <p:cNvSpPr/>
          <p:nvPr/>
        </p:nvSpPr>
        <p:spPr>
          <a:xfrm>
            <a:off x="747713" y="3161854"/>
            <a:ext cx="3340745" cy="852488"/>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Sure, here are a few approaches.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1. Memoisation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cache computed results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2. Lazy evaluation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compute only when needed</a:t>
            </a:r>
            <a:endParaRPr lang="en-US" sz="1125" dirty="0"/>
          </a:p>
        </p:txBody>
      </p:sp>
      <p:sp>
        <p:nvSpPr>
          <p:cNvPr id="7" name="Shape 5"/>
          <p:cNvSpPr/>
          <p:nvPr/>
        </p:nvSpPr>
        <p:spPr>
          <a:xfrm>
            <a:off x="8206234" y="4109591"/>
            <a:ext cx="3238054" cy="404813"/>
          </a:xfrm>
          <a:prstGeom prst="roundRect">
            <a:avLst>
              <a:gd name="adj" fmla="val 112941"/>
            </a:avLst>
          </a:prstGeom>
          <a:solidFill>
            <a:srgbClr val="DCF8C6"/>
          </a:solidFill>
          <a:ln w="6350">
            <a:solidFill>
              <a:srgbClr val="CCCCCC"/>
            </a:solidFill>
            <a:prstDash val="solid"/>
          </a:ln>
        </p:spPr>
      </p:sp>
      <p:sp>
        <p:nvSpPr>
          <p:cNvPr id="8" name="Text 6"/>
          <p:cNvSpPr/>
          <p:nvPr/>
        </p:nvSpPr>
        <p:spPr>
          <a:xfrm>
            <a:off x="8206234" y="4109591"/>
            <a:ext cx="3619054"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Can you show me an example of memoisation?</a:t>
            </a:r>
            <a:endParaRPr lang="en-US" sz="1125" dirty="0"/>
          </a:p>
        </p:txBody>
      </p:sp>
      <p:sp>
        <p:nvSpPr>
          <p:cNvPr id="9" name="Shape 7"/>
          <p:cNvSpPr/>
          <p:nvPr/>
        </p:nvSpPr>
        <p:spPr>
          <a:xfrm>
            <a:off x="747713" y="4609654"/>
            <a:ext cx="6541740" cy="423863"/>
          </a:xfrm>
          <a:prstGeom prst="roundRect">
            <a:avLst>
              <a:gd name="adj" fmla="val 107865"/>
            </a:avLst>
          </a:prstGeom>
          <a:solidFill>
            <a:srgbClr val="FFFFFF"/>
          </a:solidFill>
          <a:ln w="9525">
            <a:solidFill>
              <a:srgbClr val="E2E8F0"/>
            </a:solidFill>
            <a:prstDash val="solid"/>
          </a:ln>
        </p:spPr>
      </p:sp>
      <p:sp>
        <p:nvSpPr>
          <p:cNvPr id="10" name="Text 8"/>
          <p:cNvSpPr/>
          <p:nvPr/>
        </p:nvSpPr>
        <p:spPr>
          <a:xfrm>
            <a:off x="747713" y="4609654"/>
            <a:ext cx="6617940" cy="42386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5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Map</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-based memoisation pattern is common. It works well for pure functions with no side effects.</a:t>
            </a:r>
            <a:endParaRPr lang="en-US" sz="1125" dirty="0"/>
          </a:p>
        </p:txBody>
      </p:sp>
      <p:sp>
        <p:nvSpPr>
          <p:cNvPr id="11" name="Text 9"/>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45</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1077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Shape 1"/>
          <p:cNvSpPr/>
          <p:nvPr/>
        </p:nvSpPr>
        <p:spPr>
          <a:xfrm>
            <a:off x="747713" y="2548086"/>
            <a:ext cx="5253038" cy="2599134"/>
          </a:xfrm>
          <a:prstGeom prst="roundRect">
            <a:avLst>
              <a:gd name="adj" fmla="val 3094"/>
            </a:avLst>
          </a:prstGeom>
          <a:solidFill>
            <a:srgbClr val="FFFFFF"/>
          </a:solidFill>
          <a:ln w="6350">
            <a:solidFill>
              <a:srgbClr val="CCCCCC"/>
            </a:solidFill>
            <a:prstDash val="solid"/>
          </a:ln>
        </p:spPr>
      </p:sp>
      <p:sp>
        <p:nvSpPr>
          <p:cNvPr id="4" name="Text 2"/>
          <p:cNvSpPr/>
          <p:nvPr/>
        </p:nvSpPr>
        <p:spPr>
          <a:xfrm>
            <a:off x="900113" y="2929086"/>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Analytics report</a:t>
            </a:r>
            <a:endParaRPr lang="en-US" sz="2392" dirty="0"/>
          </a:p>
        </p:txBody>
      </p:sp>
      <p:sp>
        <p:nvSpPr>
          <p:cNvPr id="5" name="Text 3"/>
          <p:cNvSpPr/>
          <p:nvPr/>
        </p:nvSpPr>
        <p:spPr>
          <a:xfrm>
            <a:off x="900113" y="3461296"/>
            <a:ext cx="494823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Executions: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1,234</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Success rate: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98.5%</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Average duration: 2.3 s</a:t>
            </a:r>
            <a:endParaRPr lang="en-US" sz="2175" dirty="0"/>
          </a:p>
        </p:txBody>
      </p:sp>
      <p:sp>
        <p:nvSpPr>
          <p:cNvPr id="6" name="Shape 4"/>
          <p:cNvSpPr/>
          <p:nvPr/>
        </p:nvSpPr>
        <p:spPr>
          <a:xfrm>
            <a:off x="6191250" y="2548086"/>
            <a:ext cx="5253038" cy="2599134"/>
          </a:xfrm>
          <a:prstGeom prst="roundRect">
            <a:avLst>
              <a:gd name="adj" fmla="val 3094"/>
            </a:avLst>
          </a:prstGeom>
          <a:solidFill>
            <a:srgbClr val="FFFFFF"/>
          </a:solidFill>
          <a:ln w="6350">
            <a:solidFill>
              <a:srgbClr val="CCCCCC"/>
            </a:solidFill>
            <a:prstDash val="solid"/>
          </a:ln>
        </p:spPr>
      </p:sp>
      <p:sp>
        <p:nvSpPr>
          <p:cNvPr id="7" name="Shape 5"/>
          <p:cNvSpPr/>
          <p:nvPr/>
        </p:nvSpPr>
        <p:spPr>
          <a:xfrm>
            <a:off x="6191250" y="2548086"/>
            <a:ext cx="38100" cy="2599134"/>
          </a:xfrm>
          <a:prstGeom prst="rect">
            <a:avLst/>
          </a:prstGeom>
          <a:solidFill>
            <a:srgbClr val="EA580C"/>
          </a:solidFill>
          <a:ln w="12700">
            <a:solidFill>
              <a:srgbClr val="EA580C"/>
            </a:solidFill>
            <a:prstDash val="solid"/>
          </a:ln>
        </p:spPr>
      </p:sp>
      <p:sp>
        <p:nvSpPr>
          <p:cNvPr id="8" name="Text 6"/>
          <p:cNvSpPr/>
          <p:nvPr/>
        </p:nvSpPr>
        <p:spPr>
          <a:xfrm>
            <a:off x="6381750" y="2929086"/>
            <a:ext cx="49101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Caution</a:t>
            </a:r>
            <a:endParaRPr lang="en-US" sz="2392" dirty="0"/>
          </a:p>
        </p:txBody>
      </p:sp>
      <p:sp>
        <p:nvSpPr>
          <p:cNvPr id="9" name="Text 7"/>
          <p:cNvSpPr/>
          <p:nvPr/>
        </p:nvSpPr>
        <p:spPr>
          <a:xfrm>
            <a:off x="6381750" y="3461296"/>
            <a:ext cx="5214938"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Watch out for API rate limits —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60 requests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per minute max.</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Exceeding will return a 429 error.</a:t>
            </a:r>
            <a:endParaRPr lang="en-US" sz="2175" dirty="0"/>
          </a:p>
        </p:txBody>
      </p:sp>
      <p:sp>
        <p:nvSpPr>
          <p:cNvPr id="10" name="Text 8"/>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46</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45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Shape 1"/>
          <p:cNvSpPr/>
          <p:nvPr/>
        </p:nvSpPr>
        <p:spPr>
          <a:xfrm>
            <a:off x="747713" y="3083272"/>
            <a:ext cx="10696575" cy="404813"/>
          </a:xfrm>
          <a:prstGeom prst="rect">
            <a:avLst/>
          </a:prstGeom>
          <a:solidFill>
            <a:srgbClr val="FFF7ED"/>
          </a:solidFill>
          <a:ln/>
        </p:spPr>
      </p:sp>
      <p:sp>
        <p:nvSpPr>
          <p:cNvPr id="4" name="Shape 2"/>
          <p:cNvSpPr/>
          <p:nvPr/>
        </p:nvSpPr>
        <p:spPr>
          <a:xfrm>
            <a:off x="747713" y="3083272"/>
            <a:ext cx="57150" cy="404813"/>
          </a:xfrm>
          <a:prstGeom prst="rect">
            <a:avLst/>
          </a:prstGeom>
          <a:solidFill>
            <a:srgbClr val="EA580C"/>
          </a:solidFill>
          <a:ln w="12700">
            <a:solidFill>
              <a:srgbClr val="EA580C"/>
            </a:solidFill>
            <a:prstDash val="solid"/>
          </a:ln>
        </p:spPr>
      </p:sp>
      <p:sp>
        <p:nvSpPr>
          <p:cNvPr id="5" name="Text 3"/>
          <p:cNvSpPr/>
          <p:nvPr/>
        </p:nvSpPr>
        <p:spPr>
          <a:xfrm>
            <a:off x="747713" y="308327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Add your key to </a:t>
            </a:r>
            <a:pPr algn="l" indent="0" marL="0">
              <a:lnSpc>
                <a:spcPct val="15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config.json</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Do not overwrite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existing settings — append instead.</a:t>
            </a:r>
            <a:endParaRPr lang="en-US" sz="1125" dirty="0"/>
          </a:p>
        </p:txBody>
      </p:sp>
      <p:sp>
        <p:nvSpPr>
          <p:cNvPr id="6" name="Text 4"/>
          <p:cNvSpPr/>
          <p:nvPr/>
        </p:nvSpPr>
        <p:spPr>
          <a:xfrm>
            <a:off x="747713" y="364048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7" name="Shape 5"/>
          <p:cNvSpPr/>
          <p:nvPr/>
        </p:nvSpPr>
        <p:spPr>
          <a:xfrm>
            <a:off x="747713" y="4207222"/>
            <a:ext cx="10696575" cy="404813"/>
          </a:xfrm>
          <a:prstGeom prst="rect">
            <a:avLst/>
          </a:prstGeom>
          <a:solidFill>
            <a:srgbClr val="FEF2F2"/>
          </a:solidFill>
          <a:ln/>
        </p:spPr>
      </p:sp>
      <p:sp>
        <p:nvSpPr>
          <p:cNvPr id="8" name="Shape 6"/>
          <p:cNvSpPr/>
          <p:nvPr/>
        </p:nvSpPr>
        <p:spPr>
          <a:xfrm>
            <a:off x="747713" y="4207222"/>
            <a:ext cx="57150" cy="404813"/>
          </a:xfrm>
          <a:prstGeom prst="rect">
            <a:avLst/>
          </a:prstGeom>
          <a:solidFill>
            <a:srgbClr val="DC2626"/>
          </a:solidFill>
          <a:ln w="12700">
            <a:solidFill>
              <a:srgbClr val="DC2626"/>
            </a:solidFill>
            <a:prstDash val="solid"/>
          </a:ln>
        </p:spPr>
      </p:sp>
      <p:sp>
        <p:nvSpPr>
          <p:cNvPr id="9" name="Text 7"/>
          <p:cNvSpPr/>
          <p:nvPr/>
        </p:nvSpPr>
        <p:spPr>
          <a:xfrm>
            <a:off x="747713" y="420722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This operation is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Please back up before executing.</a:t>
            </a:r>
            <a:endParaRPr lang="en-US" sz="1125" dirty="0"/>
          </a:p>
        </p:txBody>
      </p:sp>
      <p:sp>
        <p:nvSpPr>
          <p:cNvPr id="10" name="Text 8"/>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47</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Shape 1"/>
          <p:cNvSpPr/>
          <p:nvPr/>
        </p:nvSpPr>
        <p:spPr>
          <a:xfrm>
            <a:off x="5191125" y="3026122"/>
            <a:ext cx="1809750" cy="604838"/>
          </a:xfrm>
          <a:prstGeom prst="roundRect">
            <a:avLst>
              <a:gd name="adj" fmla="val 38093"/>
            </a:avLst>
          </a:prstGeom>
          <a:solidFill>
            <a:srgbClr val="2563EB"/>
          </a:solidFill>
          <a:ln/>
        </p:spPr>
      </p:sp>
      <p:sp>
        <p:nvSpPr>
          <p:cNvPr id="4" name="Text 2"/>
          <p:cNvSpPr/>
          <p:nvPr/>
        </p:nvSpPr>
        <p:spPr>
          <a:xfrm>
            <a:off x="5191125" y="3026122"/>
            <a:ext cx="1885950" cy="604838"/>
          </a:xfrm>
          <a:prstGeom prst="rect">
            <a:avLst/>
          </a:prstGeom>
          <a:noFill/>
          <a:ln/>
        </p:spPr>
        <p:txBody>
          <a:bodyPr wrap="square" lIns="228600" tIns="95250" rIns="228600" bIns="95250" rtlCol="0" anchor="t"/>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Input data</a:t>
            </a:r>
            <a:endParaRPr lang="en-US" sz="2175" dirty="0"/>
          </a:p>
        </p:txBody>
      </p:sp>
      <p:sp>
        <p:nvSpPr>
          <p:cNvPr id="5" name="Text 3"/>
          <p:cNvSpPr/>
          <p:nvPr/>
        </p:nvSpPr>
        <p:spPr>
          <a:xfrm>
            <a:off x="747713" y="3745260"/>
            <a:ext cx="11001375" cy="342900"/>
          </a:xfrm>
          <a:prstGeom prst="rect">
            <a:avLst/>
          </a:prstGeom>
          <a:noFill/>
          <a:ln/>
        </p:spPr>
        <p:txBody>
          <a:bodyPr wrap="square" lIns="0" tIns="0" rIns="0" bIns="0" rtlCol="0" anchor="t"/>
          <a:lstStyle/>
          <a:p>
            <a:pPr algn="ctr"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6" name="Shape 4"/>
          <p:cNvSpPr/>
          <p:nvPr/>
        </p:nvSpPr>
        <p:spPr>
          <a:xfrm>
            <a:off x="747713" y="4164360"/>
            <a:ext cx="3514725" cy="1057275"/>
          </a:xfrm>
          <a:prstGeom prst="roundRect">
            <a:avLst>
              <a:gd name="adj" fmla="val 12467"/>
            </a:avLst>
          </a:prstGeom>
          <a:solidFill>
            <a:srgbClr val="DBEAFE"/>
          </a:solidFill>
          <a:ln w="19050">
            <a:solidFill>
              <a:srgbClr val="2563EB"/>
            </a:solidFill>
            <a:prstDash val="solid"/>
          </a:ln>
        </p:spPr>
      </p:sp>
      <p:sp>
        <p:nvSpPr>
          <p:cNvPr id="7" name="Text 5"/>
          <p:cNvSpPr/>
          <p:nvPr/>
        </p:nvSpPr>
        <p:spPr>
          <a:xfrm>
            <a:off x="747713"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Data validation</a:t>
            </a:r>
            <a:endParaRPr lang="en-US" sz="2175" dirty="0"/>
          </a:p>
        </p:txBody>
      </p:sp>
      <p:sp>
        <p:nvSpPr>
          <p:cNvPr id="8" name="Shape 6"/>
          <p:cNvSpPr/>
          <p:nvPr/>
        </p:nvSpPr>
        <p:spPr>
          <a:xfrm>
            <a:off x="4338638" y="4164360"/>
            <a:ext cx="3514725" cy="1057275"/>
          </a:xfrm>
          <a:prstGeom prst="roundRect">
            <a:avLst>
              <a:gd name="adj" fmla="val 12467"/>
            </a:avLst>
          </a:prstGeom>
          <a:solidFill>
            <a:srgbClr val="FFF7ED"/>
          </a:solidFill>
          <a:ln w="19050">
            <a:solidFill>
              <a:srgbClr val="EA580C"/>
            </a:solidFill>
            <a:prstDash val="solid"/>
          </a:ln>
        </p:spPr>
      </p:sp>
      <p:sp>
        <p:nvSpPr>
          <p:cNvPr id="9" name="Text 7"/>
          <p:cNvSpPr/>
          <p:nvPr/>
        </p:nvSpPr>
        <p:spPr>
          <a:xfrm>
            <a:off x="4338638"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Transform &amp; format</a:t>
            </a:r>
            <a:endParaRPr lang="en-US" sz="2175" dirty="0"/>
          </a:p>
        </p:txBody>
      </p:sp>
      <p:sp>
        <p:nvSpPr>
          <p:cNvPr id="10" name="Shape 8"/>
          <p:cNvSpPr/>
          <p:nvPr/>
        </p:nvSpPr>
        <p:spPr>
          <a:xfrm>
            <a:off x="7929563" y="4164360"/>
            <a:ext cx="3514725" cy="1057275"/>
          </a:xfrm>
          <a:prstGeom prst="roundRect">
            <a:avLst>
              <a:gd name="adj" fmla="val 12467"/>
            </a:avLst>
          </a:prstGeom>
          <a:solidFill>
            <a:srgbClr val="DCFCE7"/>
          </a:solidFill>
          <a:ln w="19050">
            <a:solidFill>
              <a:srgbClr val="16A34A"/>
            </a:solidFill>
            <a:prstDash val="solid"/>
          </a:ln>
        </p:spPr>
      </p:sp>
      <p:sp>
        <p:nvSpPr>
          <p:cNvPr id="11" name="Text 9"/>
          <p:cNvSpPr/>
          <p:nvPr/>
        </p:nvSpPr>
        <p:spPr>
          <a:xfrm>
            <a:off x="7929563" y="4164360"/>
            <a:ext cx="38957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Output &amp; save</a:t>
            </a:r>
            <a:endParaRPr lang="en-US" sz="2175" dirty="0"/>
          </a:p>
        </p:txBody>
      </p:sp>
      <p:sp>
        <p:nvSpPr>
          <p:cNvPr id="12" name="Text 10"/>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48</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61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5962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668488"/>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720257" cy="914400"/>
        </p:xfrm>
        <a:graphic>
          <a:graphicData uri="http://schemas.openxmlformats.org/drawingml/2006/table">
            <a:tbl>
              <a:tblPr/>
              <a:tblGrid>
                <a:gridCol w="561975"/>
                <a:gridCol w="1152525"/>
                <a:gridCol w="1990725"/>
              </a:tblGrid>
              <a:tr h="0">
                <a:tc>
                  <a:txBody>
                    <a:bodyPr/>
                    <a:lstStyle/>
                    <a:p>
                      <a:pPr algn="l" indent="0" marL="0">
                        <a:buNone/>
                      </a:pPr>
                      <a:endParaRPr lang="en-US" sz="2175" dirty="0">
                        <a:latin typeface="Segoe UI" charset="0"/>
                        <a:ea typeface="Segoe UI" charset="0"/>
                        <a:cs typeface="Segoe UI" charset="0"/>
                      </a:endParaRPr>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6"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49</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02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147566"/>
            <a:ext cx="11001375" cy="833289"/>
          </a:xfrm>
          <a:prstGeom prst="rect">
            <a:avLst/>
          </a:prstGeom>
          <a:noFill/>
          <a:ln/>
        </p:spPr>
        <p:txBody>
          <a:bodyPr wrap="square" lIns="0" tIns="0" rIns="0" bIns="0" rtlCol="0" anchor="t"/>
          <a:lstStyle/>
          <a:p>
            <a:pPr algn="l" indent="0" marL="0">
              <a:lnSpc>
                <a:spcPct val="150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13325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50</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826865"/>
            <a:ext cx="76342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664172"/>
            <a:ext cx="7343775" cy="833289"/>
          </a:xfrm>
          <a:prstGeom prst="rect">
            <a:avLst/>
          </a:prstGeom>
          <a:noFill/>
          <a:ln/>
        </p:spPr>
        <p:txBody>
          <a:bodyPr wrap="square" lIns="0" tIns="0" rIns="0" bIns="0" rtlCol="0" anchor="t"/>
          <a:lstStyle/>
          <a:p>
            <a:pPr algn="l" indent="0" marL="0">
              <a:lnSpc>
                <a:spcPct val="150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649861"/>
            <a:ext cx="70389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6" name="Text 3"/>
          <p:cNvSpPr/>
          <p:nvPr/>
        </p:nvSpPr>
        <p:spPr>
          <a:xfrm>
            <a:off x="0" y="5762625"/>
            <a:ext cx="85344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51</a:t>
            </a:r>
            <a:endParaRPr lang="en-US" sz="1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1433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80246"/>
            <a:ext cx="7667625"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212455"/>
            <a:ext cx="766762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93530"/>
            <a:ext cx="766762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10"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52</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888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97327" y="3538091"/>
            <a:ext cx="197346" cy="342900"/>
          </a:xfrm>
          <a:prstGeom prst="rect">
            <a:avLst/>
          </a:prstGeom>
          <a:noFill/>
          <a:ln/>
        </p:spPr>
        <p:txBody>
          <a:bodyPr wrap="square" lIns="0" tIns="0" rIns="0" bIns="0" rtlCol="0" anchor="t"/>
          <a:lstStyle/>
          <a:p>
            <a:pPr algn="l"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69110"/>
            <a:ext cx="11001375" cy="200025"/>
          </a:xfrm>
          <a:prstGeom prst="rect">
            <a:avLst/>
          </a:prstGeom>
          <a:noFill/>
          <a:ln/>
        </p:spPr>
        <p:txBody>
          <a:bodyPr wrap="square" lIns="0" tIns="0" rIns="0" bIns="0" rtlCol="0" anchor="t"/>
          <a:lstStyle/>
          <a:p>
            <a:pPr algn="ctr" indent="0" marL="0">
              <a:lnSpc>
                <a:spcPct val="15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6"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53</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77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Shape 1"/>
          <p:cNvSpPr/>
          <p:nvPr/>
        </p:nvSpPr>
        <p:spPr>
          <a:xfrm>
            <a:off x="747713" y="3468439"/>
            <a:ext cx="495300" cy="271463"/>
          </a:xfrm>
          <a:prstGeom prst="roundRect">
            <a:avLst>
              <a:gd name="adj" fmla="val 168421"/>
            </a:avLst>
          </a:prstGeom>
          <a:solidFill>
            <a:srgbClr val="0F6CBD"/>
          </a:solidFill>
          <a:ln/>
        </p:spPr>
      </p:sp>
      <p:sp>
        <p:nvSpPr>
          <p:cNvPr id="4" name="Text 2"/>
          <p:cNvSpPr/>
          <p:nvPr/>
        </p:nvSpPr>
        <p:spPr>
          <a:xfrm>
            <a:off x="747713" y="346843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5" name="Text 3"/>
          <p:cNvSpPr/>
          <p:nvPr/>
        </p:nvSpPr>
        <p:spPr>
          <a:xfrm>
            <a:off x="1243013" y="336366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Copy the config directory</a:t>
            </a:r>
            <a:endParaRPr lang="en-US" sz="2392" dirty="0"/>
          </a:p>
        </p:txBody>
      </p:sp>
      <p:sp>
        <p:nvSpPr>
          <p:cNvPr id="6" name="Shape 4"/>
          <p:cNvSpPr/>
          <p:nvPr/>
        </p:nvSpPr>
        <p:spPr>
          <a:xfrm>
            <a:off x="747713" y="4076849"/>
            <a:ext cx="495300" cy="271463"/>
          </a:xfrm>
          <a:prstGeom prst="roundRect">
            <a:avLst>
              <a:gd name="adj" fmla="val 168421"/>
            </a:avLst>
          </a:prstGeom>
          <a:solidFill>
            <a:srgbClr val="0F6CBD"/>
          </a:solidFill>
          <a:ln/>
        </p:spPr>
      </p:sp>
      <p:sp>
        <p:nvSpPr>
          <p:cNvPr id="7" name="Text 5"/>
          <p:cNvSpPr/>
          <p:nvPr/>
        </p:nvSpPr>
        <p:spPr>
          <a:xfrm>
            <a:off x="747713" y="407684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8" name="Text 6"/>
          <p:cNvSpPr/>
          <p:nvPr/>
        </p:nvSpPr>
        <p:spPr>
          <a:xfrm>
            <a:off x="1243013" y="397207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Restart the application</a:t>
            </a:r>
            <a:endParaRPr lang="en-US" sz="2392" dirty="0"/>
          </a:p>
        </p:txBody>
      </p:sp>
      <p:sp>
        <p:nvSpPr>
          <p:cNvPr id="9" name="Shape 7"/>
          <p:cNvSpPr/>
          <p:nvPr/>
        </p:nvSpPr>
        <p:spPr>
          <a:xfrm>
            <a:off x="747713" y="4685258"/>
            <a:ext cx="495300" cy="271463"/>
          </a:xfrm>
          <a:prstGeom prst="roundRect">
            <a:avLst>
              <a:gd name="adj" fmla="val 168421"/>
            </a:avLst>
          </a:prstGeom>
          <a:solidFill>
            <a:srgbClr val="0F6CBD"/>
          </a:solidFill>
          <a:ln/>
        </p:spPr>
      </p:sp>
      <p:sp>
        <p:nvSpPr>
          <p:cNvPr id="10" name="Text 8"/>
          <p:cNvSpPr/>
          <p:nvPr/>
        </p:nvSpPr>
        <p:spPr>
          <a:xfrm>
            <a:off x="747713" y="4685258"/>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11" name="Text 9"/>
          <p:cNvSpPr/>
          <p:nvPr/>
        </p:nvSpPr>
        <p:spPr>
          <a:xfrm>
            <a:off x="1243013" y="4580483"/>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Launch from the command palette</a:t>
            </a:r>
            <a:endParaRPr lang="en-US" sz="2392" dirty="0"/>
          </a:p>
        </p:txBody>
      </p:sp>
      <p:sp>
        <p:nvSpPr>
          <p:cNvPr id="12" name="Text 10"/>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54</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46459" cy="342900"/>
          </a:xfrm>
          <a:prstGeom prst="rect">
            <a:avLst/>
          </a:prstGeom>
          <a:solidFill>
            <a:srgbClr val="2563EB"/>
          </a:solidFill>
          <a:ln/>
        </p:spPr>
      </p:sp>
      <p:sp>
        <p:nvSpPr>
          <p:cNvPr id="3" name="Text 1"/>
          <p:cNvSpPr/>
          <p:nvPr/>
        </p:nvSpPr>
        <p:spPr>
          <a:xfrm>
            <a:off x="747713" y="22435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55: section::before/after (banner suppression test)</a:t>
            </a:r>
            <a:endParaRPr lang="en-US" sz="3480" dirty="0"/>
          </a:p>
        </p:txBody>
      </p:sp>
      <p:sp>
        <p:nvSpPr>
          <p:cNvPr id="4" name="Text 2"/>
          <p:cNvSpPr/>
          <p:nvPr/>
        </p:nvSpPr>
        <p:spPr>
          <a:xfrm>
            <a:off x="747713" y="363334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20007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6" name="Text 4"/>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55</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9494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56: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60898"/>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Shape 3"/>
          <p:cNvSpPr/>
          <p:nvPr/>
        </p:nvSpPr>
        <p:spPr>
          <a:xfrm>
            <a:off x="3620839" y="3369766"/>
            <a:ext cx="677614" cy="400050"/>
          </a:xfrm>
          <a:prstGeom prst="roundRect">
            <a:avLst>
              <a:gd name="adj" fmla="val 43537"/>
            </a:avLst>
          </a:prstGeom>
          <a:solidFill>
            <a:srgbClr val="F1C40F"/>
          </a:solidFill>
          <a:ln/>
        </p:spPr>
      </p:sp>
      <p:sp>
        <p:nvSpPr>
          <p:cNvPr id="6" name="Text 4"/>
          <p:cNvSpPr/>
          <p:nvPr/>
        </p:nvSpPr>
        <p:spPr>
          <a:xfrm>
            <a:off x="747713" y="336976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right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7" name="Shape 5"/>
          <p:cNvSpPr/>
          <p:nvPr/>
        </p:nvSpPr>
        <p:spPr>
          <a:xfrm>
            <a:off x="2797969" y="4765179"/>
            <a:ext cx="2995613" cy="400050"/>
          </a:xfrm>
          <a:prstGeom prst="roundRect">
            <a:avLst>
              <a:gd name="adj" fmla="val 43537"/>
            </a:avLst>
          </a:prstGeom>
          <a:solidFill>
            <a:srgbClr val="F1C40F"/>
          </a:solidFill>
          <a:ln/>
        </p:spPr>
      </p:sp>
      <p:sp>
        <p:nvSpPr>
          <p:cNvPr id="8" name="Text 6"/>
          <p:cNvSpPr/>
          <p:nvPr/>
        </p:nvSpPr>
        <p:spPr>
          <a:xfrm>
            <a:off x="747713" y="4765179"/>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development efficiency</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improvements</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9"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56</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4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57: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3040707"/>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1514475"/>
                <a:gridCol w="1400175"/>
                <a:gridCol w="1257300"/>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Current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Target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Test automation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Partial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Full coverage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CI integration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Manual trigger</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Automated</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Deploy</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Weekly manual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Daily auto</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6"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57</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7833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58: Solid background strong highlight</a:t>
            </a:r>
            <a:endParaRPr lang="en-US" sz="3480" dirty="0"/>
          </a:p>
        </p:txBody>
      </p:sp>
      <p:sp>
        <p:nvSpPr>
          <p:cNvPr id="3" name="Text 1"/>
          <p:cNvSpPr/>
          <p:nvPr/>
        </p:nvSpPr>
        <p:spPr>
          <a:xfrm>
            <a:off x="747713" y="2591842"/>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Shape 2"/>
          <p:cNvSpPr/>
          <p:nvPr/>
        </p:nvSpPr>
        <p:spPr>
          <a:xfrm>
            <a:off x="3361879" y="3300710"/>
            <a:ext cx="2601069" cy="400050"/>
          </a:xfrm>
          <a:prstGeom prst="roundRect">
            <a:avLst>
              <a:gd name="adj" fmla="val 43537"/>
            </a:avLst>
          </a:prstGeom>
          <a:solidFill>
            <a:srgbClr val="F1C40F"/>
          </a:solidFill>
          <a:ln/>
        </p:spPr>
      </p:sp>
      <p:sp>
        <p:nvSpPr>
          <p:cNvPr id="5" name="Shape 3"/>
          <p:cNvSpPr/>
          <p:nvPr/>
        </p:nvSpPr>
        <p:spPr>
          <a:xfrm>
            <a:off x="6573887" y="3300710"/>
            <a:ext cx="2407295" cy="400050"/>
          </a:xfrm>
          <a:prstGeom prst="roundRect">
            <a:avLst>
              <a:gd name="adj" fmla="val 43537"/>
            </a:avLst>
          </a:prstGeom>
          <a:solidFill>
            <a:srgbClr val="F1C40F"/>
          </a:solidFill>
          <a:ln/>
        </p:spPr>
      </p:sp>
      <p:sp>
        <p:nvSpPr>
          <p:cNvPr id="6" name="Text 4"/>
          <p:cNvSpPr/>
          <p:nvPr/>
        </p:nvSpPr>
        <p:spPr>
          <a:xfrm>
            <a:off x="747713" y="33007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important keywords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percentages (42%)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7" name="Shape 5"/>
          <p:cNvSpPr/>
          <p:nvPr/>
        </p:nvSpPr>
        <p:spPr>
          <a:xfrm>
            <a:off x="1300163" y="4281785"/>
            <a:ext cx="1127373" cy="400050"/>
          </a:xfrm>
          <a:prstGeom prst="roundRect">
            <a:avLst>
              <a:gd name="adj" fmla="val 43537"/>
            </a:avLst>
          </a:prstGeom>
          <a:solidFill>
            <a:srgbClr val="F1C40F"/>
          </a:solidFill>
          <a:ln/>
        </p:spPr>
      </p:sp>
      <p:sp>
        <p:nvSpPr>
          <p:cNvPr id="8" name="Shape 6"/>
          <p:cNvSpPr/>
          <p:nvPr/>
        </p:nvSpPr>
        <p:spPr>
          <a:xfrm>
            <a:off x="1704529" y="4765179"/>
            <a:ext cx="1991320" cy="400050"/>
          </a:xfrm>
          <a:prstGeom prst="roundRect">
            <a:avLst>
              <a:gd name="adj" fmla="val 43537"/>
            </a:avLst>
          </a:prstGeom>
          <a:solidFill>
            <a:srgbClr val="F1C40F"/>
          </a:solidFill>
          <a:ln/>
        </p:spPr>
      </p:sp>
      <p:sp>
        <p:nvSpPr>
          <p:cNvPr id="9" name="Text 7"/>
          <p:cNvSpPr/>
          <p:nvPr/>
        </p:nvSpPr>
        <p:spPr>
          <a:xfrm>
            <a:off x="747713" y="4281785"/>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test-first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approach for quality assurance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Fix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High / Medium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findings during review before completion</a:t>
            </a:r>
            <a:endParaRPr lang="en-US" sz="2175" dirty="0"/>
          </a:p>
        </p:txBody>
      </p:sp>
      <p:sp>
        <p:nvSpPr>
          <p:cNvPr id="10" name="Text 8"/>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58</a:t>
            </a:r>
            <a:endParaRPr lang="en-US" sz="1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7200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59: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85964"/>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94832"/>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6" name="Text 4"/>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59</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8529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60: global section::before + user class (no banner test)</a:t>
            </a:r>
            <a:endParaRPr lang="en-US" sz="3480" dirty="0"/>
          </a:p>
        </p:txBody>
      </p:sp>
      <p:sp>
        <p:nvSpPr>
          <p:cNvPr id="5" name="Text 3"/>
          <p:cNvSpPr/>
          <p:nvPr/>
        </p:nvSpPr>
        <p:spPr>
          <a:xfrm>
            <a:off x="747713" y="2242691"/>
            <a:ext cx="11001375"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228380"/>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62379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8" name="Text 6"/>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60</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78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61: Grid + flex agenda (direct text node bug regression)</a:t>
            </a:r>
            <a:endParaRPr lang="en-US" sz="3480" dirty="0"/>
          </a:p>
        </p:txBody>
      </p:sp>
      <p:sp>
        <p:nvSpPr>
          <p:cNvPr id="3" name="Shape 1"/>
          <p:cNvSpPr/>
          <p:nvPr/>
        </p:nvSpPr>
        <p:spPr>
          <a:xfrm>
            <a:off x="747713" y="3423791"/>
            <a:ext cx="304800" cy="304800"/>
          </a:xfrm>
          <a:prstGeom prst="roundRect">
            <a:avLst>
              <a:gd name="adj" fmla="val 150000"/>
            </a:avLst>
          </a:prstGeom>
          <a:solidFill>
            <a:srgbClr val="0F6CBD"/>
          </a:solidFill>
          <a:ln/>
        </p:spPr>
      </p:sp>
      <p:sp>
        <p:nvSpPr>
          <p:cNvPr id="4" name="Text 2"/>
          <p:cNvSpPr/>
          <p:nvPr/>
        </p:nvSpPr>
        <p:spPr>
          <a:xfrm>
            <a:off x="747713"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5" name="Text 3"/>
          <p:cNvSpPr/>
          <p:nvPr/>
        </p:nvSpPr>
        <p:spPr>
          <a:xfrm>
            <a:off x="1185863" y="342379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Background and Purpose</a:t>
            </a:r>
            <a:endParaRPr lang="en-US" sz="1650" dirty="0"/>
          </a:p>
        </p:txBody>
      </p:sp>
      <p:sp>
        <p:nvSpPr>
          <p:cNvPr id="6" name="Shape 4"/>
          <p:cNvSpPr/>
          <p:nvPr/>
        </p:nvSpPr>
        <p:spPr>
          <a:xfrm>
            <a:off x="6229350" y="3423791"/>
            <a:ext cx="304800" cy="304800"/>
          </a:xfrm>
          <a:prstGeom prst="roundRect">
            <a:avLst>
              <a:gd name="adj" fmla="val 150000"/>
            </a:avLst>
          </a:prstGeom>
          <a:solidFill>
            <a:srgbClr val="0F6CBD"/>
          </a:solidFill>
          <a:ln/>
        </p:spPr>
      </p:sp>
      <p:sp>
        <p:nvSpPr>
          <p:cNvPr id="7" name="Text 5"/>
          <p:cNvSpPr/>
          <p:nvPr/>
        </p:nvSpPr>
        <p:spPr>
          <a:xfrm>
            <a:off x="6229350"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8" name="Text 6"/>
          <p:cNvSpPr/>
          <p:nvPr/>
        </p:nvSpPr>
        <p:spPr>
          <a:xfrm>
            <a:off x="6667500" y="342379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Current Issues</a:t>
            </a:r>
            <a:endParaRPr lang="en-US" sz="1650" dirty="0"/>
          </a:p>
        </p:txBody>
      </p:sp>
      <p:sp>
        <p:nvSpPr>
          <p:cNvPr id="9" name="Shape 7"/>
          <p:cNvSpPr/>
          <p:nvPr/>
        </p:nvSpPr>
        <p:spPr>
          <a:xfrm>
            <a:off x="747713" y="4004816"/>
            <a:ext cx="304800" cy="304800"/>
          </a:xfrm>
          <a:prstGeom prst="roundRect">
            <a:avLst>
              <a:gd name="adj" fmla="val 150000"/>
            </a:avLst>
          </a:prstGeom>
          <a:solidFill>
            <a:srgbClr val="0F6CBD"/>
          </a:solidFill>
          <a:ln/>
        </p:spPr>
      </p:sp>
      <p:sp>
        <p:nvSpPr>
          <p:cNvPr id="10" name="Text 8"/>
          <p:cNvSpPr/>
          <p:nvPr/>
        </p:nvSpPr>
        <p:spPr>
          <a:xfrm>
            <a:off x="747713"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11" name="Text 9"/>
          <p:cNvSpPr/>
          <p:nvPr/>
        </p:nvSpPr>
        <p:spPr>
          <a:xfrm>
            <a:off x="1185863" y="4004816"/>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Migration Strategy</a:t>
            </a:r>
            <a:endParaRPr lang="en-US" sz="1650" dirty="0"/>
          </a:p>
        </p:txBody>
      </p:sp>
      <p:sp>
        <p:nvSpPr>
          <p:cNvPr id="12" name="Shape 10"/>
          <p:cNvSpPr/>
          <p:nvPr/>
        </p:nvSpPr>
        <p:spPr>
          <a:xfrm>
            <a:off x="6229350" y="4004816"/>
            <a:ext cx="304800" cy="304800"/>
          </a:xfrm>
          <a:prstGeom prst="roundRect">
            <a:avLst>
              <a:gd name="adj" fmla="val 150000"/>
            </a:avLst>
          </a:prstGeom>
          <a:solidFill>
            <a:srgbClr val="0F6CBD"/>
          </a:solidFill>
          <a:ln/>
        </p:spPr>
      </p:sp>
      <p:sp>
        <p:nvSpPr>
          <p:cNvPr id="13" name="Text 11"/>
          <p:cNvSpPr/>
          <p:nvPr/>
        </p:nvSpPr>
        <p:spPr>
          <a:xfrm>
            <a:off x="6229350"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4" name="Text 12"/>
          <p:cNvSpPr/>
          <p:nvPr/>
        </p:nvSpPr>
        <p:spPr>
          <a:xfrm>
            <a:off x="6667500" y="4004816"/>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Technical Approach</a:t>
            </a:r>
            <a:endParaRPr lang="en-US" sz="1650" dirty="0"/>
          </a:p>
        </p:txBody>
      </p:sp>
      <p:sp>
        <p:nvSpPr>
          <p:cNvPr id="15" name="Shape 13"/>
          <p:cNvSpPr/>
          <p:nvPr/>
        </p:nvSpPr>
        <p:spPr>
          <a:xfrm>
            <a:off x="747713" y="4585841"/>
            <a:ext cx="304800" cy="304800"/>
          </a:xfrm>
          <a:prstGeom prst="roundRect">
            <a:avLst>
              <a:gd name="adj" fmla="val 150000"/>
            </a:avLst>
          </a:prstGeom>
          <a:solidFill>
            <a:srgbClr val="0F6CBD"/>
          </a:solidFill>
          <a:ln/>
        </p:spPr>
      </p:sp>
      <p:sp>
        <p:nvSpPr>
          <p:cNvPr id="16" name="Text 14"/>
          <p:cNvSpPr/>
          <p:nvPr/>
        </p:nvSpPr>
        <p:spPr>
          <a:xfrm>
            <a:off x="747713"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7" name="Text 15"/>
          <p:cNvSpPr/>
          <p:nvPr/>
        </p:nvSpPr>
        <p:spPr>
          <a:xfrm>
            <a:off x="1185863" y="458584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Implementation Plan</a:t>
            </a:r>
            <a:endParaRPr lang="en-US" sz="1650" dirty="0"/>
          </a:p>
        </p:txBody>
      </p:sp>
      <p:sp>
        <p:nvSpPr>
          <p:cNvPr id="18" name="Shape 16"/>
          <p:cNvSpPr/>
          <p:nvPr/>
        </p:nvSpPr>
        <p:spPr>
          <a:xfrm>
            <a:off x="6229350" y="4585841"/>
            <a:ext cx="304800" cy="304800"/>
          </a:xfrm>
          <a:prstGeom prst="roundRect">
            <a:avLst>
              <a:gd name="adj" fmla="val 150000"/>
            </a:avLst>
          </a:prstGeom>
          <a:solidFill>
            <a:srgbClr val="0F6CBD"/>
          </a:solidFill>
          <a:ln/>
        </p:spPr>
      </p:sp>
      <p:sp>
        <p:nvSpPr>
          <p:cNvPr id="19" name="Text 17"/>
          <p:cNvSpPr/>
          <p:nvPr/>
        </p:nvSpPr>
        <p:spPr>
          <a:xfrm>
            <a:off x="6229350"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20" name="Text 18"/>
          <p:cNvSpPr/>
          <p:nvPr/>
        </p:nvSpPr>
        <p:spPr>
          <a:xfrm>
            <a:off x="6667500" y="458584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Expected Outcomes</a:t>
            </a:r>
            <a:endParaRPr lang="en-US" sz="1650" dirty="0"/>
          </a:p>
        </p:txBody>
      </p:sp>
      <p:sp>
        <p:nvSpPr>
          <p:cNvPr id="21" name="Text 19"/>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61</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92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62: Trailing-space hard line break inside list item</a:t>
            </a:r>
            <a:endParaRPr lang="en-US" sz="3480" dirty="0"/>
          </a:p>
        </p:txBody>
      </p:sp>
      <p:sp>
        <p:nvSpPr>
          <p:cNvPr id="3" name="Text 1"/>
          <p:cNvSpPr/>
          <p:nvPr/>
        </p:nvSpPr>
        <p:spPr>
          <a:xfrm>
            <a:off x="747713" y="3018979"/>
            <a:ext cx="10696575" cy="220980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4" name="Text 2"/>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62</a:t>
            </a:r>
            <a:endParaRPr lang="en-US" sz="1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589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63: Image between list items (no blank lines)</a:t>
            </a:r>
            <a:endParaRPr lang="en-US" sz="3480" dirty="0"/>
          </a:p>
        </p:txBody>
      </p:sp>
      <p:sp>
        <p:nvSpPr>
          <p:cNvPr id="3" name="Text 1"/>
          <p:cNvSpPr/>
          <p:nvPr/>
        </p:nvSpPr>
        <p:spPr>
          <a:xfrm>
            <a:off x="747713" y="2396282"/>
            <a:ext cx="10696575" cy="241935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2810619"/>
            <a:ext cx="1905000" cy="1905000"/>
          </a:xfrm>
          <a:prstGeom prst="rect">
            <a:avLst/>
          </a:prstGeom>
        </p:spPr>
      </p:pic>
      <p:sp>
        <p:nvSpPr>
          <p:cNvPr id="5" name="Text 2"/>
          <p:cNvSpPr/>
          <p:nvPr/>
        </p:nvSpPr>
        <p:spPr>
          <a:xfrm>
            <a:off x="747713" y="4884688"/>
            <a:ext cx="10696575" cy="414338"/>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6"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63</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2026-04-11T08:08:22Z</dcterms:created>
  <dcterms:modified xsi:type="dcterms:W3CDTF">2026-04-11T08:08:22Z</dcterms:modified>
</cp:coreProperties>
</file>