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PPTX Export Comprehensive Test Slides
  ===========================================
  This file is a test MD that covers all known edge cases and expected issues.
  Generation steps:
    marp --html src/native-pptx/test-fixtures/pptx-export.md -o out/test-pptx-export.html
    node scripts/gen-pptx.js out/test-pptx-export.html out/test-pptx-export.pptx
    node scripts/compare-visuals.js out/test-pptx-export.html out/test-pptx-export.pptx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mixed Japanese/English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special characters and fullwidth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text intentionally kept for CJK rendering test: long paragraph wrapping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Slides 40+: Additional test cases (generalized patterns from production materials)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ADR-15: each agenda item is display:flex and contains
     an inline-flex badge plus a direct child TEXT_NODE. The PPTX export must
     render the description text to the right of the badge with no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&lt;br&gt; handling in extractListItemEl:
     Two trailing spaces before newline produce &lt;br&gt; inside &lt;li&gt;.
     The PPTX must render two visible lines within the same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for image-in-list split logic in walkElements:
     When a Markdown image appears between list items with no blank lines,
     markdown-it parses it as a lazy continuation of the first &lt;li&gt;.
     The PPTX must show items in order: First item → image → Second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marp-team/marp-vscode"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example.com/"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sv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41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PPTX Export</a:t>
            </a:r>
            <a:pPr algn="l" indent="0" marL="0">
              <a:lnSpc>
                <a:spcPct val="125000"/>
              </a:lnSpc>
              <a:buNone/>
            </a:pPr>
            <a:endParaRPr lang="en-US" sz="3480" dirty="0"/>
          </a:p>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Comprehensive Test Slides</a:t>
            </a:r>
            <a:endParaRPr lang="en-US" sz="3480" dirty="0"/>
          </a:p>
        </p:txBody>
      </p:sp>
      <p:sp>
        <p:nvSpPr>
          <p:cNvPr id="3" name="Text 1"/>
          <p:cNvSpPr/>
          <p:nvPr/>
        </p:nvSpPr>
        <p:spPr>
          <a:xfrm>
            <a:off x="747713" y="3883670"/>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All Known Bugs &amp; Edge Cases — Full Coverage</a:t>
            </a:r>
            <a:endParaRPr lang="en-US" sz="2828" dirty="0"/>
          </a:p>
        </p:txBody>
      </p:sp>
      <p:sp>
        <p:nvSpPr>
          <p:cNvPr id="4" name="Text 2"/>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20254"/>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 Basic headings and paragraphs</a:t>
            </a:r>
            <a:endParaRPr lang="en-US" sz="3480" dirty="0"/>
          </a:p>
        </p:txBody>
      </p:sp>
      <p:sp>
        <p:nvSpPr>
          <p:cNvPr id="3" name="Text 1"/>
          <p:cNvSpPr/>
          <p:nvPr/>
        </p:nvSpPr>
        <p:spPr>
          <a:xfrm>
            <a:off x="747713" y="2233761"/>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H2 Heading</a:t>
            </a:r>
            <a:endParaRPr lang="en-US" sz="2828" dirty="0"/>
          </a:p>
        </p:txBody>
      </p:sp>
      <p:sp>
        <p:nvSpPr>
          <p:cNvPr id="4" name="Text 2"/>
          <p:cNvSpPr/>
          <p:nvPr/>
        </p:nvSpPr>
        <p:spPr>
          <a:xfrm>
            <a:off x="747713" y="3018830"/>
            <a:ext cx="112918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H3 Heading (blue)</a:t>
            </a:r>
            <a:endParaRPr lang="en-US" sz="2392" dirty="0"/>
          </a:p>
        </p:txBody>
      </p:sp>
      <p:sp>
        <p:nvSpPr>
          <p:cNvPr id="5" name="Text 3"/>
          <p:cNvSpPr/>
          <p:nvPr/>
        </p:nvSpPr>
        <p:spPr>
          <a:xfrm>
            <a:off x="747713" y="3627239"/>
            <a:ext cx="11291888" cy="362545"/>
          </a:xfrm>
          <a:prstGeom prst="rect">
            <a:avLst/>
          </a:prstGeom>
          <a:noFill/>
          <a:ln/>
        </p:spPr>
        <p:txBody>
          <a:bodyPr wrap="square" lIns="0" tIns="0" rIns="0" bIns="0" rtlCol="0" anchor="t"/>
          <a:lstStyle/>
          <a:p>
            <a:pPr algn="l" indent="0" marL="0">
              <a:lnSpc>
                <a:spcPct val="125000"/>
              </a:lnSpc>
              <a:buNone/>
            </a:pPr>
            <a:r>
              <a:rPr lang="en-US" sz="2284" b="1" dirty="0">
                <a:solidFill>
                  <a:srgbClr val="1F2328"/>
                </a:solidFill>
                <a:latin typeface="Segoe UI" pitchFamily="34" charset="0"/>
                <a:ea typeface="Segoe UI" pitchFamily="34" charset="-122"/>
                <a:cs typeface="Segoe UI" pitchFamily="34" charset="-120"/>
              </a:rPr>
              <a:t>H4 Heading</a:t>
            </a:r>
            <a:endParaRPr lang="en-US" sz="2284" dirty="0"/>
          </a:p>
        </p:txBody>
      </p:sp>
      <p:sp>
        <p:nvSpPr>
          <p:cNvPr id="6" name="Text 4"/>
          <p:cNvSpPr/>
          <p:nvPr/>
        </p:nvSpPr>
        <p:spPr>
          <a:xfrm>
            <a:off x="747713" y="4142184"/>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is a normal paragraph text. Verify that writing a long line without breaks does not cause errors.</a:t>
            </a:r>
            <a:endParaRPr lang="en-US" sz="2175" dirty="0"/>
          </a:p>
        </p:txBody>
      </p:sp>
      <p:sp>
        <p:nvSpPr>
          <p:cNvPr id="7" name="Text 5"/>
          <p:cNvSpPr/>
          <p:nvPr/>
        </p:nvSpPr>
        <p:spPr>
          <a:xfrm>
            <a:off x="747713" y="5123259"/>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Noto Sans" pitchFamily="34" charset="0"/>
                <a:ea typeface="Noto Sans" pitchFamily="34" charset="-122"/>
                <a:cs typeface="Noto Sans" pitchFamily="34" charset="-120"/>
              </a:rPr>
              <a:t>日本語と English が混在していても問題ないことを確認します。</a:t>
            </a:r>
            <a:endParaRPr lang="en-US" sz="2175" dirty="0"/>
          </a:p>
        </p:txBody>
      </p:sp>
      <p:sp>
        <p:nvSpPr>
          <p:cNvPr id="8" name="Text 6"/>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48458"/>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 Inline decorations</a:t>
            </a:r>
            <a:endParaRPr lang="en-US" sz="3480" dirty="0"/>
          </a:p>
        </p:txBody>
      </p:sp>
      <p:sp>
        <p:nvSpPr>
          <p:cNvPr id="3" name="Text 1"/>
          <p:cNvSpPr/>
          <p:nvPr/>
        </p:nvSpPr>
        <p:spPr>
          <a:xfrm>
            <a:off x="747713" y="2785765"/>
            <a:ext cx="11001375" cy="418951"/>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 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 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inline code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strike="sngStrike" dirty="0">
                <a:solidFill>
                  <a:srgbClr val="1F2328"/>
                </a:solidFill>
                <a:latin typeface="Segoe UI" pitchFamily="34" charset="0"/>
                <a:ea typeface="Segoe UI" pitchFamily="34" charset="-122"/>
                <a:cs typeface="Segoe UI" pitchFamily="34" charset="-120"/>
              </a:rPr>
              <a:t>strikethrough</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test.</a:t>
            </a:r>
            <a:endParaRPr lang="en-US" sz="2175" dirty="0"/>
          </a:p>
        </p:txBody>
      </p:sp>
      <p:sp>
        <p:nvSpPr>
          <p:cNvPr id="4" name="Text 2"/>
          <p:cNvSpPr/>
          <p:nvPr/>
        </p:nvSpPr>
        <p:spPr>
          <a:xfrm>
            <a:off x="747713" y="3357116"/>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followed by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 with </a:t>
            </a:r>
            <a:pPr algn="l" indent="0" marL="0">
              <a:lnSpc>
                <a:spcPct val="150000"/>
              </a:lnSpc>
              <a:buNone/>
            </a:pPr>
            <a:r>
              <a:rPr lang="en-US" sz="2175" b="1" i="1" dirty="0">
                <a:solidFill>
                  <a:srgbClr val="1F2328"/>
                </a:solidFill>
                <a:latin typeface="Segoe UI" pitchFamily="34" charset="0"/>
                <a:ea typeface="Segoe UI" pitchFamily="34" charset="-122"/>
                <a:cs typeface="Segoe UI" pitchFamily="34" charset="-120"/>
              </a:rPr>
              <a:t>nested italic</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inside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is also tested.</a:t>
            </a:r>
            <a:endParaRPr lang="en-US" sz="2175" dirty="0"/>
          </a:p>
        </p:txBody>
      </p:sp>
      <p:sp>
        <p:nvSpPr>
          <p:cNvPr id="5" name="Text 3"/>
          <p:cNvSpPr/>
          <p:nvPr/>
        </p:nvSpPr>
        <p:spPr>
          <a:xfrm>
            <a:off x="747713" y="3923854"/>
            <a:ext cx="11001375" cy="414338"/>
          </a:xfrm>
          <a:prstGeom prst="rect">
            <a:avLst/>
          </a:prstGeom>
          <a:noFill/>
          <a:ln/>
        </p:spPr>
        <p:txBody>
          <a:bodyPr wrap="square" lIns="0" tIns="0" rIns="0" bIns="0" rtlCol="0" anchor="t"/>
          <a:lstStyle/>
          <a:p>
            <a:pPr algn="l" indent="0" marL="0">
              <a:lnSpc>
                <a:spcPct val="150000"/>
              </a:lnSpc>
              <a:buNone/>
            </a:pPr>
            <a:r>
              <a:rPr lang="en-US" sz="2175" u="sng" dirty="0">
                <a:solidFill>
                  <a:srgbClr val="0969D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Hyperlink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placed on the same line as text.</a:t>
            </a:r>
            <a:endParaRPr lang="en-US" sz="2175" dirty="0"/>
          </a:p>
        </p:txBody>
      </p:sp>
      <p:sp>
        <p:nvSpPr>
          <p:cNvPr id="6" name="Text 4"/>
          <p:cNvSpPr/>
          <p:nvPr/>
        </p:nvSpPr>
        <p:spPr>
          <a:xfrm>
            <a:off x="747713" y="4490591"/>
            <a:ext cx="11001375" cy="418951"/>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Multiple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spans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included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 a sentence.</a:t>
            </a:r>
            <a:endParaRPr lang="en-US" sz="2175" dirty="0"/>
          </a:p>
        </p:txBody>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 Emoji test ← Important</a:t>
            </a:r>
            <a:endParaRPr lang="en-US" sz="3480" dirty="0"/>
          </a:p>
        </p:txBody>
      </p:sp>
      <p:sp>
        <p:nvSpPr>
          <p:cNvPr id="3" name="Text 1"/>
          <p:cNvSpPr/>
          <p:nvPr/>
        </p:nvSpPr>
        <p:spPr>
          <a:xfrm>
            <a:off x="747713" y="158502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Emoji at the beginning of text:</a:t>
            </a:r>
            <a:endParaRPr lang="en-US" sz="2175" dirty="0"/>
          </a:p>
        </p:txBody>
      </p:sp>
      <p:sp>
        <p:nvSpPr>
          <p:cNvPr id="4" name="Text 2"/>
          <p:cNvSpPr/>
          <p:nvPr/>
        </p:nvSpPr>
        <p:spPr>
          <a:xfrm>
            <a:off x="747713" y="2151757"/>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Sentence starting with a checkmark</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Sentence starting with a rocket</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Sentence starting with a warning sign</a:t>
            </a:r>
            <a:endParaRPr lang="en-US" sz="2175" dirty="0"/>
          </a:p>
        </p:txBody>
      </p:sp>
      <p:sp>
        <p:nvSpPr>
          <p:cNvPr id="5" name="Text 3"/>
          <p:cNvSpPr/>
          <p:nvPr/>
        </p:nvSpPr>
        <p:spPr>
          <a:xfrm>
            <a:off x="747713" y="354717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Emoji in the middle of text:</a:t>
            </a:r>
            <a:endParaRPr lang="en-US" sz="2175" dirty="0"/>
          </a:p>
        </p:txBody>
      </p:sp>
      <p:sp>
        <p:nvSpPr>
          <p:cNvPr id="6" name="Text 4"/>
          <p:cNvSpPr/>
          <p:nvPr/>
        </p:nvSpPr>
        <p:spPr>
          <a:xfrm>
            <a:off x="747713" y="4113907"/>
            <a:ext cx="11001375" cy="165735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Task completed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Proceeding to the next step</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Deploy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was successful. Please verify</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Warning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This action cannot be undone</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Star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to show your support</a:t>
            </a:r>
            <a:endParaRPr lang="en-US" sz="2175" dirty="0"/>
          </a:p>
        </p:txBody>
      </p:sp>
      <p:sp>
        <p:nvSpPr>
          <p:cNvPr id="7" name="Text 5"/>
          <p:cNvSpPr/>
          <p:nvPr/>
        </p:nvSpPr>
        <p:spPr>
          <a:xfrm>
            <a:off x="747713" y="5923657"/>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Emoji at the end of text:</a:t>
            </a:r>
            <a:endParaRPr lang="en-US" sz="2175" dirty="0"/>
          </a:p>
        </p:txBody>
      </p:sp>
      <p:sp>
        <p:nvSpPr>
          <p:cNvPr id="8" name="Text 6"/>
          <p:cNvSpPr/>
          <p:nvPr/>
        </p:nvSpPr>
        <p:spPr>
          <a:xfrm>
            <a:off x="747713" y="6490395"/>
            <a:ext cx="11001375" cy="36760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Project completed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All tests passed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9" name="Text 7"/>
          <p:cNvSpPr/>
          <p:nvPr/>
        </p:nvSpPr>
        <p:spPr>
          <a:xfrm>
            <a:off x="747713" y="7471470"/>
            <a:ext cx="11001375" cy="9144"/>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Consecutive emoji:</a:t>
            </a:r>
            <a:endParaRPr lang="en-US" sz="2175" dirty="0"/>
          </a:p>
        </p:txBody>
      </p:sp>
      <p:sp>
        <p:nvSpPr>
          <p:cNvPr id="10" name="Text 8"/>
          <p:cNvSpPr/>
          <p:nvPr/>
        </p:nvSpPr>
        <p:spPr>
          <a:xfrm>
            <a:off x="747713" y="8038207"/>
            <a:ext cx="11001375" cy="914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Five consecutive emoji in a row</a:t>
            </a:r>
            <a:endParaRPr lang="en-US" sz="2175" dirty="0"/>
          </a:p>
        </p:txBody>
      </p:sp>
      <p:sp>
        <p:nvSpPr>
          <p:cNvPr id="11" name="Text 9"/>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2798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 Emoji + Bold + Italic compound</a:t>
            </a:r>
            <a:endParaRPr lang="en-US" sz="3480" dirty="0"/>
          </a:p>
        </p:txBody>
      </p:sp>
      <p:sp>
        <p:nvSpPr>
          <p:cNvPr id="3" name="Text 1"/>
          <p:cNvSpPr/>
          <p:nvPr/>
        </p:nvSpPr>
        <p:spPr>
          <a:xfrm>
            <a:off x="747713" y="2065288"/>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Task complete — please verify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Important task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4" name="Text 2"/>
          <p:cNvSpPr/>
          <p:nvPr/>
        </p:nvSpPr>
        <p:spPr>
          <a:xfrm>
            <a:off x="747713" y="2632025"/>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Deploy</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through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 Warning check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 the full flow.</a:t>
            </a:r>
            <a:endParaRPr lang="en-US" sz="2175" dirty="0"/>
          </a:p>
        </p:txBody>
      </p:sp>
      <p:sp>
        <p:nvSpPr>
          <p:cNvPr id="5" name="Text 3"/>
          <p:cNvSpPr/>
          <p:nvPr/>
        </p:nvSpPr>
        <p:spPr>
          <a:xfrm>
            <a:off x="747713" y="3198763"/>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Emoji in lists:</a:t>
            </a:r>
            <a:endParaRPr lang="en-US" sz="2175" dirty="0"/>
          </a:p>
        </p:txBody>
      </p:sp>
      <p:sp>
        <p:nvSpPr>
          <p:cNvPr id="6" name="Text 4"/>
          <p:cNvSpPr/>
          <p:nvPr/>
        </p:nvSpPr>
        <p:spPr>
          <a:xfrm>
            <a:off x="747713" y="3765500"/>
            <a:ext cx="10696575" cy="1864519"/>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Completed task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In-progress task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Pending task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Failed task</a:t>
            </a:r>
            <a:endParaRPr lang="en-US" sz="2175" dirty="0"/>
          </a:p>
        </p:txBody>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483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 Paragraph + Code + Blockquote</a:t>
            </a:r>
            <a:endParaRPr lang="en-US" sz="3480" dirty="0"/>
          </a:p>
        </p:txBody>
      </p:sp>
      <p:sp>
        <p:nvSpPr>
          <p:cNvPr id="3" name="Shape 1"/>
          <p:cNvSpPr/>
          <p:nvPr/>
        </p:nvSpPr>
        <p:spPr>
          <a:xfrm>
            <a:off x="747713" y="2785616"/>
            <a:ext cx="10696575" cy="1143000"/>
          </a:xfrm>
          <a:prstGeom prst="roundRect">
            <a:avLst>
              <a:gd name="adj" fmla="val 8000"/>
            </a:avLst>
          </a:prstGeom>
          <a:solidFill>
            <a:srgbClr val="F6F8FA"/>
          </a:solidFill>
          <a:ln w="9525">
            <a:solidFill>
              <a:srgbClr val="D1D9E0"/>
            </a:solidFill>
            <a:prstDash val="solid"/>
          </a:ln>
        </p:spPr>
      </p:sp>
      <p:sp>
        <p:nvSpPr>
          <p:cNvPr id="4" name="Text 2"/>
          <p:cNvSpPr/>
          <p:nvPr/>
        </p:nvSpPr>
        <p:spPr>
          <a:xfrm>
            <a:off x="747713" y="2785616"/>
            <a:ext cx="11077575" cy="1143000"/>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function</a:t>
            </a:r>
            <a:pPr algn="l" indent="0" marL="0">
              <a:lnSpc>
                <a:spcPct val="115000"/>
              </a:lnSpc>
              <a:buNone/>
            </a:pPr>
            <a:r>
              <a:rPr lang="en-US" sz="1849" dirty="0">
                <a:solidFill>
                  <a:srgbClr val="6639BA"/>
                </a:solidFill>
                <a:latin typeface="Consolas" pitchFamily="34" charset="0"/>
                <a:ea typeface="Consolas" pitchFamily="34" charset="-122"/>
                <a:cs typeface="Consolas" pitchFamily="34" charset="-120"/>
              </a:rPr>
              <a:t>greet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name</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string</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string</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return</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`Hello, </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${name}</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endParaRPr lang="en-US" sz="1849" dirty="0"/>
          </a:p>
        </p:txBody>
      </p:sp>
      <p:sp>
        <p:nvSpPr>
          <p:cNvPr id="5" name="Shape 3"/>
          <p:cNvSpPr/>
          <p:nvPr/>
        </p:nvSpPr>
        <p:spPr>
          <a:xfrm>
            <a:off x="747713" y="4081016"/>
            <a:ext cx="66675" cy="828675"/>
          </a:xfrm>
          <a:prstGeom prst="rect">
            <a:avLst/>
          </a:prstGeom>
          <a:solidFill>
            <a:srgbClr val="D1D9E0"/>
          </a:solidFill>
          <a:ln/>
        </p:spPr>
      </p:sp>
      <p:sp>
        <p:nvSpPr>
          <p:cNvPr id="6" name="Text 4"/>
          <p:cNvSpPr/>
          <p:nvPr/>
        </p:nvSpPr>
        <p:spPr>
          <a:xfrm>
            <a:off x="814388" y="4081016"/>
            <a:ext cx="10629900" cy="828675"/>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This is a blockquote. It also tests</a:t>
            </a:r>
            <a:pPr algn="l" indent="0" marL="0">
              <a:lnSpc>
                <a:spcPct val="150000"/>
              </a:lnSpc>
              <a:buNone/>
            </a:pPr>
            <a:endParaRPr lang="en-US" sz="2175" dirty="0"/>
          </a:p>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the case of a long quote with line breaks.</a:t>
            </a:r>
            <a:endParaRPr lang="en-US" sz="2175" dirty="0"/>
          </a:p>
        </p:txBody>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5779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7: Table</a:t>
            </a:r>
            <a:endParaRPr lang="en-US" sz="348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7713" y="2495104"/>
          <a:ext cx="10355312" cy="914400"/>
        </p:xfrm>
        <a:graphic>
          <a:graphicData uri="http://schemas.openxmlformats.org/drawingml/2006/table">
            <a:tbl>
              <a:tblPr/>
              <a:tblGrid>
                <a:gridCol w="3467100"/>
                <a:gridCol w="3533775"/>
                <a:gridCol w="3352800"/>
              </a:tblGrid>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Column 1 (left-aligned)</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Column 2 (center-aligned)</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b="1" dirty="0">
                          <a:solidFill>
                            <a:srgbClr val="1F2328"/>
                          </a:solidFill>
                          <a:latin typeface="Segoe UI" pitchFamily="34" charset="0"/>
                          <a:ea typeface="Segoe UI" pitchFamily="34" charset="-122"/>
                          <a:cs typeface="Segoe UI" pitchFamily="34" charset="-120"/>
                        </a:rPr>
                        <a:t>Column 3 (right-aligned)</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Cell A1</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Cell A2</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Cell A3</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Bold</a:t>
                      </a:r>
                      <a:pPr algn="l"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849" dirty="0">
                          <a:solidFill>
                            <a:srgbClr val="1F2328"/>
                          </a:solidFill>
                          <a:highlight>
                            <a:srgbClr val="E8EBEE"/>
                          </a:highlight>
                          <a:latin typeface="Consolas" pitchFamily="34" charset="0"/>
                          <a:ea typeface="Consolas" pitchFamily="34" charset="-122"/>
                          <a:cs typeface="Consolas" pitchFamily="34" charset="-120"/>
                        </a:rPr>
                        <a:t>Code</a:t>
                      </a:r>
                      <a:pPr algn="ctr"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i="1" dirty="0">
                          <a:solidFill>
                            <a:srgbClr val="1F2328"/>
                          </a:solidFill>
                          <a:latin typeface="Segoe UI" pitchFamily="34" charset="0"/>
                          <a:ea typeface="Segoe UI" pitchFamily="34" charset="-122"/>
                          <a:cs typeface="Segoe UI" pitchFamily="34" charset="-120"/>
                        </a:rPr>
                        <a:t>Italic</a:t>
                      </a:r>
                      <a:pPr algn="r" indent="0" marL="0">
                        <a:buNone/>
                      </a:pPr>
                      <a:r>
                        <a:rPr lang="en-US" sz="2175" dirty="0">
                          <a:solidFill>
                            <a:srgbClr val="1F2328"/>
                          </a:solidFill>
                          <a:latin typeface="Segoe UI" pitchFamily="34" charset="0"/>
                          <a:ea typeface="Segoe UI" pitchFamily="34" charset="-122"/>
                          <a:cs typeface="Segoe UI" pitchFamily="34" charset="-120"/>
                        </a:rPr>
                        <a:t> cell</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Cell with long text content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Medium</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Short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Last row</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Last row 2</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Last row 3</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bl>
          </a:graphicData>
        </a:graphic>
      </p:graphicFrame>
      <p:sp>
        <p:nvSpPr>
          <p:cNvPr id="4" name="Text 1"/>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8: Bullet lists</a:t>
            </a:r>
            <a:endParaRPr lang="en-US" sz="3480" dirty="0"/>
          </a:p>
        </p:txBody>
      </p:sp>
      <p:sp>
        <p:nvSpPr>
          <p:cNvPr id="3" name="Text 1"/>
          <p:cNvSpPr/>
          <p:nvPr/>
        </p:nvSpPr>
        <p:spPr>
          <a:xfrm>
            <a:off x="747713" y="1585020"/>
            <a:ext cx="10696575" cy="365998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1</a:t>
            </a:r>
            <a:endParaRPr lang="en-US" sz="2175" dirty="0"/>
          </a:p>
          <a:p>
            <a:pPr algn="l" lvl="1" marL="6858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1-1</a:t>
            </a:r>
            <a:endParaRPr lang="en-US" sz="2175" dirty="0"/>
          </a:p>
          <a:p>
            <a:pPr algn="l" lvl="1" marL="6858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1-2</a:t>
            </a:r>
            <a:endParaRPr lang="en-US" sz="2175" dirty="0"/>
          </a:p>
          <a:p>
            <a:pPr algn="l" lvl="2" marL="10287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3 item 1-2-1</a:t>
            </a:r>
            <a:endParaRPr lang="en-US" sz="2175" dirty="0"/>
          </a:p>
          <a:p>
            <a:pPr algn="l" lvl="2" marL="10287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3 item 1-2-2</a:t>
            </a:r>
            <a:endParaRPr lang="en-US" sz="2175" dirty="0"/>
          </a:p>
          <a:p>
            <a:pPr algn="l" lvl="1" marL="6858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Level 2 item 1-3</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2</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Top-level item 3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included)</a:t>
            </a:r>
            <a:endParaRPr lang="en-US" sz="2175" dirty="0"/>
          </a:p>
        </p:txBody>
      </p:sp>
      <p:sp>
        <p:nvSpPr>
          <p:cNvPr id="4" name="Text 2"/>
          <p:cNvSpPr/>
          <p:nvPr/>
        </p:nvSpPr>
        <p:spPr>
          <a:xfrm>
            <a:off x="747713" y="5397401"/>
            <a:ext cx="10696575" cy="1460599"/>
          </a:xfrm>
          <a:prstGeom prst="rect">
            <a:avLst/>
          </a:prstGeom>
          <a:noFill/>
          <a:ln/>
        </p:spPr>
        <p:txBody>
          <a:bodyPr wrap="square" lIns="0" tIns="0" rIns="0" bIns="0" rtlCol="0" anchor="t"/>
          <a:lstStyle/>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1</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2</a:t>
            </a:r>
            <a:endParaRPr lang="en-US" sz="2175" dirty="0"/>
          </a:p>
          <a:p>
            <a:pPr algn="l" lvl="1" marL="6858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nested 2-1</a:t>
            </a:r>
            <a:endParaRPr lang="en-US" sz="2175" dirty="0"/>
          </a:p>
          <a:p>
            <a:pPr algn="l" lvl="1" marL="6858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nested 2-2</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Numbered list item 3</a:t>
            </a:r>
            <a:endParaRPr lang="en-US" sz="2175" dirty="0"/>
          </a:p>
        </p:txBody>
      </p:sp>
      <p:sp>
        <p:nvSpPr>
          <p:cNvPr id="5"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9: Code block (syntax highlighting)</a:t>
            </a:r>
            <a:endParaRPr lang="en-US" sz="3480" dirty="0"/>
          </a:p>
        </p:txBody>
      </p:sp>
      <p:sp>
        <p:nvSpPr>
          <p:cNvPr id="3" name="Shape 1"/>
          <p:cNvSpPr/>
          <p:nvPr/>
        </p:nvSpPr>
        <p:spPr>
          <a:xfrm>
            <a:off x="747713" y="1585020"/>
            <a:ext cx="10696575" cy="2486025"/>
          </a:xfrm>
          <a:prstGeom prst="roundRect">
            <a:avLst>
              <a:gd name="adj" fmla="val 1691"/>
            </a:avLst>
          </a:prstGeom>
          <a:solidFill>
            <a:srgbClr val="F6F8FA"/>
          </a:solidFill>
          <a:ln w="9525">
            <a:solidFill>
              <a:srgbClr val="D1D9E0"/>
            </a:solidFill>
            <a:prstDash val="solid"/>
          </a:ln>
        </p:spPr>
      </p:sp>
      <p:sp>
        <p:nvSpPr>
          <p:cNvPr id="4" name="Text 2"/>
          <p:cNvSpPr/>
          <p:nvPr/>
        </p:nvSpPr>
        <p:spPr>
          <a:xfrm>
            <a:off x="747713" y="1585020"/>
            <a:ext cx="11077575" cy="248602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Python sample</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import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asyncio</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async</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def</a:t>
            </a:r>
            <a:pPr algn="l" indent="0" marL="0">
              <a:lnSpc>
                <a:spcPct val="115000"/>
              </a:lnSpc>
              <a:buNone/>
            </a:pPr>
            <a:r>
              <a:rPr lang="en-US" sz="1849" dirty="0">
                <a:solidFill>
                  <a:srgbClr val="6639BA"/>
                </a:solidFill>
                <a:latin typeface="Consolas" pitchFamily="34" charset="0"/>
                <a:ea typeface="Consolas" pitchFamily="34" charset="-122"/>
                <a:cs typeface="Consolas" pitchFamily="34" charset="-120"/>
              </a:rPr>
              <a:t>fetch_data</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url: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str</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-&gt;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dict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"""Fetch data asynchronously"""</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async</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with</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aiohttp.ClientSession()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session:</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async</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with</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session.get(url)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response:</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return</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await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response.json()</a:t>
            </a:r>
            <a:endParaRPr lang="en-US" sz="1849" dirty="0"/>
          </a:p>
        </p:txBody>
      </p:sp>
      <p:sp>
        <p:nvSpPr>
          <p:cNvPr id="5" name="Shape 3"/>
          <p:cNvSpPr/>
          <p:nvPr/>
        </p:nvSpPr>
        <p:spPr>
          <a:xfrm>
            <a:off x="747713" y="4223445"/>
            <a:ext cx="10696575" cy="1952625"/>
          </a:xfrm>
          <a:prstGeom prst="roundRect">
            <a:avLst>
              <a:gd name="adj" fmla="val 2741"/>
            </a:avLst>
          </a:prstGeom>
          <a:solidFill>
            <a:srgbClr val="F6F8FA"/>
          </a:solidFill>
          <a:ln w="9525">
            <a:solidFill>
              <a:srgbClr val="D1D9E0"/>
            </a:solidFill>
            <a:prstDash val="solid"/>
          </a:ln>
        </p:spPr>
      </p:sp>
      <p:sp>
        <p:nvSpPr>
          <p:cNvPr id="6" name="Text 4"/>
          <p:cNvSpPr/>
          <p:nvPr/>
        </p:nvSpPr>
        <p:spPr>
          <a:xfrm>
            <a:off x="747713" y="4223445"/>
            <a:ext cx="11077575" cy="195262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SELECT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u.name, </a:t>
            </a:r>
            <a:pPr algn="l" indent="0" marL="0">
              <a:lnSpc>
                <a:spcPct val="115000"/>
              </a:lnSpc>
              <a:buNone/>
            </a:pPr>
            <a:r>
              <a:rPr lang="en-US" sz="1849" dirty="0">
                <a:solidFill>
                  <a:srgbClr val="953800"/>
                </a:solidFill>
                <a:latin typeface="Consolas" pitchFamily="34" charset="0"/>
                <a:ea typeface="Consolas" pitchFamily="34" charset="-122"/>
                <a:cs typeface="Consolas" pitchFamily="34" charset="-120"/>
              </a:rPr>
              <a:t>COUNT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(o.id)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AS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order_count</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FROM</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users u</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LEFT</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JOIN</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orders o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ON</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u.id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o.user_id</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WHERE</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u.created_at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&gt;=</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'2024-01-01'</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GROUP</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BY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u.id</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ORDER</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BY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order_count </a:t>
            </a:r>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DESC</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endParaRPr lang="en-US" sz="1849" dirty="0"/>
          </a:p>
        </p:txBody>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10: Image (same directory, no filter)</a:t>
            </a:r>
            <a:endParaRPr lang="en-US" sz="3480" dirty="0"/>
          </a:p>
        </p:txBody>
      </p:sp>
      <p:sp>
        <p:nvSpPr>
          <p:cNvPr id="3" name="Text 1"/>
          <p:cNvSpPr/>
          <p:nvPr/>
        </p:nvSpPr>
        <p:spPr>
          <a:xfrm>
            <a:off x="3605213" y="4028182"/>
            <a:ext cx="8143875" cy="51435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Normal image beside text</a:t>
            </a:r>
            <a:endParaRPr lang="en-US" sz="2175" dirty="0"/>
          </a:p>
        </p:txBody>
      </p:sp>
      <p:pic>
        <p:nvPicPr>
          <p:cNvPr id="4" name="Image 0" descr="preencoded.png">    </p:cNvPr>
          <p:cNvPicPr>
            <a:picLocks noChangeAspect="1"/>
          </p:cNvPicPr>
          <p:nvPr/>
        </p:nvPicPr>
        <p:blipFill>
          <a:blip r:embed="rId1"/>
          <a:stretch>
            <a:fillRect/>
          </a:stretch>
        </p:blipFill>
        <p:spPr>
          <a:xfrm>
            <a:off x="747713" y="1585020"/>
            <a:ext cx="2857500" cy="2857500"/>
          </a:xfrm>
          <a:prstGeom prst="rect">
            <a:avLst/>
          </a:prstGeom>
        </p:spPr>
      </p:pic>
      <p:sp>
        <p:nvSpPr>
          <p:cNvPr id="5" name="Text 2"/>
          <p:cNvSpPr/>
          <p:nvPr/>
        </p:nvSpPr>
        <p:spPr>
          <a:xfrm>
            <a:off x="747713" y="469493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Image placed below:</a:t>
            </a:r>
            <a:endParaRPr lang="en-US" sz="2175" dirty="0"/>
          </a:p>
        </p:txBody>
      </p:sp>
      <p:pic>
        <p:nvPicPr>
          <p:cNvPr id="6" name="Image 1" descr="preencoded.png">    </p:cNvPr>
          <p:cNvPicPr>
            <a:picLocks noChangeAspect="1"/>
          </p:cNvPicPr>
          <p:nvPr/>
        </p:nvPicPr>
        <p:blipFill>
          <a:blip r:embed="rId2"/>
          <a:stretch>
            <a:fillRect/>
          </a:stretch>
        </p:blipFill>
        <p:spPr>
          <a:xfrm>
            <a:off x="747713" y="5261670"/>
            <a:ext cx="3810000" cy="3810000"/>
          </a:xfrm>
          <a:prstGeom prst="rect">
            <a:avLst/>
          </a:prstGeom>
        </p:spPr>
      </p:pic>
      <p:sp>
        <p:nvSpPr>
          <p:cNvPr id="7"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11: Image (CSS filter)</a:t>
            </a:r>
            <a:endParaRPr lang="en-US" sz="3480" dirty="0"/>
          </a:p>
        </p:txBody>
      </p:sp>
      <p:sp>
        <p:nvSpPr>
          <p:cNvPr id="3" name="Text 1"/>
          <p:cNvSpPr/>
          <p:nvPr/>
        </p:nvSpPr>
        <p:spPr>
          <a:xfrm>
            <a:off x="747713" y="158502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the following are processed correctly compared to a normal image:</a:t>
            </a:r>
            <a:endParaRPr lang="en-US" sz="2175" dirty="0"/>
          </a:p>
        </p:txBody>
      </p:sp>
      <p:sp>
        <p:nvSpPr>
          <p:cNvPr id="4" name="Text 2"/>
          <p:cNvSpPr/>
          <p:nvPr/>
        </p:nvSpPr>
        <p:spPr>
          <a:xfrm>
            <a:off x="747713" y="5009257"/>
            <a:ext cx="11001375" cy="51435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filter (left)</a:t>
            </a:r>
            <a:endParaRPr lang="en-US" sz="2175" dirty="0"/>
          </a:p>
        </p:txBody>
      </p:sp>
      <p:pic>
        <p:nvPicPr>
          <p:cNvPr id="5" name="Image 0" descr="preencoded.png">    </p:cNvPr>
          <p:cNvPicPr>
            <a:picLocks noChangeAspect="1"/>
          </p:cNvPicPr>
          <p:nvPr/>
        </p:nvPicPr>
        <p:blipFill>
          <a:blip r:embed="rId1"/>
          <a:stretch>
            <a:fillRect/>
          </a:stretch>
        </p:blipFill>
        <p:spPr>
          <a:xfrm>
            <a:off x="747713" y="2151757"/>
            <a:ext cx="2857500" cy="2857500"/>
          </a:xfrm>
          <a:prstGeom prst="rect">
            <a:avLst/>
          </a:prstGeom>
        </p:spPr>
      </p:pic>
      <p:sp>
        <p:nvSpPr>
          <p:cNvPr id="6" name="Text 3"/>
          <p:cNvSpPr/>
          <p:nvPr/>
        </p:nvSpPr>
        <p:spPr>
          <a:xfrm>
            <a:off x="747713" y="8533507"/>
            <a:ext cx="11001375" cy="914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Grayscale (right)</a:t>
            </a:r>
            <a:endParaRPr lang="en-US" sz="2175" dirty="0"/>
          </a:p>
        </p:txBody>
      </p:sp>
      <p:pic>
        <p:nvPicPr>
          <p:cNvPr id="7" name="Image 1" descr="preencoded.png">    </p:cNvPr>
          <p:cNvPicPr>
            <a:picLocks noChangeAspect="1"/>
          </p:cNvPicPr>
          <p:nvPr/>
        </p:nvPicPr>
        <p:blipFill>
          <a:blip r:embed="rId2"/>
          <a:stretch>
            <a:fillRect/>
          </a:stretch>
        </p:blipFill>
        <p:spPr>
          <a:xfrm>
            <a:off x="747713" y="5676007"/>
            <a:ext cx="2857500" cy="2857500"/>
          </a:xfrm>
          <a:prstGeom prst="rect">
            <a:avLst/>
          </a:prstGeom>
        </p:spPr>
      </p:pic>
      <p:sp>
        <p:nvSpPr>
          <p:cNvPr id="8" name="Text 4"/>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5198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12: Background image (full slide)</a:t>
            </a:r>
            <a:endParaRPr lang="en-US" sz="3480" dirty="0"/>
          </a:p>
        </p:txBody>
      </p:sp>
      <p:sp>
        <p:nvSpPr>
          <p:cNvPr id="3" name="Text 1"/>
          <p:cNvSpPr/>
          <p:nvPr/>
        </p:nvSpPr>
        <p:spPr>
          <a:xfrm>
            <a:off x="747713" y="335711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background image has no filter. Verify that text is not duplicated.</a:t>
            </a:r>
            <a:endParaRPr lang="en-US" sz="2175" dirty="0"/>
          </a:p>
        </p:txBody>
      </p:sp>
      <p:sp>
        <p:nvSpPr>
          <p:cNvPr id="4" name="Text 2"/>
          <p:cNvSpPr/>
          <p:nvPr/>
        </p:nvSpPr>
        <p:spPr>
          <a:xfrm>
            <a:off x="747713" y="3923854"/>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Body text. Verify it is correctly placed on top of the background.</a:t>
            </a:r>
            <a:endParaRPr lang="en-US" sz="2175" dirty="0"/>
          </a:p>
        </p:txBody>
      </p:sp>
      <p:sp>
        <p:nvSpPr>
          <p:cNvPr id="5"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88840"/>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13: Background image + Grayscale filter</a:t>
            </a:r>
            <a:endParaRPr lang="en-US" sz="3480" dirty="0"/>
          </a:p>
        </p:txBody>
      </p:sp>
      <p:sp>
        <p:nvSpPr>
          <p:cNvPr id="3" name="Text 1"/>
          <p:cNvSpPr/>
          <p:nvPr/>
        </p:nvSpPr>
        <p:spPr>
          <a:xfrm>
            <a:off x="747713" y="3226147"/>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This background should have a grayscale filter applied.</a:t>
            </a:r>
            <a:pPr algn="l" indent="0" marL="0">
              <a:lnSpc>
                <a:spcPct val="150000"/>
              </a:lnSpc>
              <a:buNone/>
            </a:pPr>
            <a:endParaRPr lang="en-US" sz="2175" dirty="0"/>
          </a:p>
          <a:p>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Important</a:t>
            </a:r>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 Verify that text is NOT displayed twice.</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The background should be gray, and this text should appear only once.</a:t>
            </a:r>
            <a:endParaRPr lang="en-US" sz="2175" dirty="0"/>
          </a:p>
        </p:txBody>
      </p:sp>
      <p:sp>
        <p:nvSpPr>
          <p:cNvPr id="4" name="Text 2"/>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0305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14: Inline-only div (important edge case)</a:t>
            </a:r>
            <a:endParaRPr lang="en-US" sz="3480" dirty="0"/>
          </a:p>
        </p:txBody>
      </p:sp>
      <p:sp>
        <p:nvSpPr>
          <p:cNvPr id="3" name="Shape 1"/>
          <p:cNvSpPr/>
          <p:nvPr/>
        </p:nvSpPr>
        <p:spPr>
          <a:xfrm>
            <a:off x="747713" y="2640360"/>
            <a:ext cx="10696575" cy="1585913"/>
          </a:xfrm>
          <a:prstGeom prst="roundRect">
            <a:avLst>
              <a:gd name="adj" fmla="val 5541"/>
            </a:avLst>
          </a:prstGeom>
          <a:solidFill>
            <a:srgbClr val="F0F4FF"/>
          </a:solidFill>
          <a:ln w="19050">
            <a:solidFill>
              <a:srgbClr val="333366"/>
            </a:solidFill>
            <a:prstDash val="solid"/>
          </a:ln>
        </p:spPr>
      </p:sp>
      <p:sp>
        <p:nvSpPr>
          <p:cNvPr id="4" name="Text 2"/>
          <p:cNvSpPr/>
          <p:nvPr/>
        </p:nvSpPr>
        <p:spPr>
          <a:xfrm>
            <a:off x="747713" y="2640360"/>
            <a:ext cx="11077575" cy="1585913"/>
          </a:xfrm>
          <a:prstGeom prst="rect">
            <a:avLst/>
          </a:prstGeom>
          <a:noFill/>
          <a:ln/>
        </p:spPr>
        <p:txBody>
          <a:bodyPr wrap="square" lIns="152400" tIns="152400" rIns="152400" bIns="15240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package provides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7 specialized AI agents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ready to use right away.</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They support the full workflow from planning, documentation, design, estimation, test design, implementation, to review.</a:t>
            </a:r>
            <a:endParaRPr lang="en-US" sz="2175" dirty="0"/>
          </a:p>
        </p:txBody>
      </p:sp>
      <p:sp>
        <p:nvSpPr>
          <p:cNvPr id="5" name="Text 3"/>
          <p:cNvSpPr/>
          <p:nvPr/>
        </p:nvSpPr>
        <p:spPr>
          <a:xfrm>
            <a:off x="747713" y="4226272"/>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The div above is an "inline-only container". Text should be displayed correctly inside the frame.</a:t>
            </a:r>
            <a:endParaRPr lang="en-US" sz="2175" dirty="0"/>
          </a:p>
        </p:txBody>
      </p:sp>
      <p:sp>
        <p:nvSpPr>
          <p:cNvPr id="6" name="Text 4"/>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4295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15: Card component (border + background)</a:t>
            </a:r>
            <a:endParaRPr lang="en-US" sz="3480" dirty="0"/>
          </a:p>
        </p:txBody>
      </p:sp>
      <p:sp>
        <p:nvSpPr>
          <p:cNvPr id="3" name="Shape 1"/>
          <p:cNvSpPr/>
          <p:nvPr/>
        </p:nvSpPr>
        <p:spPr>
          <a:xfrm>
            <a:off x="747713" y="2780258"/>
            <a:ext cx="5272088" cy="2134791"/>
          </a:xfrm>
          <a:prstGeom prst="roundRect">
            <a:avLst>
              <a:gd name="adj" fmla="val 4587"/>
            </a:avLst>
          </a:prstGeom>
          <a:solidFill>
            <a:srgbClr val="F8F9FF"/>
          </a:solidFill>
          <a:ln w="9525">
            <a:solidFill>
              <a:srgbClr val="CCCCCC"/>
            </a:solidFill>
            <a:prstDash val="solid"/>
          </a:ln>
        </p:spPr>
      </p:sp>
      <p:sp>
        <p:nvSpPr>
          <p:cNvPr id="4" name="Text 2"/>
          <p:cNvSpPr/>
          <p:nvPr/>
        </p:nvSpPr>
        <p:spPr>
          <a:xfrm>
            <a:off x="909638" y="3170783"/>
            <a:ext cx="49482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Card A</a:t>
            </a:r>
            <a:endParaRPr lang="en-US" sz="2392" dirty="0"/>
          </a:p>
        </p:txBody>
      </p:sp>
      <p:sp>
        <p:nvSpPr>
          <p:cNvPr id="5" name="Text 3"/>
          <p:cNvSpPr/>
          <p:nvPr/>
        </p:nvSpPr>
        <p:spPr>
          <a:xfrm>
            <a:off x="909638" y="3702993"/>
            <a:ext cx="4948238" cy="833289"/>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 mix of text,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Emoji are also included.</a:t>
            </a:r>
            <a:endParaRPr lang="en-US" sz="2175" dirty="0"/>
          </a:p>
        </p:txBody>
      </p:sp>
      <p:sp>
        <p:nvSpPr>
          <p:cNvPr id="6" name="Shape 4"/>
          <p:cNvSpPr/>
          <p:nvPr/>
        </p:nvSpPr>
        <p:spPr>
          <a:xfrm>
            <a:off x="6172200" y="2780258"/>
            <a:ext cx="5272088" cy="2134791"/>
          </a:xfrm>
          <a:prstGeom prst="roundRect">
            <a:avLst>
              <a:gd name="adj" fmla="val 4587"/>
            </a:avLst>
          </a:prstGeom>
          <a:solidFill>
            <a:srgbClr val="FFF8F0"/>
          </a:solidFill>
          <a:ln w="9525">
            <a:solidFill>
              <a:srgbClr val="CCCCCC"/>
            </a:solidFill>
            <a:prstDash val="solid"/>
          </a:ln>
        </p:spPr>
      </p:sp>
      <p:sp>
        <p:nvSpPr>
          <p:cNvPr id="7" name="Text 5"/>
          <p:cNvSpPr/>
          <p:nvPr/>
        </p:nvSpPr>
        <p:spPr>
          <a:xfrm>
            <a:off x="6334125" y="3170783"/>
            <a:ext cx="49482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Card B</a:t>
            </a:r>
            <a:endParaRPr lang="en-US" sz="2392" dirty="0"/>
          </a:p>
        </p:txBody>
      </p:sp>
      <p:sp>
        <p:nvSpPr>
          <p:cNvPr id="8" name="Text 6"/>
          <p:cNvSpPr/>
          <p:nvPr/>
        </p:nvSpPr>
        <p:spPr>
          <a:xfrm>
            <a:off x="6334125" y="3702993"/>
            <a:ext cx="4948238"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List item 1</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List item 2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9" name="Text 7"/>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11023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16: Card component (border only, no background)</a:t>
            </a:r>
            <a:endParaRPr lang="en-US" sz="3480" dirty="0"/>
          </a:p>
        </p:txBody>
      </p:sp>
      <p:sp>
        <p:nvSpPr>
          <p:cNvPr id="3" name="Shape 1"/>
          <p:cNvSpPr/>
          <p:nvPr/>
        </p:nvSpPr>
        <p:spPr>
          <a:xfrm>
            <a:off x="747713" y="3499991"/>
            <a:ext cx="3489275" cy="1247775"/>
          </a:xfrm>
          <a:prstGeom prst="roundRect">
            <a:avLst>
              <a:gd name="adj" fmla="val 8951"/>
            </a:avLst>
          </a:prstGeom>
          <a:ln w="19050">
            <a:solidFill>
              <a:srgbClr val="0066CC"/>
            </a:solidFill>
            <a:prstDash val="solid"/>
          </a:ln>
        </p:spPr>
      </p:sp>
      <p:sp>
        <p:nvSpPr>
          <p:cNvPr id="4" name="Text 2"/>
          <p:cNvSpPr/>
          <p:nvPr/>
        </p:nvSpPr>
        <p:spPr>
          <a:xfrm>
            <a:off x="881063" y="3633341"/>
            <a:ext cx="32225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Blue border card</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5" name="Shape 3"/>
          <p:cNvSpPr/>
          <p:nvPr/>
        </p:nvSpPr>
        <p:spPr>
          <a:xfrm>
            <a:off x="4351288" y="3499991"/>
            <a:ext cx="3489275" cy="1247775"/>
          </a:xfrm>
          <a:prstGeom prst="roundRect">
            <a:avLst>
              <a:gd name="adj" fmla="val 8951"/>
            </a:avLst>
          </a:prstGeom>
          <a:ln w="19050">
            <a:solidFill>
              <a:srgbClr val="CC6600"/>
            </a:solidFill>
            <a:prstDash val="solid"/>
          </a:ln>
        </p:spPr>
      </p:sp>
      <p:sp>
        <p:nvSpPr>
          <p:cNvPr id="6" name="Text 4"/>
          <p:cNvSpPr/>
          <p:nvPr/>
        </p:nvSpPr>
        <p:spPr>
          <a:xfrm>
            <a:off x="4484638" y="3633341"/>
            <a:ext cx="32225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Orange border card</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7" name="Shape 5"/>
          <p:cNvSpPr/>
          <p:nvPr/>
        </p:nvSpPr>
        <p:spPr>
          <a:xfrm>
            <a:off x="7954863" y="3499991"/>
            <a:ext cx="3489424" cy="1247775"/>
          </a:xfrm>
          <a:prstGeom prst="roundRect">
            <a:avLst>
              <a:gd name="adj" fmla="val 8951"/>
            </a:avLst>
          </a:prstGeom>
          <a:ln w="19050">
            <a:solidFill>
              <a:srgbClr val="006600"/>
            </a:solidFill>
            <a:prstDash val="solid"/>
          </a:ln>
        </p:spPr>
      </p:sp>
      <p:sp>
        <p:nvSpPr>
          <p:cNvPr id="8" name="Text 6"/>
          <p:cNvSpPr/>
          <p:nvPr/>
        </p:nvSpPr>
        <p:spPr>
          <a:xfrm>
            <a:off x="8088213" y="3633341"/>
            <a:ext cx="3527524"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Green border card</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 background</a:t>
            </a:r>
            <a:endParaRPr lang="en-US" sz="2175" dirty="0"/>
          </a:p>
        </p:txBody>
      </p:sp>
      <p:sp>
        <p:nvSpPr>
          <p:cNvPr id="9" name="Text 7"/>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6496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17: Nested containers (3 levels)</a:t>
            </a:r>
            <a:endParaRPr lang="en-US" sz="3480" dirty="0"/>
          </a:p>
        </p:txBody>
      </p:sp>
      <p:sp>
        <p:nvSpPr>
          <p:cNvPr id="3" name="Shape 1"/>
          <p:cNvSpPr/>
          <p:nvPr/>
        </p:nvSpPr>
        <p:spPr>
          <a:xfrm>
            <a:off x="747713" y="2702272"/>
            <a:ext cx="10696575" cy="2290763"/>
          </a:xfrm>
          <a:prstGeom prst="roundRect">
            <a:avLst>
              <a:gd name="adj" fmla="val 2656"/>
            </a:avLst>
          </a:prstGeom>
          <a:solidFill>
            <a:srgbClr val="F5F5F5"/>
          </a:solidFill>
          <a:ln w="19050">
            <a:solidFill>
              <a:srgbClr val="333333"/>
            </a:solidFill>
            <a:prstDash val="solid"/>
          </a:ln>
        </p:spPr>
      </p:sp>
      <p:sp>
        <p:nvSpPr>
          <p:cNvPr id="4" name="Text 2"/>
          <p:cNvSpPr/>
          <p:nvPr/>
        </p:nvSpPr>
        <p:spPr>
          <a:xfrm>
            <a:off x="919162" y="2873722"/>
            <a:ext cx="106584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Outer container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 has background and border</a:t>
            </a:r>
            <a:endParaRPr lang="en-US" sz="2175" dirty="0"/>
          </a:p>
        </p:txBody>
      </p:sp>
      <p:sp>
        <p:nvSpPr>
          <p:cNvPr id="5" name="Shape 3"/>
          <p:cNvSpPr/>
          <p:nvPr/>
        </p:nvSpPr>
        <p:spPr>
          <a:xfrm>
            <a:off x="919162" y="3440460"/>
            <a:ext cx="10353675" cy="1381125"/>
          </a:xfrm>
          <a:prstGeom prst="roundRect">
            <a:avLst>
              <a:gd name="adj" fmla="val 3653"/>
            </a:avLst>
          </a:prstGeom>
          <a:solidFill>
            <a:srgbClr val="FFFFFF"/>
          </a:solidFill>
          <a:ln w="9525">
            <a:solidFill>
              <a:srgbClr val="999999"/>
            </a:solidFill>
            <a:prstDash val="solid"/>
          </a:ln>
        </p:spPr>
      </p:sp>
      <p:sp>
        <p:nvSpPr>
          <p:cNvPr id="6" name="Text 4"/>
          <p:cNvSpPr/>
          <p:nvPr/>
        </p:nvSpPr>
        <p:spPr>
          <a:xfrm>
            <a:off x="1042988" y="3564285"/>
            <a:ext cx="1041082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Middle container — white background</a:t>
            </a:r>
            <a:endParaRPr lang="en-US" sz="2175" dirty="0"/>
          </a:p>
        </p:txBody>
      </p:sp>
      <p:sp>
        <p:nvSpPr>
          <p:cNvPr id="7" name="Shape 5"/>
          <p:cNvSpPr/>
          <p:nvPr/>
        </p:nvSpPr>
        <p:spPr>
          <a:xfrm>
            <a:off x="1042988" y="4131022"/>
            <a:ext cx="10106025" cy="566738"/>
          </a:xfrm>
          <a:prstGeom prst="roundRect">
            <a:avLst>
              <a:gd name="adj" fmla="val 21693"/>
            </a:avLst>
          </a:prstGeom>
          <a:solidFill>
            <a:srgbClr val="FFF3CD"/>
          </a:solidFill>
          <a:ln/>
        </p:spPr>
      </p:sp>
      <p:sp>
        <p:nvSpPr>
          <p:cNvPr id="8" name="Text 6"/>
          <p:cNvSpPr/>
          <p:nvPr/>
        </p:nvSpPr>
        <p:spPr>
          <a:xfrm>
            <a:off x="1042988" y="4131022"/>
            <a:ext cx="10487025" cy="566738"/>
          </a:xfrm>
          <a:prstGeom prst="rect">
            <a:avLst/>
          </a:prstGeom>
          <a:noFill/>
          <a:ln/>
        </p:spPr>
        <p:txBody>
          <a:bodyPr wrap="square" lIns="76200" tIns="76200" rIns="76200" bIns="7620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Inner container — yellow background</a:t>
            </a:r>
            <a:endParaRPr lang="en-US" sz="2175" dirty="0"/>
          </a:p>
        </p:txBody>
      </p:sp>
      <p:sp>
        <p:nvSpPr>
          <p:cNvPr id="9" name="Text 7"/>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17</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7215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18: Step badges (circled numbers)</a:t>
            </a:r>
            <a:endParaRPr lang="en-US" sz="3480" dirty="0"/>
          </a:p>
        </p:txBody>
      </p:sp>
      <p:sp>
        <p:nvSpPr>
          <p:cNvPr id="3" name="Shape 1"/>
          <p:cNvSpPr/>
          <p:nvPr/>
        </p:nvSpPr>
        <p:spPr>
          <a:xfrm>
            <a:off x="747713" y="3164235"/>
            <a:ext cx="304800" cy="304800"/>
          </a:xfrm>
          <a:prstGeom prst="roundRect">
            <a:avLst>
              <a:gd name="adj" fmla="val 150000"/>
            </a:avLst>
          </a:prstGeom>
          <a:solidFill>
            <a:srgbClr val="0066CC"/>
          </a:solidFill>
          <a:ln/>
        </p:spPr>
      </p:sp>
      <p:sp>
        <p:nvSpPr>
          <p:cNvPr id="4" name="Text 2"/>
          <p:cNvSpPr/>
          <p:nvPr/>
        </p:nvSpPr>
        <p:spPr>
          <a:xfrm>
            <a:off x="747713" y="3164235"/>
            <a:ext cx="381000" cy="304800"/>
          </a:xfrm>
          <a:prstGeom prst="rect">
            <a:avLst/>
          </a:prstGeom>
          <a:noFill/>
          <a:ln/>
        </p:spPr>
        <p:txBody>
          <a:bodyPr wrap="square" lIns="0" tIns="0" rIns="0" bIns="0" rtlCol="0" anchor="ctr"/>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1</a:t>
            </a:r>
            <a:endParaRPr lang="en-US" sz="2175" dirty="0"/>
          </a:p>
        </p:txBody>
      </p:sp>
      <p:sp>
        <p:nvSpPr>
          <p:cNvPr id="5" name="Text 3"/>
          <p:cNvSpPr/>
          <p:nvPr/>
        </p:nvSpPr>
        <p:spPr>
          <a:xfrm>
            <a:off x="1147763" y="3109466"/>
            <a:ext cx="2982367"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First step: Install the tool</a:t>
            </a:r>
            <a:endParaRPr lang="en-US" sz="2175" dirty="0"/>
          </a:p>
        </p:txBody>
      </p:sp>
      <p:sp>
        <p:nvSpPr>
          <p:cNvPr id="6" name="Shape 4"/>
          <p:cNvSpPr/>
          <p:nvPr/>
        </p:nvSpPr>
        <p:spPr>
          <a:xfrm>
            <a:off x="747713" y="3695105"/>
            <a:ext cx="304800" cy="304800"/>
          </a:xfrm>
          <a:prstGeom prst="roundRect">
            <a:avLst>
              <a:gd name="adj" fmla="val 150000"/>
            </a:avLst>
          </a:prstGeom>
          <a:solidFill>
            <a:srgbClr val="0066CC"/>
          </a:solidFill>
          <a:ln/>
        </p:spPr>
      </p:sp>
      <p:sp>
        <p:nvSpPr>
          <p:cNvPr id="7" name="Text 5"/>
          <p:cNvSpPr/>
          <p:nvPr/>
        </p:nvSpPr>
        <p:spPr>
          <a:xfrm>
            <a:off x="747713" y="3695105"/>
            <a:ext cx="381000" cy="304800"/>
          </a:xfrm>
          <a:prstGeom prst="rect">
            <a:avLst/>
          </a:prstGeom>
          <a:noFill/>
          <a:ln/>
        </p:spPr>
        <p:txBody>
          <a:bodyPr wrap="square" lIns="0" tIns="0" rIns="0" bIns="0" rtlCol="0" anchor="ctr"/>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2</a:t>
            </a:r>
            <a:endParaRPr lang="en-US" sz="2175" dirty="0"/>
          </a:p>
        </p:txBody>
      </p:sp>
      <p:sp>
        <p:nvSpPr>
          <p:cNvPr id="8" name="Text 6"/>
          <p:cNvSpPr/>
          <p:nvPr/>
        </p:nvSpPr>
        <p:spPr>
          <a:xfrm>
            <a:off x="1147763" y="3638104"/>
            <a:ext cx="5732711" cy="418951"/>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Create a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config file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save it as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config.json</a:t>
            </a:r>
            <a:endParaRPr lang="en-US" sz="2175" dirty="0"/>
          </a:p>
        </p:txBody>
      </p:sp>
      <p:sp>
        <p:nvSpPr>
          <p:cNvPr id="9" name="Shape 7"/>
          <p:cNvSpPr/>
          <p:nvPr/>
        </p:nvSpPr>
        <p:spPr>
          <a:xfrm>
            <a:off x="747713" y="4226123"/>
            <a:ext cx="304800" cy="304800"/>
          </a:xfrm>
          <a:prstGeom prst="roundRect">
            <a:avLst>
              <a:gd name="adj" fmla="val 150000"/>
            </a:avLst>
          </a:prstGeom>
          <a:solidFill>
            <a:srgbClr val="0066CC"/>
          </a:solidFill>
          <a:ln/>
        </p:spPr>
      </p:sp>
      <p:sp>
        <p:nvSpPr>
          <p:cNvPr id="10" name="Text 8"/>
          <p:cNvSpPr/>
          <p:nvPr/>
        </p:nvSpPr>
        <p:spPr>
          <a:xfrm>
            <a:off x="747713" y="4226123"/>
            <a:ext cx="381000" cy="304800"/>
          </a:xfrm>
          <a:prstGeom prst="rect">
            <a:avLst/>
          </a:prstGeom>
          <a:noFill/>
          <a:ln/>
        </p:spPr>
        <p:txBody>
          <a:bodyPr wrap="square" lIns="0" tIns="0" rIns="0" bIns="0" rtlCol="0" anchor="ctr"/>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3</a:t>
            </a:r>
            <a:endParaRPr lang="en-US" sz="2175" dirty="0"/>
          </a:p>
        </p:txBody>
      </p:sp>
      <p:sp>
        <p:nvSpPr>
          <p:cNvPr id="11" name="Text 9"/>
          <p:cNvSpPr/>
          <p:nvPr/>
        </p:nvSpPr>
        <p:spPr>
          <a:xfrm>
            <a:off x="1147763" y="4171355"/>
            <a:ext cx="1060132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operation ✅</a:t>
            </a:r>
            <a:endParaRPr lang="en-US" sz="2175" dirty="0"/>
          </a:p>
        </p:txBody>
      </p:sp>
      <p:sp>
        <p:nvSpPr>
          <p:cNvPr id="12" name="Text 10"/>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48867"/>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19: Text and image mixed container</a:t>
            </a:r>
            <a:endParaRPr lang="en-US" sz="3480" dirty="0"/>
          </a:p>
        </p:txBody>
      </p:sp>
      <p:sp>
        <p:nvSpPr>
          <p:cNvPr id="3" name="Text 1"/>
          <p:cNvSpPr/>
          <p:nvPr/>
        </p:nvSpPr>
        <p:spPr>
          <a:xfrm>
            <a:off x="747713" y="2714774"/>
            <a:ext cx="52530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Text side</a:t>
            </a:r>
            <a:endParaRPr lang="en-US" sz="2392" dirty="0"/>
          </a:p>
        </p:txBody>
      </p:sp>
      <p:sp>
        <p:nvSpPr>
          <p:cNvPr id="4" name="Text 2"/>
          <p:cNvSpPr/>
          <p:nvPr/>
        </p:nvSpPr>
        <p:spPr>
          <a:xfrm>
            <a:off x="747713" y="3246983"/>
            <a:ext cx="5253038" cy="1243013"/>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Feature 1</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High-speed processing</a:t>
            </a:r>
            <a:pPr algn="l" indent="0" marL="0">
              <a:lnSpc>
                <a:spcPct val="150000"/>
              </a:lnSpc>
              <a:buNone/>
            </a:pPr>
            <a:endParaRPr lang="en-US" sz="2175" dirty="0"/>
          </a:p>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Feature 2</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Low latency</a:t>
            </a:r>
            <a:pPr algn="l" indent="0" marL="0">
              <a:lnSpc>
                <a:spcPct val="150000"/>
              </a:lnSpc>
              <a:buNone/>
            </a:pPr>
            <a:endParaRPr lang="en-US" sz="2175" dirty="0"/>
          </a:p>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Feature 3</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Scalable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Text 3"/>
          <p:cNvSpPr/>
          <p:nvPr/>
        </p:nvSpPr>
        <p:spPr>
          <a:xfrm>
            <a:off x="747713" y="4642396"/>
            <a:ext cx="5253038"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Provides an easy-to-use API.</a:t>
            </a:r>
            <a:endParaRPr lang="en-US" sz="2175" dirty="0"/>
          </a:p>
        </p:txBody>
      </p:sp>
      <p:sp>
        <p:nvSpPr>
          <p:cNvPr id="6" name="Shape 4"/>
          <p:cNvSpPr/>
          <p:nvPr/>
        </p:nvSpPr>
        <p:spPr>
          <a:xfrm>
            <a:off x="6191250" y="2486174"/>
            <a:ext cx="5253038" cy="585788"/>
          </a:xfrm>
          <a:prstGeom prst="roundRect">
            <a:avLst>
              <a:gd name="adj" fmla="val 40611"/>
            </a:avLst>
          </a:prstGeom>
          <a:ln w="9525">
            <a:solidFill>
              <a:srgbClr val="DDDDDD"/>
            </a:solidFill>
            <a:prstDash val="solid"/>
          </a:ln>
        </p:spPr>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19</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85750" y="200025"/>
            <a:ext cx="11906250" cy="257175"/>
          </a:xfrm>
          <a:prstGeom prst="rect">
            <a:avLst/>
          </a:prstGeom>
          <a:noFill/>
          <a:ln/>
        </p:spPr>
        <p:txBody>
          <a:bodyPr wrap="square" lIns="0" tIns="0" rIns="0" bIns="0" rtlCol="0" anchor="t"/>
          <a:lstStyle/>
          <a:p>
            <a:pPr algn="l" indent="0" marL="0">
              <a:lnSpc>
                <a:spcPct val="150000"/>
              </a:lnSpc>
              <a:buNone/>
            </a:pPr>
            <a:r>
              <a:rPr lang="en-US" sz="1350" dirty="0">
                <a:solidFill>
                  <a:srgbClr val="666666"/>
                </a:solidFill>
                <a:latin typeface="Segoe UI" pitchFamily="34" charset="0"/>
                <a:ea typeface="Segoe UI" pitchFamily="34" charset="-122"/>
                <a:cs typeface="Segoe UI" pitchFamily="34" charset="-120"/>
              </a:rPr>
              <a:t>Test Header Text</a:t>
            </a:r>
            <a:endParaRPr lang="en-US" sz="1350" dirty="0"/>
          </a:p>
        </p:txBody>
      </p:sp>
      <p:sp>
        <p:nvSpPr>
          <p:cNvPr id="3" name="Text 1"/>
          <p:cNvSpPr/>
          <p:nvPr/>
        </p:nvSpPr>
        <p:spPr>
          <a:xfrm>
            <a:off x="747713" y="25198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20: Header &amp; Footer</a:t>
            </a:r>
            <a:endParaRPr lang="en-US" sz="3480" dirty="0"/>
          </a:p>
        </p:txBody>
      </p:sp>
      <p:sp>
        <p:nvSpPr>
          <p:cNvPr id="4" name="Text 2"/>
          <p:cNvSpPr/>
          <p:nvPr/>
        </p:nvSpPr>
        <p:spPr>
          <a:xfrm>
            <a:off x="747713" y="335711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slide verifies that the header and footer are positioned correctly.</a:t>
            </a:r>
            <a:endParaRPr lang="en-US" sz="2175" dirty="0"/>
          </a:p>
        </p:txBody>
      </p:sp>
      <p:sp>
        <p:nvSpPr>
          <p:cNvPr id="5" name="Text 3"/>
          <p:cNvSpPr/>
          <p:nvPr/>
        </p:nvSpPr>
        <p:spPr>
          <a:xfrm>
            <a:off x="747713" y="3923854"/>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Body text.</a:t>
            </a:r>
            <a:endParaRPr lang="en-US" sz="2175" dirty="0"/>
          </a:p>
        </p:txBody>
      </p:sp>
      <p:sp>
        <p:nvSpPr>
          <p:cNvPr id="6" name="Text 4"/>
          <p:cNvSpPr/>
          <p:nvPr/>
        </p:nvSpPr>
        <p:spPr>
          <a:xfrm>
            <a:off x="285750" y="6400800"/>
            <a:ext cx="11906250" cy="257175"/>
          </a:xfrm>
          <a:prstGeom prst="rect">
            <a:avLst/>
          </a:prstGeom>
          <a:noFill/>
          <a:ln/>
        </p:spPr>
        <p:txBody>
          <a:bodyPr wrap="square" lIns="0" tIns="0" rIns="0" bIns="0" rtlCol="0" anchor="t"/>
          <a:lstStyle/>
          <a:p>
            <a:pPr algn="l" indent="0" marL="0">
              <a:lnSpc>
                <a:spcPct val="150000"/>
              </a:lnSpc>
              <a:buNone/>
            </a:pPr>
            <a:r>
              <a:rPr lang="en-US" sz="1350" dirty="0">
                <a:solidFill>
                  <a:srgbClr val="666666"/>
                </a:solidFill>
                <a:latin typeface="Segoe UI" pitchFamily="34" charset="0"/>
                <a:ea typeface="Segoe UI" pitchFamily="34" charset="-122"/>
                <a:cs typeface="Segoe UI" pitchFamily="34" charset="-120"/>
              </a:rPr>
              <a:t>Test Footer — Page number: {{ paginate }}</a:t>
            </a:r>
            <a:endParaRPr lang="en-US" sz="1350" dirty="0"/>
          </a:p>
        </p:txBody>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20</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0177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21: Special characters &amp; HTML entities</a:t>
            </a:r>
            <a:endParaRPr lang="en-US" sz="3480" dirty="0"/>
          </a:p>
        </p:txBody>
      </p:sp>
      <p:sp>
        <p:nvSpPr>
          <p:cNvPr id="3" name="Text 1"/>
          <p:cNvSpPr/>
          <p:nvPr/>
        </p:nvSpPr>
        <p:spPr>
          <a:xfrm>
            <a:off x="747713" y="193908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the following special characters display correctly:</a:t>
            </a:r>
            <a:endParaRPr lang="en-US" sz="2175" dirty="0"/>
          </a:p>
        </p:txBody>
      </p:sp>
      <p:sp>
        <p:nvSpPr>
          <p:cNvPr id="4" name="Text 2"/>
          <p:cNvSpPr/>
          <p:nvPr/>
        </p:nvSpPr>
        <p:spPr>
          <a:xfrm>
            <a:off x="747713" y="2505819"/>
            <a:ext cx="10696575" cy="3250257"/>
          </a:xfrm>
          <a:prstGeom prst="rect">
            <a:avLst/>
          </a:prstGeom>
          <a:noFill/>
          <a:ln/>
        </p:spPr>
        <p:txBody>
          <a:bodyPr wrap="square" lIns="0" tIns="0" rIns="0" bIns="0" rtlCol="0" anchor="t"/>
          <a:lstStyle/>
          <a:p>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&lt;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&gt;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&amp;</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(HTML entities)</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Fullwidth symbols: 「括弧」『二重括弧』【太括弧】〔亀甲括弧〕</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Math-like: x² + y² = z², α・β・γ</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Long vowel mark: ー (katakana) included in words</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Repetition mark: 〜がテ゛スト〜</a:t>
            </a:r>
            <a:endParaRPr lang="en-US" sz="1849" dirty="0"/>
          </a:p>
          <a:p>
            <a:pPr algn="l" marL="342900" indent="-342900">
              <a:lnSpc>
                <a:spcPct val="150000"/>
              </a:lnSpc>
              <a:buSzPct val="100000"/>
              <a:buChar char="•"/>
            </a:pPr>
            <a:r>
              <a:rPr lang="en-US" sz="2175" dirty="0">
                <a:solidFill>
                  <a:srgbClr val="1F2328"/>
                </a:solidFill>
                <a:latin typeface="Noto Sans" pitchFamily="34" charset="0"/>
                <a:ea typeface="Noto Sans" pitchFamily="34" charset="-122"/>
                <a:cs typeface="Noto Sans" pitchFamily="34" charset="-120"/>
              </a:rPr>
              <a:t>Zero-width character check: 通常テキスト (verify no invisible characters are mixed in)</a:t>
            </a:r>
            <a:endParaRPr lang="en-US" sz="1849" dirty="0"/>
          </a:p>
        </p:txBody>
      </p:sp>
      <p:sp>
        <p:nvSpPr>
          <p:cNvPr id="5"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21</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200596"/>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22: Long paragraph text (wrapping test)</a:t>
            </a:r>
            <a:endParaRPr lang="en-US" sz="3480" dirty="0"/>
          </a:p>
        </p:txBody>
      </p:sp>
      <p:sp>
        <p:nvSpPr>
          <p:cNvPr id="3" name="Text 1"/>
          <p:cNvSpPr/>
          <p:nvPr/>
        </p:nvSpPr>
        <p:spPr>
          <a:xfrm>
            <a:off x="747713" y="2037904"/>
            <a:ext cx="11001375" cy="248602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Noto Sans" pitchFamily="34" charset="0"/>
                <a:ea typeface="Noto Sans" pitchFamily="34" charset="-122"/>
                <a:cs typeface="Noto Sans" pitchFamily="34" charset="-120"/>
              </a:rPr>
              <a:t>これは非常に長い段落テキストのテストです。日本語のテキストが長くなった場合に正しく折り返し表示されるか確認します。英語テキストも混在させます：The quick brown fox jumps over the lazy dog. この文章には特に意味がありません。段落が長くなっても途中でクリップされないことを確認します。改行なしでどこまで続くか試してみます。そしてまだ続きます。長い長いテキストがどこかの時点で折り返されることを期待します。</a:t>
            </a:r>
            <a:endParaRPr lang="en-US" sz="2175" dirty="0"/>
          </a:p>
        </p:txBody>
      </p:sp>
      <p:sp>
        <p:nvSpPr>
          <p:cNvPr id="4" name="Text 2"/>
          <p:cNvSpPr/>
          <p:nvPr/>
        </p:nvSpPr>
        <p:spPr>
          <a:xfrm>
            <a:off x="747713" y="4676329"/>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Next paragraph. Also checking the spacing between paragraphs.</a:t>
            </a:r>
            <a:endParaRPr lang="en-US" sz="2175" dirty="0"/>
          </a:p>
        </p:txBody>
      </p:sp>
      <p:sp>
        <p:nvSpPr>
          <p:cNvPr id="5" name="Text 3"/>
          <p:cNvSpPr/>
          <p:nvPr/>
        </p:nvSpPr>
        <p:spPr>
          <a:xfrm>
            <a:off x="747713" y="5243066"/>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Third paragraph. Verify that three paragraphs are displayed independently.</a:t>
            </a:r>
            <a:endParaRPr lang="en-US" sz="2175" dirty="0"/>
          </a:p>
        </p:txBody>
      </p:sp>
      <p:sp>
        <p:nvSpPr>
          <p:cNvPr id="6" name="Text 4"/>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22</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38746"/>
            <a:ext cx="11291888" cy="472380"/>
          </a:xfrm>
          <a:prstGeom prst="rect">
            <a:avLst/>
          </a:prstGeom>
          <a:noFill/>
          <a:ln/>
        </p:spPr>
        <p:txBody>
          <a:bodyPr wrap="square" lIns="0" tIns="0" rIns="0" bIns="91440" rtlCol="0" anchor="t"/>
          <a:lstStyle/>
          <a:p>
            <a:pPr algn="l" indent="0" marL="0">
              <a:lnSpc>
                <a:spcPct val="125000"/>
              </a:lnSpc>
              <a:buNone/>
            </a:pPr>
            <a:r>
              <a:rPr lang="en-US" sz="2400" b="1" dirty="0">
                <a:solidFill>
                  <a:srgbClr val="224466"/>
                </a:solidFill>
                <a:latin typeface="Segoe UI" pitchFamily="34" charset="0"/>
                <a:ea typeface="Segoe UI" pitchFamily="34" charset="-122"/>
                <a:cs typeface="Segoe UI" pitchFamily="34" charset="-120"/>
              </a:rPr>
              <a:t>Slide 23: Content overflow at bottom of slide</a:t>
            </a:r>
            <a:endParaRPr lang="en-US" sz="2400" dirty="0"/>
          </a:p>
        </p:txBody>
      </p:sp>
      <p:sp>
        <p:nvSpPr>
          <p:cNvPr id="3" name="Text 1"/>
          <p:cNvSpPr/>
          <p:nvPr/>
        </p:nvSpPr>
        <p:spPr>
          <a:xfrm>
            <a:off x="747713" y="2339727"/>
            <a:ext cx="11291888" cy="383828"/>
          </a:xfrm>
          <a:prstGeom prst="rect">
            <a:avLst/>
          </a:prstGeom>
          <a:noFill/>
          <a:ln/>
        </p:spPr>
        <p:txBody>
          <a:bodyPr wrap="square" lIns="0" tIns="0" rIns="0" bIns="74295" rtlCol="0" anchor="t"/>
          <a:lstStyle/>
          <a:p>
            <a:pPr algn="l" indent="0" marL="0">
              <a:lnSpc>
                <a:spcPct val="125000"/>
              </a:lnSpc>
              <a:buNone/>
            </a:pPr>
            <a:r>
              <a:rPr lang="en-US" sz="1950" b="1" dirty="0">
                <a:solidFill>
                  <a:srgbClr val="1F2328"/>
                </a:solidFill>
                <a:latin typeface="Segoe UI" pitchFamily="34" charset="0"/>
                <a:ea typeface="Segoe UI" pitchFamily="34" charset="-122"/>
                <a:cs typeface="Segoe UI" pitchFamily="34" charset="-120"/>
              </a:rPr>
              <a:t>Main section</a:t>
            </a:r>
            <a:endParaRPr lang="en-US" sz="1950" dirty="0"/>
          </a:p>
        </p:txBody>
      </p:sp>
      <p:sp>
        <p:nvSpPr>
          <p:cNvPr id="4" name="Text 2"/>
          <p:cNvSpPr/>
          <p:nvPr/>
        </p:nvSpPr>
        <p:spPr>
          <a:xfrm>
            <a:off x="747713" y="2875955"/>
            <a:ext cx="11001375" cy="285750"/>
          </a:xfrm>
          <a:prstGeom prst="rect">
            <a:avLst/>
          </a:prstGeom>
          <a:noFill/>
          <a:ln/>
        </p:spPr>
        <p:txBody>
          <a:bodyPr wrap="square" lIns="0" tIns="0" rIns="0" bIns="0" rtlCol="0" anchor="t"/>
          <a:lstStyle/>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Normal content.</a:t>
            </a:r>
            <a:endParaRPr lang="en-US" sz="1500" dirty="0"/>
          </a:p>
        </p:txBody>
      </p:sp>
      <p:sp>
        <p:nvSpPr>
          <p:cNvPr id="5" name="Shape 3"/>
          <p:cNvSpPr/>
          <p:nvPr/>
        </p:nvSpPr>
        <p:spPr>
          <a:xfrm>
            <a:off x="747713" y="3314105"/>
            <a:ext cx="5291138" cy="1390650"/>
          </a:xfrm>
          <a:prstGeom prst="roundRect">
            <a:avLst>
              <a:gd name="adj" fmla="val 7206"/>
            </a:avLst>
          </a:prstGeom>
          <a:solidFill>
            <a:srgbClr val="F0F8FF"/>
          </a:solidFill>
          <a:ln w="9525">
            <a:solidFill>
              <a:srgbClr val="CCCCCC"/>
            </a:solidFill>
            <a:prstDash val="solid"/>
          </a:ln>
        </p:spPr>
      </p:sp>
      <p:sp>
        <p:nvSpPr>
          <p:cNvPr id="6" name="Text 4"/>
          <p:cNvSpPr/>
          <p:nvPr/>
        </p:nvSpPr>
        <p:spPr>
          <a:xfrm>
            <a:off x="747713" y="3314105"/>
            <a:ext cx="5367338" cy="1390650"/>
          </a:xfrm>
          <a:prstGeom prst="rect">
            <a:avLst/>
          </a:prstGeom>
          <a:noFill/>
          <a:ln/>
        </p:spPr>
        <p:txBody>
          <a:bodyPr wrap="square" lIns="114300" tIns="114300" rIns="114300" bIns="114300" rtlCol="0" anchor="t"/>
          <a:lstStyle/>
          <a:p>
            <a:pPr algn="l" indent="0" marL="0">
              <a:lnSpc>
                <a:spcPct val="150000"/>
              </a:lnSpc>
              <a:buNone/>
            </a:pPr>
            <a:r>
              <a:rPr lang="en-US" sz="1500" b="1" dirty="0">
                <a:solidFill>
                  <a:srgbClr val="1F2328"/>
                </a:solidFill>
                <a:latin typeface="Segoe UI" pitchFamily="34" charset="0"/>
                <a:ea typeface="Segoe UI" pitchFamily="34" charset="-122"/>
                <a:cs typeface="Segoe UI" pitchFamily="34" charset="-120"/>
              </a:rPr>
              <a:t>Left card</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1</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2</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3</a:t>
            </a:r>
            <a:endParaRPr lang="en-US" sz="1500" dirty="0"/>
          </a:p>
        </p:txBody>
      </p:sp>
      <p:sp>
        <p:nvSpPr>
          <p:cNvPr id="7" name="Shape 5"/>
          <p:cNvSpPr/>
          <p:nvPr/>
        </p:nvSpPr>
        <p:spPr>
          <a:xfrm>
            <a:off x="6153150" y="3314105"/>
            <a:ext cx="5291138" cy="1390650"/>
          </a:xfrm>
          <a:prstGeom prst="roundRect">
            <a:avLst>
              <a:gd name="adj" fmla="val 7206"/>
            </a:avLst>
          </a:prstGeom>
          <a:solidFill>
            <a:srgbClr val="FFF0F0"/>
          </a:solidFill>
          <a:ln w="9525">
            <a:solidFill>
              <a:srgbClr val="CCCCCC"/>
            </a:solidFill>
            <a:prstDash val="solid"/>
          </a:ln>
        </p:spPr>
      </p:sp>
      <p:sp>
        <p:nvSpPr>
          <p:cNvPr id="8" name="Text 6"/>
          <p:cNvSpPr/>
          <p:nvPr/>
        </p:nvSpPr>
        <p:spPr>
          <a:xfrm>
            <a:off x="6153150" y="3314105"/>
            <a:ext cx="5672138" cy="1390650"/>
          </a:xfrm>
          <a:prstGeom prst="rect">
            <a:avLst/>
          </a:prstGeom>
          <a:noFill/>
          <a:ln/>
        </p:spPr>
        <p:txBody>
          <a:bodyPr wrap="square" lIns="114300" tIns="114300" rIns="114300" bIns="114300" rtlCol="0" anchor="t"/>
          <a:lstStyle/>
          <a:p>
            <a:pPr algn="l" indent="0" marL="0">
              <a:lnSpc>
                <a:spcPct val="150000"/>
              </a:lnSpc>
              <a:buNone/>
            </a:pPr>
            <a:r>
              <a:rPr lang="en-US" sz="1500" b="1" dirty="0">
                <a:solidFill>
                  <a:srgbClr val="1F2328"/>
                </a:solidFill>
                <a:latin typeface="Segoe UI" pitchFamily="34" charset="0"/>
                <a:ea typeface="Segoe UI" pitchFamily="34" charset="-122"/>
                <a:cs typeface="Segoe UI" pitchFamily="34" charset="-120"/>
              </a:rPr>
              <a:t>Right card</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1</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2</a:t>
            </a:r>
            <a:pPr algn="l" indent="0" marL="0">
              <a:lnSpc>
                <a:spcPct val="150000"/>
              </a:lnSpc>
              <a:buNone/>
            </a:pPr>
            <a:endParaRPr lang="en-US" sz="1500" dirty="0"/>
          </a:p>
          <a:p>
            <a:pPr algn="l" indent="0" marL="0">
              <a:lnSpc>
                <a:spcPct val="150000"/>
              </a:lnSpc>
              <a:buNone/>
            </a:pPr>
            <a:r>
              <a:rPr lang="en-US" sz="1500" dirty="0">
                <a:solidFill>
                  <a:srgbClr val="1F2328"/>
                </a:solidFill>
                <a:latin typeface="Segoe UI" pitchFamily="34" charset="0"/>
                <a:ea typeface="Segoe UI" pitchFamily="34" charset="-122"/>
                <a:cs typeface="Segoe UI" pitchFamily="34" charset="-120"/>
              </a:rPr>
              <a:t>Content line 3</a:t>
            </a:r>
            <a:endParaRPr lang="en-US" sz="1500" dirty="0"/>
          </a:p>
        </p:txBody>
      </p:sp>
      <p:sp>
        <p:nvSpPr>
          <p:cNvPr id="9" name="Shape 7"/>
          <p:cNvSpPr/>
          <p:nvPr/>
        </p:nvSpPr>
        <p:spPr>
          <a:xfrm>
            <a:off x="747713" y="4780955"/>
            <a:ext cx="10696575" cy="438150"/>
          </a:xfrm>
          <a:prstGeom prst="roundRect">
            <a:avLst>
              <a:gd name="adj" fmla="val 54442"/>
            </a:avLst>
          </a:prstGeom>
          <a:solidFill>
            <a:srgbClr val="FFFDE7"/>
          </a:solidFill>
          <a:ln w="9525">
            <a:solidFill>
              <a:srgbClr val="F0C040"/>
            </a:solidFill>
            <a:prstDash val="solid"/>
          </a:ln>
        </p:spPr>
      </p:sp>
      <p:sp>
        <p:nvSpPr>
          <p:cNvPr id="10" name="Text 8"/>
          <p:cNvSpPr/>
          <p:nvPr/>
        </p:nvSpPr>
        <p:spPr>
          <a:xfrm>
            <a:off x="747713" y="4780955"/>
            <a:ext cx="11077575" cy="438150"/>
          </a:xfrm>
          <a:prstGeom prst="rect">
            <a:avLst/>
          </a:prstGeom>
          <a:noFill/>
          <a:ln/>
        </p:spPr>
        <p:txBody>
          <a:bodyPr wrap="square" lIns="95250" tIns="95250" rIns="95250" bIns="95250" rtlCol="0" anchor="t"/>
          <a:lstStyle/>
          <a:p>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 This is a note box at the bottom of the slide. For overflow testing. Do not replace </a:t>
            </a:r>
            <a:pPr algn="l" indent="0" marL="0">
              <a:lnSpc>
                <a:spcPct val="150000"/>
              </a:lnSpc>
              <a:buNone/>
            </a:pPr>
            <a:r>
              <a:rPr lang="en-US" sz="1020" dirty="0">
                <a:solidFill>
                  <a:srgbClr val="1F2328"/>
                </a:solidFill>
                <a:highlight>
                  <a:srgbClr val="F0F1F3"/>
                </a:highlight>
                <a:latin typeface="Consolas" pitchFamily="34" charset="0"/>
                <a:ea typeface="Consolas" pitchFamily="34" charset="-122"/>
                <a:cs typeface="Consolas" pitchFamily="34" charset="-120"/>
              </a:rPr>
              <a:t>mcp.json</a:t>
            </a:r>
            <a:pPr algn="l" indent="0" marL="0">
              <a:lnSpc>
                <a:spcPct val="150000"/>
              </a:lnSpc>
              <a:buNone/>
            </a:pPr>
            <a:r>
              <a:rPr lang="en-US" sz="1200" dirty="0">
                <a:solidFill>
                  <a:srgbClr val="1F2328"/>
                </a:solidFill>
                <a:latin typeface="Segoe UI" pitchFamily="34" charset="0"/>
                <a:ea typeface="Segoe UI" pitchFamily="34" charset="-122"/>
                <a:cs typeface="Segoe UI" pitchFamily="34" charset="-120"/>
              </a:rPr>
              <a:t> — append to it instead.</a:t>
            </a:r>
            <a:endParaRPr lang="en-US" sz="1200" dirty="0"/>
          </a:p>
        </p:txBody>
      </p:sp>
      <p:sp>
        <p:nvSpPr>
          <p:cNvPr id="11" name="Text 9"/>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23</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1972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24: Blockquote variations</a:t>
            </a:r>
            <a:endParaRPr lang="en-US" sz="3480" dirty="0"/>
          </a:p>
        </p:txBody>
      </p:sp>
      <p:sp>
        <p:nvSpPr>
          <p:cNvPr id="3" name="Shape 1"/>
          <p:cNvSpPr/>
          <p:nvPr/>
        </p:nvSpPr>
        <p:spPr>
          <a:xfrm>
            <a:off x="747713" y="2657029"/>
            <a:ext cx="66675" cy="414338"/>
          </a:xfrm>
          <a:prstGeom prst="rect">
            <a:avLst/>
          </a:prstGeom>
          <a:solidFill>
            <a:srgbClr val="D1D9E0"/>
          </a:solidFill>
          <a:ln/>
        </p:spPr>
      </p:sp>
      <p:sp>
        <p:nvSpPr>
          <p:cNvPr id="4" name="Text 2"/>
          <p:cNvSpPr/>
          <p:nvPr/>
        </p:nvSpPr>
        <p:spPr>
          <a:xfrm>
            <a:off x="814388" y="2657029"/>
            <a:ext cx="10629900" cy="414338"/>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Single-line blockquote</a:t>
            </a:r>
            <a:endParaRPr lang="en-US" sz="2175" dirty="0"/>
          </a:p>
        </p:txBody>
      </p:sp>
      <p:sp>
        <p:nvSpPr>
          <p:cNvPr id="5" name="Shape 3"/>
          <p:cNvSpPr/>
          <p:nvPr/>
        </p:nvSpPr>
        <p:spPr>
          <a:xfrm>
            <a:off x="747713" y="3223766"/>
            <a:ext cx="66675" cy="1243013"/>
          </a:xfrm>
          <a:prstGeom prst="rect">
            <a:avLst/>
          </a:prstGeom>
          <a:solidFill>
            <a:srgbClr val="D1D9E0"/>
          </a:solidFill>
          <a:ln/>
        </p:spPr>
      </p:sp>
      <p:sp>
        <p:nvSpPr>
          <p:cNvPr id="6" name="Text 4"/>
          <p:cNvSpPr/>
          <p:nvPr/>
        </p:nvSpPr>
        <p:spPr>
          <a:xfrm>
            <a:off x="814388" y="3223766"/>
            <a:ext cx="10629900" cy="1243013"/>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Multi-line</a:t>
            </a:r>
            <a:pPr algn="l" indent="0" marL="0">
              <a:lnSpc>
                <a:spcPct val="150000"/>
              </a:lnSpc>
              <a:buNone/>
            </a:pPr>
            <a:endParaRPr lang="en-US" sz="2175" dirty="0"/>
          </a:p>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blockquote</a:t>
            </a:r>
            <a:pPr algn="l" indent="0" marL="0">
              <a:lnSpc>
                <a:spcPct val="150000"/>
              </a:lnSpc>
              <a:buNone/>
            </a:pPr>
            <a:endParaRPr lang="en-US" sz="2175" dirty="0"/>
          </a:p>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test</a:t>
            </a:r>
            <a:endParaRPr lang="en-US" sz="2175" dirty="0"/>
          </a:p>
        </p:txBody>
      </p:sp>
      <p:sp>
        <p:nvSpPr>
          <p:cNvPr id="7" name="Shape 5"/>
          <p:cNvSpPr/>
          <p:nvPr/>
        </p:nvSpPr>
        <p:spPr>
          <a:xfrm>
            <a:off x="747713" y="4619179"/>
            <a:ext cx="66675" cy="418951"/>
          </a:xfrm>
          <a:prstGeom prst="rect">
            <a:avLst/>
          </a:prstGeom>
          <a:solidFill>
            <a:srgbClr val="D1D9E0"/>
          </a:solidFill>
          <a:ln/>
        </p:spPr>
      </p:sp>
      <p:sp>
        <p:nvSpPr>
          <p:cNvPr id="8" name="Text 6"/>
          <p:cNvSpPr/>
          <p:nvPr/>
        </p:nvSpPr>
        <p:spPr>
          <a:xfrm>
            <a:off x="814388" y="4619179"/>
            <a:ext cx="10629900" cy="418951"/>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Blockquote containing </a:t>
            </a:r>
            <a:pPr algn="l" indent="0" marL="0">
              <a:lnSpc>
                <a:spcPct val="150000"/>
              </a:lnSpc>
              <a:buNone/>
            </a:pPr>
            <a:r>
              <a:rPr lang="en-US" sz="2175" b="1" dirty="0">
                <a:solidFill>
                  <a:srgbClr val="59636E"/>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 </a:t>
            </a:r>
            <a:pPr algn="l" indent="0" marL="0">
              <a:lnSpc>
                <a:spcPct val="150000"/>
              </a:lnSpc>
              <a:buNone/>
            </a:pPr>
            <a:r>
              <a:rPr lang="en-US" sz="2175" i="1" dirty="0">
                <a:solidFill>
                  <a:srgbClr val="59636E"/>
                </a:solidFill>
                <a:latin typeface="Segoe UI" pitchFamily="34" charset="0"/>
                <a:ea typeface="Segoe UI" pitchFamily="34" charset="-122"/>
                <a:cs typeface="Segoe UI" pitchFamily="34" charset="-120"/>
              </a:rPr>
              <a:t>italic</a:t>
            </a:r>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59636E"/>
                </a:solidFill>
                <a:highlight>
                  <a:srgbClr val="F0F1F3"/>
                </a:highlight>
                <a:latin typeface="Consolas" pitchFamily="34" charset="0"/>
                <a:ea typeface="Consolas" pitchFamily="34" charset="-122"/>
                <a:cs typeface="Consolas" pitchFamily="34" charset="-120"/>
              </a:rPr>
              <a:t>code</a:t>
            </a:r>
            <a:endParaRPr lang="en-US" sz="2175" dirty="0"/>
          </a:p>
        </p:txBody>
      </p:sp>
      <p:sp>
        <p:nvSpPr>
          <p:cNvPr id="9" name="Text 7"/>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24</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8871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25: Table (complex cells)</a:t>
            </a:r>
            <a:endParaRPr lang="en-US" sz="348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47713" y="2226022"/>
          <a:ext cx="9517707" cy="914400"/>
        </p:xfrm>
        <a:graphic>
          <a:graphicData uri="http://schemas.openxmlformats.org/drawingml/2006/table">
            <a:tbl>
              <a:tblPr/>
              <a:tblGrid>
                <a:gridCol w="809625"/>
                <a:gridCol w="2590800"/>
                <a:gridCol w="3305175"/>
                <a:gridCol w="2800350"/>
              </a:tblGrid>
              <a:tr h="0">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Step</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Responsible Agent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Input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Output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1</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Estimator</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Spec document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Estimate sheet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2</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2175" b="1" dirty="0">
                          <a:solidFill>
                            <a:srgbClr val="1F2328"/>
                          </a:solidFill>
                          <a:latin typeface="Segoe UI" pitchFamily="34" charset="0"/>
                          <a:ea typeface="Segoe UI" pitchFamily="34" charset="-122"/>
                          <a:cs typeface="Segoe UI" pitchFamily="34" charset="-120"/>
                        </a:rPr>
                        <a:t>Design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Estimate + Requirements</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Design doc</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3</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Test Design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Design doc</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Test case list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4</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849" dirty="0">
                          <a:solidFill>
                            <a:srgbClr val="1F2328"/>
                          </a:solidFill>
                          <a:highlight>
                            <a:srgbClr val="E8EBEE"/>
                          </a:highlight>
                          <a:latin typeface="Consolas" pitchFamily="34" charset="0"/>
                          <a:ea typeface="Consolas" pitchFamily="34" charset="-122"/>
                          <a:cs typeface="Consolas" pitchFamily="34" charset="-120"/>
                        </a:rPr>
                        <a:t>dev-planner</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TC + Design doc</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Implementation plan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5</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2175" dirty="0">
                          <a:solidFill>
                            <a:srgbClr val="1F2328"/>
                          </a:solidFill>
                          <a:latin typeface="Segoe UI" pitchFamily="34" charset="0"/>
                          <a:ea typeface="Segoe UI" pitchFamily="34" charset="-122"/>
                          <a:cs typeface="Segoe UI" pitchFamily="34" charset="-120"/>
                        </a:rPr>
                        <a:t>Review </a:t>
                      </a:r>
                      <a:pPr algn="ctr" indent="0" marL="0">
                        <a:buNone/>
                      </a:pPr>
                      <a:r>
                        <a:rPr lang="en-US" sz="2175" dirty="0">
                          <a:solidFill>
                            <a:srgbClr val="1F2328"/>
                          </a:solidFill>
                          <a:latin typeface="Segoe UI" pitchFamily="34" charset="0"/>
                          <a:ea typeface="Segoe UI" pitchFamily="34" charset="-122"/>
                          <a:cs typeface="Segoe UI" pitchFamily="34" charset="-120"/>
                        </a:rPr>
                        <a: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PR + Design doc</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Review results</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4" name="Text 1"/>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25</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95770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26: Code block (background color, long lines)</a:t>
            </a:r>
            <a:endParaRPr lang="en-US" sz="3480" dirty="0"/>
          </a:p>
        </p:txBody>
      </p:sp>
      <p:sp>
        <p:nvSpPr>
          <p:cNvPr id="3" name="Shape 1"/>
          <p:cNvSpPr/>
          <p:nvPr/>
        </p:nvSpPr>
        <p:spPr>
          <a:xfrm>
            <a:off x="747713" y="1795016"/>
            <a:ext cx="10696575" cy="4105275"/>
          </a:xfrm>
          <a:prstGeom prst="roundRect">
            <a:avLst>
              <a:gd name="adj" fmla="val 620"/>
            </a:avLst>
          </a:prstGeom>
          <a:solidFill>
            <a:srgbClr val="F6F8FA"/>
          </a:solidFill>
          <a:ln w="9525">
            <a:solidFill>
              <a:srgbClr val="D1D9E0"/>
            </a:solidFill>
            <a:prstDash val="solid"/>
          </a:ln>
        </p:spPr>
      </p:sp>
      <p:sp>
        <p:nvSpPr>
          <p:cNvPr id="4" name="Text 2"/>
          <p:cNvSpPr/>
          <p:nvPr/>
        </p:nvSpPr>
        <p:spPr>
          <a:xfrm>
            <a:off x="747713" y="1795016"/>
            <a:ext cx="11077575" cy="410527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Very long single line of code — wrapping/clipping test</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const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veryLongVariableName = </a:t>
            </a:r>
            <a:pPr algn="l" indent="0" marL="0">
              <a:lnSpc>
                <a:spcPct val="115000"/>
              </a:lnSpc>
              <a:buNone/>
            </a:pPr>
            <a:r>
              <a:rPr lang="en-US" sz="1849" dirty="0">
                <a:solidFill>
                  <a:srgbClr val="6639BA"/>
                </a:solidFill>
                <a:latin typeface="Consolas" pitchFamily="34" charset="0"/>
                <a:ea typeface="Consolas" pitchFamily="34" charset="-122"/>
                <a:cs typeface="Consolas" pitchFamily="34" charset="-120"/>
              </a:rPr>
              <a:t>someFunction</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key1</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'value1'</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key2</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'value2'</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key3</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'value3'</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key4</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A3069"/>
                </a:solidFill>
                <a:latin typeface="Consolas" pitchFamily="34" charset="0"/>
                <a:ea typeface="Consolas" pitchFamily="34" charset="-122"/>
                <a:cs typeface="Consolas" pitchFamily="34" charset="-120"/>
              </a:rPr>
              <a:t>'value4'</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endParaRPr lang="en-US" sz="1849" dirty="0"/>
          </a:p>
          <a:p>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Code with comments</a:t>
            </a:r>
            <a:pPr algn="l" indent="0" marL="0">
              <a:lnSpc>
                <a:spcPct val="115000"/>
              </a:lnSpc>
              <a:buNone/>
            </a:pPr>
            <a:endParaRPr lang="en-US" sz="1849" dirty="0"/>
          </a:p>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const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config = {</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apiKey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process.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env</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API_KEY</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Loaded from environment variable</a:t>
            </a:r>
            <a:pPr algn="l" indent="0" marL="0">
              <a:lnSpc>
                <a:spcPct val="115000"/>
              </a:lnSpc>
              <a:buNone/>
            </a:pPr>
            <a:endParaRPr lang="en-US" sz="1849" dirty="0"/>
          </a:p>
          <a:p>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timeout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30000</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Timeout: 30 seconds</a:t>
            </a:r>
            <a:pPr algn="l" indent="0" marL="0">
              <a:lnSpc>
                <a:spcPct val="115000"/>
              </a:lnSpc>
              <a:buNone/>
            </a:pPr>
            <a:endParaRPr lang="en-US" sz="1849" dirty="0"/>
          </a:p>
          <a:p>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retries</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3</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a:t>
            </a:r>
            <a:pPr algn="l" indent="0" marL="0">
              <a:lnSpc>
                <a:spcPct val="115000"/>
              </a:lnSpc>
              <a:buNone/>
            </a:pPr>
            <a:r>
              <a:rPr lang="en-US" sz="1849" dirty="0">
                <a:solidFill>
                  <a:srgbClr val="59636E"/>
                </a:solidFill>
                <a:latin typeface="Consolas" pitchFamily="34" charset="0"/>
                <a:ea typeface="Consolas" pitchFamily="34" charset="-122"/>
                <a:cs typeface="Consolas" pitchFamily="34" charset="-120"/>
              </a:rPr>
              <a:t>// Retry count</a:t>
            </a:r>
            <a:pPr algn="l" indent="0" marL="0">
              <a:lnSpc>
                <a:spcPct val="115000"/>
              </a:lnSpc>
              <a:buNone/>
            </a:pPr>
            <a:endParaRPr lang="en-US" sz="1849" dirty="0"/>
          </a:p>
          <a:p>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a:t>
            </a:r>
            <a:endParaRPr lang="en-US" sz="1849" dirty="0"/>
          </a:p>
        </p:txBody>
      </p:sp>
      <p:sp>
        <p:nvSpPr>
          <p:cNvPr id="5"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26</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335732"/>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27: Container with image (same-dir image test)</a:t>
            </a:r>
            <a:endParaRPr lang="en-US" sz="3480" dirty="0"/>
          </a:p>
        </p:txBody>
      </p:sp>
      <p:sp>
        <p:nvSpPr>
          <p:cNvPr id="3" name="Text 1"/>
          <p:cNvSpPr/>
          <p:nvPr/>
        </p:nvSpPr>
        <p:spPr>
          <a:xfrm>
            <a:off x="747713" y="2401639"/>
            <a:ext cx="6326386"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Left column (text)</a:t>
            </a:r>
            <a:endParaRPr lang="en-US" sz="2392" dirty="0"/>
          </a:p>
        </p:txBody>
      </p:sp>
      <p:sp>
        <p:nvSpPr>
          <p:cNvPr id="4" name="Text 2"/>
          <p:cNvSpPr/>
          <p:nvPr/>
        </p:nvSpPr>
        <p:spPr>
          <a:xfrm>
            <a:off x="747713" y="2933849"/>
            <a:ext cx="6326386" cy="1869132"/>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1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Important item 2</a:t>
            </a:r>
            <a:endParaRPr lang="en-US" sz="2175" dirty="0"/>
          </a:p>
          <a:p>
            <a:pPr algn="l" marL="342900" indent="-342900">
              <a:lnSpc>
                <a:spcPct val="150000"/>
              </a:lnSpc>
              <a:buSzPct val="100000"/>
              <a:buChar char="•"/>
            </a:pPr>
            <a:r>
              <a:rPr lang="en-US" sz="1849" dirty="0">
                <a:solidFill>
                  <a:srgbClr val="1F2328"/>
                </a:solidFill>
                <a:highlight>
                  <a:srgbClr val="F0F1F3"/>
                </a:highlight>
                <a:latin typeface="Consolas" pitchFamily="34" charset="0"/>
                <a:ea typeface="Consolas" pitchFamily="34" charset="-122"/>
                <a:cs typeface="Consolas" pitchFamily="34" charset="-120"/>
              </a:rPr>
              <a:t>Item with code 3</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Normal item 4</a:t>
            </a:r>
            <a:endParaRPr lang="en-US" sz="2175" dirty="0"/>
          </a:p>
        </p:txBody>
      </p:sp>
      <p:sp>
        <p:nvSpPr>
          <p:cNvPr id="5" name="Text 3"/>
          <p:cNvSpPr/>
          <p:nvPr/>
        </p:nvSpPr>
        <p:spPr>
          <a:xfrm>
            <a:off x="747713" y="4955381"/>
            <a:ext cx="6326386"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Additional text below.</a:t>
            </a:r>
            <a:endParaRPr lang="en-US" sz="2175" dirty="0"/>
          </a:p>
        </p:txBody>
      </p:sp>
      <p:sp>
        <p:nvSpPr>
          <p:cNvPr id="6" name="Shape 4"/>
          <p:cNvSpPr/>
          <p:nvPr/>
        </p:nvSpPr>
        <p:spPr>
          <a:xfrm>
            <a:off x="7226498" y="2173039"/>
            <a:ext cx="4217789" cy="661988"/>
          </a:xfrm>
          <a:prstGeom prst="roundRect">
            <a:avLst>
              <a:gd name="adj" fmla="val 31800"/>
            </a:avLst>
          </a:prstGeom>
          <a:ln w="9525">
            <a:solidFill>
              <a:srgbClr val="DDDDDD"/>
            </a:solidFill>
            <a:prstDash val="solid"/>
          </a:ln>
        </p:spPr>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27</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0781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28: Empty container / minimal content</a:t>
            </a:r>
            <a:endParaRPr lang="en-US" sz="3480" dirty="0"/>
          </a:p>
        </p:txBody>
      </p:sp>
      <p:sp>
        <p:nvSpPr>
          <p:cNvPr id="3" name="Text 1"/>
          <p:cNvSpPr/>
          <p:nvPr/>
        </p:nvSpPr>
        <p:spPr>
          <a:xfrm>
            <a:off x="747713" y="2645122"/>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Empty div (border only, no child elements):</a:t>
            </a:r>
            <a:endParaRPr lang="en-US" sz="2175" dirty="0"/>
          </a:p>
        </p:txBody>
      </p:sp>
      <p:sp>
        <p:nvSpPr>
          <p:cNvPr id="4" name="Shape 2"/>
          <p:cNvSpPr/>
          <p:nvPr/>
        </p:nvSpPr>
        <p:spPr>
          <a:xfrm>
            <a:off x="747713" y="3211860"/>
            <a:ext cx="10696575" cy="609600"/>
          </a:xfrm>
          <a:prstGeom prst="roundRect">
            <a:avLst>
              <a:gd name="adj" fmla="val 37500"/>
            </a:avLst>
          </a:prstGeom>
          <a:ln w="19050">
            <a:solidFill>
              <a:srgbClr val="999999"/>
            </a:solidFill>
            <a:prstDash val="dash"/>
          </a:ln>
        </p:spPr>
      </p:sp>
      <p:sp>
        <p:nvSpPr>
          <p:cNvPr id="5" name="Text 3"/>
          <p:cNvSpPr/>
          <p:nvPr/>
        </p:nvSpPr>
        <p:spPr>
          <a:xfrm>
            <a:off x="747713" y="382146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Text-only div (no child elements, inline only):</a:t>
            </a:r>
            <a:endParaRPr lang="en-US" sz="2175" dirty="0"/>
          </a:p>
        </p:txBody>
      </p:sp>
      <p:sp>
        <p:nvSpPr>
          <p:cNvPr id="6" name="Shape 4"/>
          <p:cNvSpPr/>
          <p:nvPr/>
        </p:nvSpPr>
        <p:spPr>
          <a:xfrm>
            <a:off x="747713" y="4388197"/>
            <a:ext cx="10696575" cy="661988"/>
          </a:xfrm>
          <a:prstGeom prst="roundRect">
            <a:avLst>
              <a:gd name="adj" fmla="val 23850"/>
            </a:avLst>
          </a:prstGeom>
          <a:solidFill>
            <a:srgbClr val="E8F4FF"/>
          </a:solidFill>
          <a:ln w="9525">
            <a:solidFill>
              <a:srgbClr val="336699"/>
            </a:solidFill>
            <a:prstDash val="solid"/>
          </a:ln>
        </p:spPr>
      </p:sp>
      <p:sp>
        <p:nvSpPr>
          <p:cNvPr id="7" name="Text 5"/>
          <p:cNvSpPr/>
          <p:nvPr/>
        </p:nvSpPr>
        <p:spPr>
          <a:xfrm>
            <a:off x="747713" y="4388197"/>
            <a:ext cx="11077575" cy="661988"/>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only. Contains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8" name="Text 6"/>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28</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345978"/>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29: Incremental font sizes</a:t>
            </a:r>
            <a:endParaRPr lang="en-US" sz="3480" dirty="0"/>
          </a:p>
        </p:txBody>
      </p:sp>
      <p:sp>
        <p:nvSpPr>
          <p:cNvPr id="3" name="Text 1"/>
          <p:cNvSpPr/>
          <p:nvPr/>
        </p:nvSpPr>
        <p:spPr>
          <a:xfrm>
            <a:off x="747713" y="3183285"/>
            <a:ext cx="11001375" cy="400050"/>
          </a:xfrm>
          <a:prstGeom prst="rect">
            <a:avLst/>
          </a:prstGeom>
          <a:noFill/>
          <a:ln/>
        </p:spPr>
        <p:txBody>
          <a:bodyPr wrap="square" lIns="0" tIns="0" rIns="0" bIns="0" rtlCol="0" anchor="t"/>
          <a:lstStyle/>
          <a:p>
            <a:pPr algn="l" indent="0" marL="0">
              <a:lnSpc>
                <a:spcPct val="150000"/>
              </a:lnSpc>
              <a:buNone/>
            </a:pPr>
            <a:r>
              <a:rPr lang="en-US" sz="2100" dirty="0">
                <a:solidFill>
                  <a:srgbClr val="1F2328"/>
                </a:solidFill>
                <a:latin typeface="Segoe UI" pitchFamily="34" charset="0"/>
                <a:ea typeface="Segoe UI" pitchFamily="34" charset="-122"/>
                <a:cs typeface="Segoe UI" pitchFamily="34" charset="-120"/>
              </a:rPr>
              <a:t>Large text (28px)</a:t>
            </a:r>
            <a:endParaRPr lang="en-US" sz="2100" dirty="0"/>
          </a:p>
        </p:txBody>
      </p:sp>
      <p:sp>
        <p:nvSpPr>
          <p:cNvPr id="4" name="Text 2"/>
          <p:cNvSpPr/>
          <p:nvPr/>
        </p:nvSpPr>
        <p:spPr>
          <a:xfrm>
            <a:off x="747713" y="3583335"/>
            <a:ext cx="11001375"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Normal text (22px)</a:t>
            </a:r>
            <a:endParaRPr lang="en-US" sz="1650" dirty="0"/>
          </a:p>
        </p:txBody>
      </p:sp>
      <p:sp>
        <p:nvSpPr>
          <p:cNvPr id="5" name="Text 3"/>
          <p:cNvSpPr/>
          <p:nvPr/>
        </p:nvSpPr>
        <p:spPr>
          <a:xfrm>
            <a:off x="747713" y="3897660"/>
            <a:ext cx="11001375" cy="257175"/>
          </a:xfrm>
          <a:prstGeom prst="rect">
            <a:avLst/>
          </a:prstGeom>
          <a:noFill/>
          <a:ln/>
        </p:spPr>
        <p:txBody>
          <a:bodyPr wrap="square" lIns="0" tIns="0" rIns="0" bIns="0" rtlCol="0" anchor="t"/>
          <a:lstStyle/>
          <a:p>
            <a:pPr algn="l" indent="0" marL="0">
              <a:lnSpc>
                <a:spcPct val="150000"/>
              </a:lnSpc>
              <a:buNone/>
            </a:pPr>
            <a:r>
              <a:rPr lang="en-US" sz="1350" dirty="0">
                <a:solidFill>
                  <a:srgbClr val="1F2328"/>
                </a:solidFill>
                <a:latin typeface="Segoe UI" pitchFamily="34" charset="0"/>
                <a:ea typeface="Segoe UI" pitchFamily="34" charset="-122"/>
                <a:cs typeface="Segoe UI" pitchFamily="34" charset="-120"/>
              </a:rPr>
              <a:t>Slightly smaller text (18px)</a:t>
            </a:r>
            <a:endParaRPr lang="en-US" sz="1350" dirty="0"/>
          </a:p>
        </p:txBody>
      </p:sp>
      <p:sp>
        <p:nvSpPr>
          <p:cNvPr id="6" name="Text 4"/>
          <p:cNvSpPr/>
          <p:nvPr/>
        </p:nvSpPr>
        <p:spPr>
          <a:xfrm>
            <a:off x="747713" y="4154835"/>
            <a:ext cx="11001375" cy="200025"/>
          </a:xfrm>
          <a:prstGeom prst="rect">
            <a:avLst/>
          </a:prstGeom>
          <a:noFill/>
          <a:ln/>
        </p:spPr>
        <p:txBody>
          <a:bodyPr wrap="square" lIns="0" tIns="0" rIns="0" bIns="0" rtlCol="0" anchor="t"/>
          <a:lstStyle/>
          <a:p>
            <a:pPr algn="l" indent="0" marL="0">
              <a:lnSpc>
                <a:spcPct val="150000"/>
              </a:lnSpc>
              <a:buNone/>
            </a:pPr>
            <a:r>
              <a:rPr lang="en-US" sz="1050" dirty="0">
                <a:solidFill>
                  <a:srgbClr val="1F2328"/>
                </a:solidFill>
                <a:latin typeface="Segoe UI" pitchFamily="34" charset="0"/>
                <a:ea typeface="Segoe UI" pitchFamily="34" charset="-122"/>
                <a:cs typeface="Segoe UI" pitchFamily="34" charset="-120"/>
              </a:rPr>
              <a:t>Small text (14px)</a:t>
            </a:r>
            <a:endParaRPr lang="en-US" sz="1050" dirty="0"/>
          </a:p>
        </p:txBody>
      </p:sp>
      <p:sp>
        <p:nvSpPr>
          <p:cNvPr id="7" name="Text 5"/>
          <p:cNvSpPr/>
          <p:nvPr/>
        </p:nvSpPr>
        <p:spPr>
          <a:xfrm>
            <a:off x="747713" y="4354860"/>
            <a:ext cx="11001375" cy="157163"/>
          </a:xfrm>
          <a:prstGeom prst="rect">
            <a:avLst/>
          </a:prstGeom>
          <a:noFill/>
          <a:ln/>
        </p:spPr>
        <p:txBody>
          <a:bodyPr wrap="square" lIns="0" tIns="0" rIns="0" bIns="0" rtlCol="0" anchor="t"/>
          <a:lstStyle/>
          <a:p>
            <a:pPr algn="l" indent="0" marL="0">
              <a:lnSpc>
                <a:spcPct val="150000"/>
              </a:lnSpc>
              <a:buNone/>
            </a:pPr>
            <a:r>
              <a:rPr lang="en-US" sz="825" dirty="0">
                <a:solidFill>
                  <a:srgbClr val="1F2328"/>
                </a:solidFill>
                <a:latin typeface="Segoe UI" pitchFamily="34" charset="0"/>
                <a:ea typeface="Segoe UI" pitchFamily="34" charset="-122"/>
                <a:cs typeface="Segoe UI" pitchFamily="34" charset="-120"/>
              </a:rPr>
              <a:t>Very small text (11px) — Check the minimum pt size in PPTX</a:t>
            </a:r>
            <a:endParaRPr lang="en-US" sz="825" dirty="0"/>
          </a:p>
        </p:txBody>
      </p:sp>
      <p:sp>
        <p:nvSpPr>
          <p:cNvPr id="8" name="Text 6"/>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29</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14971"/>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30: Color variations</a:t>
            </a:r>
            <a:endParaRPr lang="en-US" sz="3480" dirty="0"/>
          </a:p>
        </p:txBody>
      </p:sp>
      <p:sp>
        <p:nvSpPr>
          <p:cNvPr id="3" name="Shape 1"/>
          <p:cNvSpPr/>
          <p:nvPr/>
        </p:nvSpPr>
        <p:spPr>
          <a:xfrm>
            <a:off x="747713" y="2752279"/>
            <a:ext cx="3514725" cy="1057275"/>
          </a:xfrm>
          <a:prstGeom prst="roundRect">
            <a:avLst>
              <a:gd name="adj" fmla="val 9350"/>
            </a:avLst>
          </a:prstGeom>
          <a:solidFill>
            <a:srgbClr val="1A73E8"/>
          </a:solidFill>
          <a:ln/>
        </p:spPr>
      </p:sp>
      <p:sp>
        <p:nvSpPr>
          <p:cNvPr id="4" name="Text 2"/>
          <p:cNvSpPr/>
          <p:nvPr/>
        </p:nvSpPr>
        <p:spPr>
          <a:xfrm>
            <a:off x="747713" y="2752279"/>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Blue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5" name="Shape 3"/>
          <p:cNvSpPr/>
          <p:nvPr/>
        </p:nvSpPr>
        <p:spPr>
          <a:xfrm>
            <a:off x="4338638" y="2752279"/>
            <a:ext cx="3514725" cy="1057275"/>
          </a:xfrm>
          <a:prstGeom prst="roundRect">
            <a:avLst>
              <a:gd name="adj" fmla="val 9350"/>
            </a:avLst>
          </a:prstGeom>
          <a:solidFill>
            <a:srgbClr val="34A853"/>
          </a:solidFill>
          <a:ln/>
        </p:spPr>
      </p:sp>
      <p:sp>
        <p:nvSpPr>
          <p:cNvPr id="6" name="Text 4"/>
          <p:cNvSpPr/>
          <p:nvPr/>
        </p:nvSpPr>
        <p:spPr>
          <a:xfrm>
            <a:off x="4338638" y="2752279"/>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Green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7" name="Shape 5"/>
          <p:cNvSpPr/>
          <p:nvPr/>
        </p:nvSpPr>
        <p:spPr>
          <a:xfrm>
            <a:off x="7929563" y="2752279"/>
            <a:ext cx="3514725" cy="1057275"/>
          </a:xfrm>
          <a:prstGeom prst="roundRect">
            <a:avLst>
              <a:gd name="adj" fmla="val 9350"/>
            </a:avLst>
          </a:prstGeom>
          <a:solidFill>
            <a:srgbClr val="EA4335"/>
          </a:solidFill>
          <a:ln/>
        </p:spPr>
      </p:sp>
      <p:sp>
        <p:nvSpPr>
          <p:cNvPr id="8" name="Text 6"/>
          <p:cNvSpPr/>
          <p:nvPr/>
        </p:nvSpPr>
        <p:spPr>
          <a:xfrm>
            <a:off x="7929563" y="2752279"/>
            <a:ext cx="38957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Red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9" name="Shape 7"/>
          <p:cNvSpPr/>
          <p:nvPr/>
        </p:nvSpPr>
        <p:spPr>
          <a:xfrm>
            <a:off x="747713" y="3885754"/>
            <a:ext cx="3514725" cy="1057275"/>
          </a:xfrm>
          <a:prstGeom prst="roundRect">
            <a:avLst>
              <a:gd name="adj" fmla="val 9350"/>
            </a:avLst>
          </a:prstGeom>
          <a:solidFill>
            <a:srgbClr val="FBBC04"/>
          </a:solidFill>
          <a:ln/>
        </p:spPr>
      </p:sp>
      <p:sp>
        <p:nvSpPr>
          <p:cNvPr id="10" name="Text 8"/>
          <p:cNvSpPr/>
          <p:nvPr/>
        </p:nvSpPr>
        <p:spPr>
          <a:xfrm>
            <a:off x="747713" y="3885754"/>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333333"/>
                </a:solidFill>
                <a:latin typeface="Segoe UI" pitchFamily="34" charset="0"/>
                <a:ea typeface="Segoe UI" pitchFamily="34" charset="-122"/>
                <a:cs typeface="Segoe UI" pitchFamily="34" charset="-120"/>
              </a:rPr>
              <a:t>Yellow bg</a:t>
            </a:r>
            <a:pPr algn="l" indent="0" marL="0">
              <a:lnSpc>
                <a:spcPct val="150000"/>
              </a:lnSpc>
              <a:buNone/>
            </a:pPr>
            <a:endParaRPr lang="en-US" sz="2175" dirty="0"/>
          </a:p>
          <a:p>
            <a:pPr algn="l" indent="0" marL="0">
              <a:lnSpc>
                <a:spcPct val="150000"/>
              </a:lnSpc>
              <a:buNone/>
            </a:pPr>
            <a:r>
              <a:rPr lang="en-US" sz="2175" dirty="0">
                <a:solidFill>
                  <a:srgbClr val="333333"/>
                </a:solidFill>
                <a:latin typeface="Segoe UI" pitchFamily="34" charset="0"/>
                <a:ea typeface="Segoe UI" pitchFamily="34" charset="-122"/>
                <a:cs typeface="Segoe UI" pitchFamily="34" charset="-120"/>
              </a:rPr>
              <a:t>Dark text</a:t>
            </a:r>
            <a:endParaRPr lang="en-US" sz="2175" dirty="0"/>
          </a:p>
        </p:txBody>
      </p:sp>
      <p:sp>
        <p:nvSpPr>
          <p:cNvPr id="11" name="Shape 9"/>
          <p:cNvSpPr/>
          <p:nvPr/>
        </p:nvSpPr>
        <p:spPr>
          <a:xfrm>
            <a:off x="4338638" y="3885754"/>
            <a:ext cx="3514725" cy="1057275"/>
          </a:xfrm>
          <a:prstGeom prst="roundRect">
            <a:avLst>
              <a:gd name="adj" fmla="val 9350"/>
            </a:avLst>
          </a:prstGeom>
          <a:solidFill>
            <a:srgbClr val="9C27B0"/>
          </a:solidFill>
          <a:ln/>
        </p:spPr>
      </p:sp>
      <p:sp>
        <p:nvSpPr>
          <p:cNvPr id="12" name="Text 10"/>
          <p:cNvSpPr/>
          <p:nvPr/>
        </p:nvSpPr>
        <p:spPr>
          <a:xfrm>
            <a:off x="4338638" y="3885754"/>
            <a:ext cx="35909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Purple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13" name="Shape 11"/>
          <p:cNvSpPr/>
          <p:nvPr/>
        </p:nvSpPr>
        <p:spPr>
          <a:xfrm>
            <a:off x="7929563" y="3885754"/>
            <a:ext cx="3514725" cy="1057275"/>
          </a:xfrm>
          <a:prstGeom prst="roundRect">
            <a:avLst>
              <a:gd name="adj" fmla="val 9350"/>
            </a:avLst>
          </a:prstGeom>
          <a:solidFill>
            <a:srgbClr val="FF5722"/>
          </a:solidFill>
          <a:ln/>
        </p:spPr>
      </p:sp>
      <p:sp>
        <p:nvSpPr>
          <p:cNvPr id="14" name="Text 12"/>
          <p:cNvSpPr/>
          <p:nvPr/>
        </p:nvSpPr>
        <p:spPr>
          <a:xfrm>
            <a:off x="7929563" y="3885754"/>
            <a:ext cx="3895725" cy="1057275"/>
          </a:xfrm>
          <a:prstGeom prst="rect">
            <a:avLst/>
          </a:prstGeom>
          <a:noFill/>
          <a:ln/>
        </p:spPr>
        <p:txBody>
          <a:bodyPr wrap="square" lIns="114300" tIns="114300" rIns="114300" bIns="11430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Orange bg</a:t>
            </a:r>
            <a:pPr algn="l" indent="0" marL="0">
              <a:lnSpc>
                <a:spcPct val="150000"/>
              </a:lnSpc>
              <a:buNone/>
            </a:pPr>
            <a:endParaRPr lang="en-US" sz="2175" dirty="0"/>
          </a:p>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White text</a:t>
            </a:r>
            <a:endParaRPr lang="en-US" sz="2175" dirty="0"/>
          </a:p>
        </p:txBody>
      </p:sp>
      <p:sp>
        <p:nvSpPr>
          <p:cNvPr id="15" name="Text 1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30</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9355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31: SVG shapes (embedded SVG)</a:t>
            </a:r>
            <a:endParaRPr lang="en-US" sz="3480" dirty="0"/>
          </a:p>
        </p:txBody>
      </p:sp>
      <p:sp>
        <p:nvSpPr>
          <p:cNvPr id="3" name="Text 1"/>
          <p:cNvSpPr/>
          <p:nvPr/>
        </p:nvSpPr>
        <p:spPr>
          <a:xfrm>
            <a:off x="747713" y="283086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An SVG is embedded below:</a:t>
            </a:r>
            <a:endParaRPr lang="en-US" sz="2175"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13" y="3397597"/>
            <a:ext cx="1905000" cy="952500"/>
          </a:xfrm>
          <a:prstGeom prst="rect">
            <a:avLst/>
          </a:prstGeom>
        </p:spPr>
      </p:pic>
      <p:sp>
        <p:nvSpPr>
          <p:cNvPr id="5" name="Text 2"/>
          <p:cNvSpPr/>
          <p:nvPr/>
        </p:nvSpPr>
        <p:spPr>
          <a:xfrm>
            <a:off x="747713" y="445011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the SVG is correctly converted as an image.</a:t>
            </a:r>
            <a:endParaRPr lang="en-US" sz="2175" dirty="0"/>
          </a:p>
        </p:txBody>
      </p:sp>
      <p:sp>
        <p:nvSpPr>
          <p:cNvPr id="6"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31</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32: Header + all-elements compound test (final check)</a:t>
            </a:r>
            <a:endParaRPr lang="en-US" sz="3480" dirty="0"/>
          </a:p>
        </p:txBody>
      </p:sp>
      <p:sp>
        <p:nvSpPr>
          <p:cNvPr id="3" name="Text 1"/>
          <p:cNvSpPr/>
          <p:nvPr/>
        </p:nvSpPr>
        <p:spPr>
          <a:xfrm>
            <a:off x="747713" y="2213670"/>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Heading H2 </a:t>
            </a:r>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a:t>
            </a:r>
            <a:endParaRPr lang="en-US" sz="2828" dirty="0"/>
          </a:p>
        </p:txBody>
      </p:sp>
      <p:sp>
        <p:nvSpPr>
          <p:cNvPr id="4" name="Text 2"/>
          <p:cNvSpPr/>
          <p:nvPr/>
        </p:nvSpPr>
        <p:spPr>
          <a:xfrm>
            <a:off x="747713" y="2922538"/>
            <a:ext cx="11001375" cy="418951"/>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Bold</a:t>
            </a:r>
            <a:pPr algn="l" indent="0" marL="0">
              <a:lnSpc>
                <a:spcPct val="150000"/>
              </a:lnSpc>
              <a:buNone/>
            </a:pPr>
            <a:r>
              <a:rPr lang="en-US" sz="2175" i="1" dirty="0">
                <a:solidFill>
                  <a:srgbClr val="1F2328"/>
                </a:solidFill>
                <a:latin typeface="Segoe UI" pitchFamily="34" charset="0"/>
                <a:ea typeface="Segoe UI" pitchFamily="34" charset="-122"/>
                <a:cs typeface="Segoe UI" pitchFamily="34" charset="-120"/>
              </a:rPr>
              <a:t>Italic</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code</a:t>
            </a:r>
            <a:pPr algn="l" indent="0" marL="0">
              <a:lnSpc>
                <a:spcPct val="150000"/>
              </a:lnSpc>
              <a:buNone/>
            </a:pPr>
            <a:r>
              <a:rPr lang="en-US" sz="2175" strike="sngStrike" dirty="0">
                <a:solidFill>
                  <a:srgbClr val="1F2328"/>
                </a:solidFill>
                <a:latin typeface="Segoe UI" pitchFamily="34" charset="0"/>
                <a:ea typeface="Segoe UI" pitchFamily="34" charset="-122"/>
                <a:cs typeface="Segoe UI" pitchFamily="34" charset="-120"/>
              </a:rPr>
              <a:t>strikethrough</a:t>
            </a:r>
            <a:pPr algn="l" indent="0" marL="0">
              <a:lnSpc>
                <a:spcPct val="150000"/>
              </a:lnSpc>
              <a:buNone/>
            </a:pPr>
            <a:r>
              <a:rPr lang="en-US" sz="2175" u="sng" dirty="0">
                <a:solidFill>
                  <a:srgbClr val="0969D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Emoji</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Shape 3"/>
          <p:cNvSpPr/>
          <p:nvPr/>
        </p:nvSpPr>
        <p:spPr>
          <a:xfrm>
            <a:off x="747713" y="3493889"/>
            <a:ext cx="5291138" cy="3294459"/>
          </a:xfrm>
          <a:prstGeom prst="roundRect">
            <a:avLst>
              <a:gd name="adj" fmla="val 1284"/>
            </a:avLst>
          </a:prstGeom>
          <a:ln w="9525">
            <a:solidFill>
              <a:srgbClr val="CCCCCC"/>
            </a:solidFill>
            <a:prstDash val="solid"/>
          </a:ln>
        </p:spPr>
      </p:sp>
      <p:sp>
        <p:nvSpPr>
          <p:cNvPr id="6" name="Text 4"/>
          <p:cNvSpPr/>
          <p:nvPr/>
        </p:nvSpPr>
        <p:spPr>
          <a:xfrm>
            <a:off x="871538" y="3846314"/>
            <a:ext cx="50434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Left card </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endParaRPr lang="en-US" sz="2392" dirty="0"/>
          </a:p>
        </p:txBody>
      </p:sp>
      <p:sp>
        <p:nvSpPr>
          <p:cNvPr id="7" name="Text 5"/>
          <p:cNvSpPr/>
          <p:nvPr/>
        </p:nvSpPr>
        <p:spPr>
          <a:xfrm>
            <a:off x="871538" y="4378523"/>
            <a:ext cx="5043488"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A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B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a:p>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Bold item</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a:t>
            </a:r>
            <a:endParaRPr lang="en-US" sz="2175" dirty="0"/>
          </a:p>
        </p:txBody>
      </p:sp>
      <p:sp>
        <p:nvSpPr>
          <p:cNvPr id="8" name="Shape 6"/>
          <p:cNvSpPr/>
          <p:nvPr/>
        </p:nvSpPr>
        <p:spPr>
          <a:xfrm>
            <a:off x="871538" y="5912048"/>
            <a:ext cx="5043488" cy="600075"/>
          </a:xfrm>
          <a:prstGeom prst="roundRect">
            <a:avLst>
              <a:gd name="adj" fmla="val 29025"/>
            </a:avLst>
          </a:prstGeom>
          <a:solidFill>
            <a:srgbClr val="F6F8FA"/>
          </a:solidFill>
          <a:ln w="9525">
            <a:solidFill>
              <a:srgbClr val="D1D9E0"/>
            </a:solidFill>
            <a:prstDash val="solid"/>
          </a:ln>
        </p:spPr>
      </p:sp>
      <p:sp>
        <p:nvSpPr>
          <p:cNvPr id="9" name="Text 7"/>
          <p:cNvSpPr/>
          <p:nvPr/>
        </p:nvSpPr>
        <p:spPr>
          <a:xfrm>
            <a:off x="871538" y="5912048"/>
            <a:ext cx="5119688" cy="600075"/>
          </a:xfrm>
          <a:prstGeom prst="rect">
            <a:avLst/>
          </a:prstGeom>
          <a:noFill/>
          <a:ln/>
        </p:spPr>
        <p:txBody>
          <a:bodyPr wrap="square" lIns="152400" tIns="152400" rIns="152400" bIns="152400" rtlCol="0" anchor="t"/>
          <a:lstStyle/>
          <a:p>
            <a:pPr algn="l" indent="0" marL="0">
              <a:lnSpc>
                <a:spcPct val="115000"/>
              </a:lnSpc>
              <a:buNone/>
            </a:pPr>
            <a:r>
              <a:rPr lang="en-US" sz="1849" dirty="0">
                <a:solidFill>
                  <a:srgbClr val="CF222E"/>
                </a:solidFill>
                <a:latin typeface="Consolas" pitchFamily="34" charset="0"/>
                <a:ea typeface="Consolas" pitchFamily="34" charset="-122"/>
                <a:cs typeface="Consolas" pitchFamily="34" charset="-120"/>
              </a:rPr>
              <a:t>const</a:t>
            </a:r>
            <a:pPr algn="l" indent="0" marL="0">
              <a:lnSpc>
                <a:spcPct val="115000"/>
              </a:lnSpc>
              <a:buNone/>
            </a:pPr>
            <a:r>
              <a:rPr lang="en-US" sz="1849" dirty="0">
                <a:solidFill>
                  <a:srgbClr val="1F2328"/>
                </a:solidFill>
                <a:latin typeface="Consolas" pitchFamily="34" charset="0"/>
                <a:ea typeface="Consolas" pitchFamily="34" charset="-122"/>
                <a:cs typeface="Consolas" pitchFamily="34" charset="-120"/>
              </a:rPr>
              <a:t> x = </a:t>
            </a:r>
            <a:pPr algn="l" indent="0" marL="0">
              <a:lnSpc>
                <a:spcPct val="115000"/>
              </a:lnSpc>
              <a:buNone/>
            </a:pPr>
            <a:r>
              <a:rPr lang="en-US" sz="1849" dirty="0">
                <a:solidFill>
                  <a:srgbClr val="0550AE"/>
                </a:solidFill>
                <a:latin typeface="Consolas" pitchFamily="34" charset="0"/>
                <a:ea typeface="Consolas" pitchFamily="34" charset="-122"/>
                <a:cs typeface="Consolas" pitchFamily="34" charset="-120"/>
              </a:rPr>
              <a:t>1</a:t>
            </a:r>
            <a:endParaRPr lang="en-US" sz="1849"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153150" y="3493889"/>
          <a:ext cx="1845618" cy="914400"/>
        </p:xfrm>
        <a:graphic>
          <a:graphicData uri="http://schemas.openxmlformats.org/drawingml/2006/table">
            <a:tbl>
              <a:tblPr/>
              <a:tblGrid>
                <a:gridCol w="923925"/>
                <a:gridCol w="904875"/>
              </a:tblGrid>
              <a:tr h="0">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Col A</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b="1" dirty="0">
                          <a:solidFill>
                            <a:srgbClr val="1F2328"/>
                          </a:solidFill>
                          <a:latin typeface="Segoe UI" pitchFamily="34" charset="0"/>
                          <a:ea typeface="Segoe UI" pitchFamily="34" charset="-122"/>
                          <a:cs typeface="Segoe UI" pitchFamily="34" charset="-120"/>
                        </a:rPr>
                        <a:t>Col B</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Val 1</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100</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Val 2</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r" indent="0" marL="0">
                        <a:buNone/>
                      </a:pPr>
                      <a:r>
                        <a:rPr lang="en-US" sz="2175" dirty="0">
                          <a:solidFill>
                            <a:srgbClr val="1F2328"/>
                          </a:solidFill>
                          <a:latin typeface="Segoe UI" pitchFamily="34" charset="0"/>
                          <a:ea typeface="Segoe UI" pitchFamily="34" charset="-122"/>
                          <a:cs typeface="Segoe UI" pitchFamily="34" charset="-120"/>
                        </a:rPr>
                        <a:t>200</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bl>
          </a:graphicData>
        </a:graphic>
      </p:graphicFrame>
      <p:sp>
        <p:nvSpPr>
          <p:cNvPr id="11" name="Shape 8"/>
          <p:cNvSpPr/>
          <p:nvPr/>
        </p:nvSpPr>
        <p:spPr>
          <a:xfrm>
            <a:off x="6153150" y="5270302"/>
            <a:ext cx="66675" cy="414338"/>
          </a:xfrm>
          <a:prstGeom prst="rect">
            <a:avLst/>
          </a:prstGeom>
          <a:solidFill>
            <a:srgbClr val="D1D9E0"/>
          </a:solidFill>
          <a:ln/>
        </p:spPr>
      </p:sp>
      <p:sp>
        <p:nvSpPr>
          <p:cNvPr id="12" name="Text 9"/>
          <p:cNvSpPr/>
          <p:nvPr/>
        </p:nvSpPr>
        <p:spPr>
          <a:xfrm>
            <a:off x="6219825" y="5270302"/>
            <a:ext cx="5224462" cy="414338"/>
          </a:xfrm>
          <a:prstGeom prst="rect">
            <a:avLst/>
          </a:prstGeom>
          <a:noFill/>
          <a:ln/>
        </p:spPr>
        <p:txBody>
          <a:bodyPr wrap="square" lIns="276225" tIns="0" rIns="276225" bIns="0" rtlCol="0" anchor="t"/>
          <a:lstStyle/>
          <a:p>
            <a:pPr algn="l" indent="0" marL="0">
              <a:lnSpc>
                <a:spcPct val="150000"/>
              </a:lnSpc>
              <a:buNone/>
            </a:pPr>
            <a:r>
              <a:rPr lang="en-US" sz="2175" dirty="0">
                <a:solidFill>
                  <a:srgbClr val="59636E"/>
                </a:solidFill>
                <a:latin typeface="Segoe UI" pitchFamily="34" charset="0"/>
                <a:ea typeface="Segoe UI" pitchFamily="34" charset="-122"/>
                <a:cs typeface="Segoe UI" pitchFamily="34" charset="-120"/>
              </a:rPr>
              <a:t>Blockquote text</a:t>
            </a:r>
            <a:endParaRPr lang="en-US" sz="2175" dirty="0"/>
          </a:p>
        </p:txBody>
      </p:sp>
      <p:sp>
        <p:nvSpPr>
          <p:cNvPr id="13" name="Text 10"/>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32</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33: </a:t>
            </a:r>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a:t>
            </a:r>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 Emoji between text (tight list) ← Important bug verification</a:t>
            </a:r>
            <a:endParaRPr lang="en-US" sz="3480" dirty="0"/>
          </a:p>
        </p:txBody>
      </p:sp>
      <p:sp>
        <p:nvSpPr>
          <p:cNvPr id="3" name="Text 1"/>
          <p:cNvSpPr/>
          <p:nvPr/>
        </p:nvSpPr>
        <p:spPr>
          <a:xfrm>
            <a:off x="747713" y="2137470"/>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Testing agents and skills</a:t>
            </a:r>
            <a:endParaRPr lang="en-US" sz="2175" dirty="0"/>
          </a:p>
        </p:txBody>
      </p:sp>
      <p:sp>
        <p:nvSpPr>
          <p:cNvPr id="4" name="Text 2"/>
          <p:cNvSpPr/>
          <p:nvPr/>
        </p:nvSpPr>
        <p:spPr>
          <a:xfrm>
            <a:off x="747713" y="2704207"/>
            <a:ext cx="10696575" cy="2693194"/>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that a series of tasks completes automatically in 5–10 minutes: "Bug fix request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Analysis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Plan</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Auto unit test impl</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Fix</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Auto unit test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Fix</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Code review</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Fix</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Test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Completion report"</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Identify and share which agents and skills are effective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 (tight list, direct img)</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Flow A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Flow B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Flow C</a:t>
            </a:r>
            <a:endParaRPr lang="en-US" sz="2175" dirty="0"/>
          </a:p>
        </p:txBody>
      </p:sp>
      <p:sp>
        <p:nvSpPr>
          <p:cNvPr id="5" name="Text 3"/>
          <p:cNvSpPr/>
          <p:nvPr/>
        </p:nvSpPr>
        <p:spPr>
          <a:xfrm>
            <a:off x="747713" y="5549801"/>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Also verify outside bullet lists:</a:t>
            </a:r>
            <a:endParaRPr lang="en-US" sz="2175" dirty="0"/>
          </a:p>
        </p:txBody>
      </p:sp>
      <p:sp>
        <p:nvSpPr>
          <p:cNvPr id="6" name="Text 4"/>
          <p:cNvSpPr/>
          <p:nvPr/>
        </p:nvSpPr>
        <p:spPr>
          <a:xfrm>
            <a:off x="747713" y="6116538"/>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(no spaces before/after)</a:t>
            </a:r>
            <a:endParaRPr lang="en-US" sz="2175" dirty="0"/>
          </a:p>
        </p:txBody>
      </p:sp>
      <p:sp>
        <p:nvSpPr>
          <p:cNvPr id="7" name="Text 5"/>
          <p:cNvSpPr/>
          <p:nvPr/>
        </p:nvSpPr>
        <p:spPr>
          <a:xfrm>
            <a:off x="747713" y="6683276"/>
            <a:ext cx="11001375" cy="17472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Previous text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Next text (with spaces)</a:t>
            </a:r>
            <a:endParaRPr lang="en-US" sz="2175" dirty="0"/>
          </a:p>
        </p:txBody>
      </p:sp>
      <p:sp>
        <p:nvSpPr>
          <p:cNvPr id="8" name="Text 6"/>
          <p:cNvSpPr/>
          <p:nvPr/>
        </p:nvSpPr>
        <p:spPr>
          <a:xfrm>
            <a:off x="747713" y="7250013"/>
            <a:ext cx="11001375" cy="9144"/>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Verification in lists:</a:t>
            </a:r>
            <a:endParaRPr lang="en-US" sz="2175" dirty="0"/>
          </a:p>
        </p:txBody>
      </p:sp>
      <p:sp>
        <p:nvSpPr>
          <p:cNvPr id="9" name="Text 7"/>
          <p:cNvSpPr/>
          <p:nvPr/>
        </p:nvSpPr>
        <p:spPr>
          <a:xfrm>
            <a:off x="747713" y="7816751"/>
            <a:ext cx="10696575" cy="9144"/>
          </a:xfrm>
          <a:prstGeom prst="rect">
            <a:avLst/>
          </a:prstGeom>
          <a:noFill/>
          <a:ln/>
        </p:spPr>
        <p:txBody>
          <a:bodyPr wrap="square" lIns="0" tIns="0" rIns="0" bIns="0" rtlCol="0" anchor="t"/>
          <a:lstStyle/>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 A</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Step B</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Step C</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Step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Done</a:t>
            </a:r>
            <a:endParaRPr lang="en-US" sz="2175" dirty="0"/>
          </a:p>
        </p:txBody>
      </p:sp>
      <p:sp>
        <p:nvSpPr>
          <p:cNvPr id="10" name="Text 8"/>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33</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74771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34: Inline badges (border-radius rounded) ← Important bug verification</a:t>
            </a:r>
            <a:endParaRPr lang="en-US" sz="3480" dirty="0"/>
          </a:p>
        </p:txBody>
      </p:sp>
      <p:sp>
        <p:nvSpPr>
          <p:cNvPr id="3" name="Text 1"/>
          <p:cNvSpPr/>
          <p:nvPr/>
        </p:nvSpPr>
        <p:spPr>
          <a:xfrm>
            <a:off x="747713" y="213747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Status badges (span with rounded background):</a:t>
            </a:r>
            <a:endParaRPr lang="en-US" sz="2175" dirty="0"/>
          </a:p>
        </p:txBody>
      </p:sp>
      <p:sp>
        <p:nvSpPr>
          <p:cNvPr id="4" name="Shape 2"/>
          <p:cNvSpPr/>
          <p:nvPr/>
        </p:nvSpPr>
        <p:spPr>
          <a:xfrm>
            <a:off x="2591246" y="2742307"/>
            <a:ext cx="1368475" cy="352425"/>
          </a:xfrm>
          <a:prstGeom prst="roundRect">
            <a:avLst>
              <a:gd name="adj" fmla="val 129730"/>
            </a:avLst>
          </a:prstGeom>
          <a:solidFill>
            <a:srgbClr val="E53E3E"/>
          </a:solidFill>
          <a:ln/>
        </p:spPr>
      </p:sp>
      <p:sp>
        <p:nvSpPr>
          <p:cNvPr id="5" name="Text 3"/>
          <p:cNvSpPr/>
          <p:nvPr/>
        </p:nvSpPr>
        <p:spPr>
          <a:xfrm>
            <a:off x="2591246" y="2742307"/>
            <a:ext cx="1368475" cy="352425"/>
          </a:xfrm>
          <a:prstGeom prst="rect">
            <a:avLst/>
          </a:prstGeom>
          <a:no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Not started</a:t>
            </a:r>
            <a:endParaRPr lang="en-US" sz="1849" dirty="0"/>
          </a:p>
        </p:txBody>
      </p:sp>
      <p:sp>
        <p:nvSpPr>
          <p:cNvPr id="6" name="Shape 4"/>
          <p:cNvSpPr/>
          <p:nvPr/>
        </p:nvSpPr>
        <p:spPr>
          <a:xfrm>
            <a:off x="2048173" y="3156645"/>
            <a:ext cx="1349425" cy="352425"/>
          </a:xfrm>
          <a:prstGeom prst="roundRect">
            <a:avLst>
              <a:gd name="adj" fmla="val 129730"/>
            </a:avLst>
          </a:prstGeom>
          <a:solidFill>
            <a:srgbClr val="3182CE"/>
          </a:solidFill>
          <a:ln/>
        </p:spPr>
      </p:sp>
      <p:sp>
        <p:nvSpPr>
          <p:cNvPr id="7" name="Text 5"/>
          <p:cNvSpPr/>
          <p:nvPr/>
        </p:nvSpPr>
        <p:spPr>
          <a:xfrm>
            <a:off x="2048173" y="3156645"/>
            <a:ext cx="1349425" cy="352425"/>
          </a:xfrm>
          <a:prstGeom prst="rect">
            <a:avLst/>
          </a:prstGeom>
          <a:no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In progress</a:t>
            </a:r>
            <a:endParaRPr lang="en-US" sz="1849" dirty="0"/>
          </a:p>
        </p:txBody>
      </p:sp>
      <p:sp>
        <p:nvSpPr>
          <p:cNvPr id="8" name="Shape 6"/>
          <p:cNvSpPr/>
          <p:nvPr/>
        </p:nvSpPr>
        <p:spPr>
          <a:xfrm>
            <a:off x="2065883" y="3570982"/>
            <a:ext cx="1082427" cy="352425"/>
          </a:xfrm>
          <a:prstGeom prst="roundRect">
            <a:avLst>
              <a:gd name="adj" fmla="val 129730"/>
            </a:avLst>
          </a:prstGeom>
          <a:solidFill>
            <a:srgbClr val="38A169"/>
          </a:solidFill>
          <a:ln/>
        </p:spPr>
      </p:sp>
      <p:sp>
        <p:nvSpPr>
          <p:cNvPr id="9" name="Text 7"/>
          <p:cNvSpPr/>
          <p:nvPr/>
        </p:nvSpPr>
        <p:spPr>
          <a:xfrm>
            <a:off x="2065883" y="3570982"/>
            <a:ext cx="1082427" cy="352425"/>
          </a:xfrm>
          <a:prstGeom prst="rect">
            <a:avLst/>
          </a:prstGeom>
          <a:noFill/>
          <a:ln/>
        </p:spPr>
        <p:txBody>
          <a:bodyPr wrap="square" lIns="0" tIns="0" rIns="0" bIns="0" rtlCol="0" anchor="ctr"/>
          <a:lstStyle/>
          <a:p>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Done </a:t>
            </a:r>
            <a:pPr algn="ctr" indent="0" marL="0">
              <a:lnSpc>
                <a:spcPct val="100000"/>
              </a:lnSpc>
              <a:buNone/>
            </a:pPr>
            <a:r>
              <a:rPr lang="en-US" sz="1849" dirty="0">
                <a:solidFill>
                  <a:srgbClr val="FFFFFF"/>
                </a:solidFill>
                <a:latin typeface="Segoe UI" pitchFamily="34" charset="0"/>
                <a:ea typeface="Segoe UI" pitchFamily="34" charset="-122"/>
                <a:cs typeface="Segoe UI" pitchFamily="34" charset="-120"/>
              </a:rPr>
              <a:t>✅</a:t>
            </a:r>
            <a:endParaRPr lang="en-US" sz="1849" dirty="0"/>
          </a:p>
        </p:txBody>
      </p:sp>
      <p:sp>
        <p:nvSpPr>
          <p:cNvPr id="10" name="Text 8"/>
          <p:cNvSpPr/>
          <p:nvPr/>
        </p:nvSpPr>
        <p:spPr>
          <a:xfrm>
            <a:off x="747713" y="2704207"/>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Current status: </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Next step: </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Complete: </a:t>
            </a:r>
            <a:endParaRPr lang="en-US" sz="2175" dirty="0"/>
          </a:p>
        </p:txBody>
      </p:sp>
      <p:sp>
        <p:nvSpPr>
          <p:cNvPr id="11" name="Text 9"/>
          <p:cNvSpPr/>
          <p:nvPr/>
        </p:nvSpPr>
        <p:spPr>
          <a:xfrm>
            <a:off x="747713" y="409962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Labeled badges (center-aligned with display:inline-flex):</a:t>
            </a:r>
            <a:endParaRPr lang="en-US" sz="2175" dirty="0"/>
          </a:p>
        </p:txBody>
      </p:sp>
      <p:sp>
        <p:nvSpPr>
          <p:cNvPr id="12" name="Shape 10"/>
          <p:cNvSpPr/>
          <p:nvPr/>
        </p:nvSpPr>
        <p:spPr>
          <a:xfrm>
            <a:off x="747713" y="4666357"/>
            <a:ext cx="935831" cy="490538"/>
          </a:xfrm>
          <a:prstGeom prst="roundRect">
            <a:avLst>
              <a:gd name="adj" fmla="val 93204"/>
            </a:avLst>
          </a:prstGeom>
          <a:solidFill>
            <a:srgbClr val="C05621"/>
          </a:solidFill>
          <a:ln/>
        </p:spPr>
      </p:sp>
      <p:sp>
        <p:nvSpPr>
          <p:cNvPr id="13" name="Text 11"/>
          <p:cNvSpPr/>
          <p:nvPr/>
        </p:nvSpPr>
        <p:spPr>
          <a:xfrm>
            <a:off x="747713" y="4666357"/>
            <a:ext cx="935831" cy="490538"/>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HIGH</a:t>
            </a:r>
            <a:endParaRPr lang="en-US" sz="2175" dirty="0"/>
          </a:p>
        </p:txBody>
      </p:sp>
      <p:sp>
        <p:nvSpPr>
          <p:cNvPr id="14" name="Shape 12"/>
          <p:cNvSpPr/>
          <p:nvPr/>
        </p:nvSpPr>
        <p:spPr>
          <a:xfrm>
            <a:off x="1721644" y="4666357"/>
            <a:ext cx="843707" cy="490538"/>
          </a:xfrm>
          <a:prstGeom prst="roundRect">
            <a:avLst>
              <a:gd name="adj" fmla="val 93204"/>
            </a:avLst>
          </a:prstGeom>
          <a:solidFill>
            <a:srgbClr val="DD6B20"/>
          </a:solidFill>
          <a:ln/>
        </p:spPr>
      </p:sp>
      <p:sp>
        <p:nvSpPr>
          <p:cNvPr id="15" name="Text 13"/>
          <p:cNvSpPr/>
          <p:nvPr/>
        </p:nvSpPr>
        <p:spPr>
          <a:xfrm>
            <a:off x="1721644" y="4666357"/>
            <a:ext cx="843707" cy="490538"/>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MED</a:t>
            </a:r>
            <a:endParaRPr lang="en-US" sz="2175" dirty="0"/>
          </a:p>
        </p:txBody>
      </p:sp>
      <p:sp>
        <p:nvSpPr>
          <p:cNvPr id="16" name="Shape 14"/>
          <p:cNvSpPr/>
          <p:nvPr/>
        </p:nvSpPr>
        <p:spPr>
          <a:xfrm>
            <a:off x="2603450" y="4666357"/>
            <a:ext cx="850106" cy="490538"/>
          </a:xfrm>
          <a:prstGeom prst="roundRect">
            <a:avLst>
              <a:gd name="adj" fmla="val 93204"/>
            </a:avLst>
          </a:prstGeom>
          <a:solidFill>
            <a:srgbClr val="2F855A"/>
          </a:solidFill>
          <a:ln/>
        </p:spPr>
      </p:sp>
      <p:sp>
        <p:nvSpPr>
          <p:cNvPr id="17" name="Text 15"/>
          <p:cNvSpPr/>
          <p:nvPr/>
        </p:nvSpPr>
        <p:spPr>
          <a:xfrm>
            <a:off x="2603450" y="4666357"/>
            <a:ext cx="850106" cy="490538"/>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LOW</a:t>
            </a:r>
            <a:endParaRPr lang="en-US" sz="2175" dirty="0"/>
          </a:p>
        </p:txBody>
      </p:sp>
      <p:sp>
        <p:nvSpPr>
          <p:cNvPr id="18" name="Text 16"/>
          <p:cNvSpPr/>
          <p:nvPr/>
        </p:nvSpPr>
        <p:spPr>
          <a:xfrm>
            <a:off x="747713" y="5309295"/>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Circle badges (step numbers, perfect circle):</a:t>
            </a:r>
            <a:endParaRPr lang="en-US" sz="2175" dirty="0"/>
          </a:p>
        </p:txBody>
      </p:sp>
      <p:sp>
        <p:nvSpPr>
          <p:cNvPr id="19" name="Shape 17"/>
          <p:cNvSpPr/>
          <p:nvPr/>
        </p:nvSpPr>
        <p:spPr>
          <a:xfrm>
            <a:off x="747713" y="5949851"/>
            <a:ext cx="266700" cy="266700"/>
          </a:xfrm>
          <a:prstGeom prst="roundRect">
            <a:avLst>
              <a:gd name="adj" fmla="val 171429"/>
            </a:avLst>
          </a:prstGeom>
          <a:solidFill>
            <a:srgbClr val="3182CE"/>
          </a:solidFill>
          <a:ln/>
        </p:spPr>
      </p:sp>
      <p:sp>
        <p:nvSpPr>
          <p:cNvPr id="20" name="Text 18"/>
          <p:cNvSpPr/>
          <p:nvPr/>
        </p:nvSpPr>
        <p:spPr>
          <a:xfrm>
            <a:off x="747713" y="5949851"/>
            <a:ext cx="266700" cy="266700"/>
          </a:xfrm>
          <a:prstGeom prst="rect">
            <a:avLst/>
          </a:prstGeom>
          <a:noFill/>
          <a:ln/>
        </p:spPr>
        <p:txBody>
          <a:bodyPr wrap="square" lIns="0" tIns="0" rIns="0" bIns="0" rtlCol="0" anchor="ctr"/>
          <a:lstStyle/>
          <a:p>
            <a:pPr algn="ctr" indent="0" marL="0">
              <a:lnSpc>
                <a:spcPct val="100000"/>
              </a:lnSpc>
              <a:buNone/>
            </a:pPr>
            <a:r>
              <a:rPr lang="en-US" sz="2175" b="1" dirty="0">
                <a:solidFill>
                  <a:srgbClr val="FFFFFF"/>
                </a:solidFill>
                <a:latin typeface="Segoe UI" pitchFamily="34" charset="0"/>
                <a:ea typeface="Segoe UI" pitchFamily="34" charset="-122"/>
                <a:cs typeface="Segoe UI" pitchFamily="34" charset="-120"/>
              </a:rPr>
              <a:t>1</a:t>
            </a:r>
            <a:endParaRPr lang="en-US" sz="2175" dirty="0"/>
          </a:p>
        </p:txBody>
      </p:sp>
      <p:sp>
        <p:nvSpPr>
          <p:cNvPr id="21" name="Shape 19"/>
          <p:cNvSpPr/>
          <p:nvPr/>
        </p:nvSpPr>
        <p:spPr>
          <a:xfrm>
            <a:off x="1937891" y="5949851"/>
            <a:ext cx="266700" cy="266700"/>
          </a:xfrm>
          <a:prstGeom prst="roundRect">
            <a:avLst>
              <a:gd name="adj" fmla="val 171429"/>
            </a:avLst>
          </a:prstGeom>
          <a:solidFill>
            <a:srgbClr val="3182CE"/>
          </a:solidFill>
          <a:ln/>
        </p:spPr>
      </p:sp>
      <p:sp>
        <p:nvSpPr>
          <p:cNvPr id="22" name="Shape 20"/>
          <p:cNvSpPr/>
          <p:nvPr/>
        </p:nvSpPr>
        <p:spPr>
          <a:xfrm>
            <a:off x="4509195" y="5918895"/>
            <a:ext cx="266700" cy="266700"/>
          </a:xfrm>
          <a:prstGeom prst="roundRect">
            <a:avLst>
              <a:gd name="adj" fmla="val 171429"/>
            </a:avLst>
          </a:prstGeom>
          <a:solidFill>
            <a:srgbClr val="38A169"/>
          </a:solidFill>
          <a:ln/>
        </p:spPr>
      </p:sp>
      <p:sp>
        <p:nvSpPr>
          <p:cNvPr id="23" name="Text 21"/>
          <p:cNvSpPr/>
          <p:nvPr/>
        </p:nvSpPr>
        <p:spPr>
          <a:xfrm>
            <a:off x="1014413" y="5876032"/>
            <a:ext cx="107346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Install </a:t>
            </a:r>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2</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Create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config</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file </a:t>
            </a:r>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Verify operation</a:t>
            </a:r>
            <a:endParaRPr lang="en-US" sz="2175" dirty="0"/>
          </a:p>
        </p:txBody>
      </p:sp>
      <p:sp>
        <p:nvSpPr>
          <p:cNvPr id="24" name="Text 22"/>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34</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1978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35: Background image filter (![bg grayscale]) ← Important bug verification</a:t>
            </a:r>
            <a:endParaRPr lang="en-US" sz="3480" dirty="0"/>
          </a:p>
        </p:txBody>
      </p:sp>
      <p:sp>
        <p:nvSpPr>
          <p:cNvPr id="3" name="Text 1"/>
          <p:cNvSpPr/>
          <p:nvPr/>
        </p:nvSpPr>
        <p:spPr>
          <a:xfrm>
            <a:off x="747713" y="3709541"/>
            <a:ext cx="110013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This background uses _backgroundImage (CSS background-image).</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Background image test without filter. Verify that text is not displayed twice.</a:t>
            </a:r>
            <a:endParaRPr lang="en-US" sz="2175" dirty="0"/>
          </a:p>
        </p:txBody>
      </p:sp>
      <p:sp>
        <p:nvSpPr>
          <p:cNvPr id="4" name="Text 2"/>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35</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90427"/>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36: SVG + Badge + Emoji compound test</a:t>
            </a:r>
            <a:endParaRPr lang="en-US" sz="3480" dirty="0"/>
          </a:p>
        </p:txBody>
      </p:sp>
      <p:sp>
        <p:nvSpPr>
          <p:cNvPr id="3" name="Text 1"/>
          <p:cNvSpPr/>
          <p:nvPr/>
        </p:nvSpPr>
        <p:spPr>
          <a:xfrm>
            <a:off x="747713" y="2827734"/>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Flow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a:t>
            </a:r>
            <a:endParaRPr lang="en-US" sz="2175" dirty="0"/>
          </a:p>
        </p:txBody>
      </p:sp>
      <p:sp>
        <p:nvSpPr>
          <p:cNvPr id="4" name="Shape 2"/>
          <p:cNvSpPr/>
          <p:nvPr/>
        </p:nvSpPr>
        <p:spPr>
          <a:xfrm>
            <a:off x="747713" y="3436441"/>
            <a:ext cx="381000" cy="381000"/>
          </a:xfrm>
          <a:prstGeom prst="rect">
            <a:avLst/>
          </a:prstGeom>
          <a:solidFill>
            <a:srgbClr val="6B46C1"/>
          </a:solidFill>
          <a:ln/>
        </p:spPr>
      </p:sp>
      <p:sp>
        <p:nvSpPr>
          <p:cNvPr id="5" name="Text 3"/>
          <p:cNvSpPr/>
          <p:nvPr/>
        </p:nvSpPr>
        <p:spPr>
          <a:xfrm>
            <a:off x="747713" y="3436441"/>
            <a:ext cx="381000" cy="381000"/>
          </a:xfrm>
          <a:prstGeom prst="rect">
            <a:avLst/>
          </a:prstGeom>
          <a:noFill/>
          <a:ln/>
        </p:spPr>
        <p:txBody>
          <a:bodyPr wrap="square" lIns="0" tIns="0" rIns="0" bIns="0" rtlCol="0" anchor="ctr"/>
          <a:lstStyle/>
          <a:p>
            <a:pPr algn="ctr" indent="0" marL="0">
              <a:lnSpc>
                <a:spcPct val="100000"/>
              </a:lnSpc>
              <a:buNone/>
            </a:pPr>
            <a:r>
              <a:rPr lang="en-US" sz="1740" dirty="0">
                <a:solidFill>
                  <a:srgbClr val="FFFFFF"/>
                </a:solidFill>
                <a:latin typeface="Segoe UI" pitchFamily="34" charset="0"/>
                <a:ea typeface="Segoe UI" pitchFamily="34" charset="-122"/>
                <a:cs typeface="Segoe UI" pitchFamily="34" charset="-120"/>
              </a:rPr>
              <a:t>Design</a:t>
            </a:r>
            <a:endParaRPr lang="en-US" sz="1740" dirty="0"/>
          </a:p>
        </p:txBody>
      </p:sp>
      <p:sp>
        <p:nvSpPr>
          <p:cNvPr id="6" name="Shape 4"/>
          <p:cNvSpPr/>
          <p:nvPr/>
        </p:nvSpPr>
        <p:spPr>
          <a:xfrm>
            <a:off x="1128713" y="3411141"/>
            <a:ext cx="381000" cy="381000"/>
          </a:xfrm>
          <a:prstGeom prst="roundRect">
            <a:avLst>
              <a:gd name="adj" fmla="val 120000"/>
            </a:avLst>
          </a:prstGeom>
          <a:solidFill>
            <a:srgbClr val="38A169"/>
          </a:solidFill>
          <a:ln/>
        </p:spPr>
      </p:sp>
      <p:sp>
        <p:nvSpPr>
          <p:cNvPr id="7" name="Text 5"/>
          <p:cNvSpPr/>
          <p:nvPr/>
        </p:nvSpPr>
        <p:spPr>
          <a:xfrm>
            <a:off x="1128713" y="3411141"/>
            <a:ext cx="381000" cy="381000"/>
          </a:xfrm>
          <a:prstGeom prst="rect">
            <a:avLst/>
          </a:prstGeom>
          <a:noFill/>
          <a:ln/>
        </p:spPr>
        <p:txBody>
          <a:bodyPr wrap="square" lIns="0" tIns="0" rIns="0" bIns="0" rtlCol="0" anchor="ctr"/>
          <a:lstStyle/>
          <a:p>
            <a:pPr algn="ctr" indent="0" marL="0">
              <a:lnSpc>
                <a:spcPct val="100000"/>
              </a:lnSpc>
              <a:buNone/>
            </a:pPr>
            <a:r>
              <a:rPr lang="en-US" sz="2175" dirty="0">
                <a:solidFill>
                  <a:srgbClr val="FFFFFF"/>
                </a:solidFill>
                <a:latin typeface="Segoe UI" pitchFamily="34" charset="0"/>
                <a:ea typeface="Segoe UI" pitchFamily="34" charset="-122"/>
                <a:cs typeface="Segoe UI" pitchFamily="34" charset="-120"/>
              </a:rPr>
              <a:t> ✓</a:t>
            </a:r>
            <a:endParaRPr lang="en-US" sz="2175" dirty="0"/>
          </a:p>
        </p:txBody>
      </p:sp>
      <p:sp>
        <p:nvSpPr>
          <p:cNvPr id="8" name="Shape 6"/>
          <p:cNvSpPr/>
          <p:nvPr/>
        </p:nvSpPr>
        <p:spPr>
          <a:xfrm>
            <a:off x="2220813" y="4519910"/>
            <a:ext cx="1460302" cy="314325"/>
          </a:xfrm>
          <a:prstGeom prst="roundRect">
            <a:avLst>
              <a:gd name="adj" fmla="val 141047"/>
            </a:avLst>
          </a:prstGeom>
          <a:solidFill>
            <a:srgbClr val="C05621"/>
          </a:solidFill>
          <a:ln/>
        </p:spPr>
      </p:sp>
      <p:sp>
        <p:nvSpPr>
          <p:cNvPr id="9" name="Text 7"/>
          <p:cNvSpPr/>
          <p:nvPr/>
        </p:nvSpPr>
        <p:spPr>
          <a:xfrm>
            <a:off x="2220813" y="4519910"/>
            <a:ext cx="1460302" cy="314325"/>
          </a:xfrm>
          <a:prstGeom prst="rect">
            <a:avLst/>
          </a:prstGeom>
          <a:noFill/>
          <a:ln/>
        </p:spPr>
        <p:txBody>
          <a:bodyPr wrap="square" lIns="0" tIns="0" rIns="0" bIns="0" rtlCol="0" anchor="ctr"/>
          <a:lstStyle/>
          <a:p>
            <a:pPr algn="ctr" indent="0" marL="0">
              <a:lnSpc>
                <a:spcPct val="100000"/>
              </a:lnSpc>
              <a:buNone/>
            </a:pPr>
            <a:r>
              <a:rPr lang="en-US" sz="1740" dirty="0">
                <a:solidFill>
                  <a:srgbClr val="FFFFFF"/>
                </a:solidFill>
                <a:latin typeface="Segoe UI" pitchFamily="34" charset="0"/>
                <a:ea typeface="Segoe UI" pitchFamily="34" charset="-122"/>
                <a:cs typeface="Segoe UI" pitchFamily="34" charset="-120"/>
              </a:rPr>
              <a:t>Needs review</a:t>
            </a:r>
            <a:endParaRPr lang="en-US" sz="1740" dirty="0"/>
          </a:p>
        </p:txBody>
      </p:sp>
      <p:sp>
        <p:nvSpPr>
          <p:cNvPr id="10" name="Text 8"/>
          <p:cNvSpPr/>
          <p:nvPr/>
        </p:nvSpPr>
        <p:spPr>
          <a:xfrm>
            <a:off x="747713" y="3969841"/>
            <a:ext cx="10696575" cy="897731"/>
          </a:xfrm>
          <a:prstGeom prst="rect">
            <a:avLst/>
          </a:prstGeom>
          <a:noFill/>
          <a:ln/>
        </p:spPr>
        <p:txBody>
          <a:bodyPr wrap="square" lIns="0" tIns="0" rIns="0" bIns="0" rtlCol="0" anchor="t"/>
          <a:lstStyle/>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Design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Implementation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Test</a:t>
            </a:r>
            <a:endParaRPr lang="en-US" sz="2175" dirty="0"/>
          </a:p>
          <a:p>
            <a:pPr algn="l" marL="342900" indent="-342900">
              <a:lnSpc>
                <a:spcPct val="150000"/>
              </a:lnSpc>
              <a:buSzPct val="100000"/>
              <a:buFont typeface="+mj-lt"/>
              <a:buAutoNum type="arabicPeriod" startAt="1"/>
            </a:pPr>
            <a:r>
              <a:rPr lang="en-US" sz="2175" dirty="0">
                <a:solidFill>
                  <a:srgbClr val="1F2328"/>
                </a:solidFill>
                <a:latin typeface="Segoe UI" pitchFamily="34" charset="0"/>
                <a:ea typeface="Segoe UI" pitchFamily="34" charset="-122"/>
                <a:cs typeface="Segoe UI" pitchFamily="34" charset="-120"/>
              </a:rPr>
              <a:t>Review </a:t>
            </a:r>
            <a:endParaRPr lang="en-US" sz="2175" dirty="0"/>
          </a:p>
        </p:txBody>
      </p:sp>
      <p:sp>
        <p:nvSpPr>
          <p:cNvPr id="11" name="Text 9"/>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36</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53171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37: Mermaid (flowchart)</a:t>
            </a:r>
            <a:endParaRPr lang="en-US" sz="3480" dirty="0"/>
          </a:p>
        </p:txBody>
      </p:sp>
      <p:pic>
        <p:nvPicPr>
          <p:cNvPr id="3" name="Image 0" descr="preencoded.png">    </p:cNvPr>
          <p:cNvPicPr>
            <a:picLocks noChangeAspect="1"/>
          </p:cNvPicPr>
          <p:nvPr/>
        </p:nvPicPr>
        <p:blipFill>
          <a:blip r:embed="rId1"/>
          <a:stretch>
            <a:fillRect/>
          </a:stretch>
        </p:blipFill>
        <p:spPr>
          <a:xfrm>
            <a:off x="747713" y="3369022"/>
            <a:ext cx="6343948" cy="857250"/>
          </a:xfrm>
          <a:prstGeom prst="rect">
            <a:avLst/>
          </a:prstGeom>
        </p:spPr>
      </p:pic>
      <p:sp>
        <p:nvSpPr>
          <p:cNvPr id="4" name="Text 1"/>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37</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9350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38: Mermaid (sequence diagram)</a:t>
            </a:r>
            <a:endParaRPr lang="en-US" sz="348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713" y="2430810"/>
            <a:ext cx="4286250" cy="2733675"/>
          </a:xfrm>
          <a:prstGeom prst="rect">
            <a:avLst/>
          </a:prstGeom>
        </p:spPr>
      </p:pic>
      <p:sp>
        <p:nvSpPr>
          <p:cNvPr id="4" name="Text 1"/>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38</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33909"/>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39: Mermaid (multiple diagrams, 2-column layout)</a:t>
            </a:r>
            <a:endParaRPr lang="en-US" sz="3480" dirty="0"/>
          </a:p>
        </p:txBody>
      </p:sp>
      <p:sp>
        <p:nvSpPr>
          <p:cNvPr id="3" name="Text 1"/>
          <p:cNvSpPr/>
          <p:nvPr/>
        </p:nvSpPr>
        <p:spPr>
          <a:xfrm>
            <a:off x="747713" y="2423666"/>
            <a:ext cx="5272088"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Flowchart:</a:t>
            </a:r>
            <a:endParaRPr lang="en-US" sz="2175" dirty="0"/>
          </a:p>
        </p:txBody>
      </p:sp>
      <p:pic>
        <p:nvPicPr>
          <p:cNvPr id="4" name="Image 0" descr="preencoded.png">    </p:cNvPr>
          <p:cNvPicPr>
            <a:picLocks noChangeAspect="1"/>
          </p:cNvPicPr>
          <p:nvPr/>
        </p:nvPicPr>
        <p:blipFill>
          <a:blip r:embed="rId1"/>
          <a:stretch>
            <a:fillRect/>
          </a:stretch>
        </p:blipFill>
        <p:spPr>
          <a:xfrm>
            <a:off x="747713" y="2990404"/>
            <a:ext cx="2958405" cy="523875"/>
          </a:xfrm>
          <a:prstGeom prst="rect">
            <a:avLst/>
          </a:prstGeom>
        </p:spPr>
      </p:pic>
      <p:sp>
        <p:nvSpPr>
          <p:cNvPr id="5" name="Text 2"/>
          <p:cNvSpPr/>
          <p:nvPr/>
        </p:nvSpPr>
        <p:spPr>
          <a:xfrm>
            <a:off x="6172200" y="2423666"/>
            <a:ext cx="5576888"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Sequence diagram:</a:t>
            </a:r>
            <a:endParaRPr lang="en-US" sz="2175"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2200" y="2990404"/>
            <a:ext cx="4286250" cy="2733675"/>
          </a:xfrm>
          <a:prstGeom prst="rect">
            <a:avLst/>
          </a:prstGeom>
        </p:spPr>
      </p:pic>
      <p:sp>
        <p:nvSpPr>
          <p:cNvPr id="7"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39</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2563EB"/>
          </a:solidFill>
          <a:ln/>
        </p:spPr>
      </p:sp>
      <p:sp>
        <p:nvSpPr>
          <p:cNvPr id="3" name="Shape 1"/>
          <p:cNvSpPr/>
          <p:nvPr/>
        </p:nvSpPr>
        <p:spPr>
          <a:xfrm>
            <a:off x="0" y="6781800"/>
            <a:ext cx="12192000" cy="76200"/>
          </a:xfrm>
          <a:prstGeom prst="rect">
            <a:avLst/>
          </a:prstGeom>
          <a:solidFill>
            <a:srgbClr val="EA580C"/>
          </a:solidFill>
          <a:ln/>
        </p:spPr>
      </p:sp>
      <p:sp>
        <p:nvSpPr>
          <p:cNvPr id="4" name="Text 2"/>
          <p:cNvSpPr/>
          <p:nvPr/>
        </p:nvSpPr>
        <p:spPr>
          <a:xfrm>
            <a:off x="747713" y="1748433"/>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40: CSS Custom Properties + Pseudo-element bars</a:t>
            </a:r>
            <a:endParaRPr lang="en-US" sz="3480" dirty="0"/>
          </a:p>
        </p:txBody>
      </p:sp>
      <p:sp>
        <p:nvSpPr>
          <p:cNvPr id="5" name="Text 3"/>
          <p:cNvSpPr/>
          <p:nvPr/>
        </p:nvSpPr>
        <p:spPr>
          <a:xfrm>
            <a:off x="747713" y="3138190"/>
            <a:ext cx="11001375" cy="414338"/>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::before (top blue bar) and ::after (bottom orange bar) should be displayed.</a:t>
            </a:r>
            <a:endParaRPr lang="en-US" sz="2175" dirty="0"/>
          </a:p>
        </p:txBody>
      </p:sp>
      <p:sp>
        <p:nvSpPr>
          <p:cNvPr id="6" name="Text 4"/>
          <p:cNvSpPr/>
          <p:nvPr/>
        </p:nvSpPr>
        <p:spPr>
          <a:xfrm>
            <a:off x="747713" y="3704927"/>
            <a:ext cx="11001375" cy="833289"/>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slide uses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var(--brand)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var(--accent)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Test whether pseudo-elements are captured in screenshots or ignored.</a:t>
            </a:r>
            <a:endParaRPr lang="en-US" sz="2175" dirty="0"/>
          </a:p>
        </p:txBody>
      </p:sp>
      <p:sp>
        <p:nvSpPr>
          <p:cNvPr id="7" name="Text 5"/>
          <p:cNvSpPr/>
          <p:nvPr/>
        </p:nvSpPr>
        <p:spPr>
          <a:xfrm>
            <a:off x="747713" y="4690616"/>
            <a:ext cx="11001375" cy="418951"/>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color specified with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var(--ink)</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2175" dirty="0">
                <a:solidFill>
                  <a:srgbClr val="1E293B"/>
                </a:solidFill>
                <a:latin typeface="Segoe UI" pitchFamily="34" charset="0"/>
                <a:ea typeface="Segoe UI" pitchFamily="34" charset="-122"/>
                <a:cs typeface="Segoe UI" pitchFamily="34" charset="-120"/>
              </a:rPr>
              <a:t>This text is dark.</a:t>
            </a:r>
            <a:endParaRPr lang="en-US" sz="21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1432024"/>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41: Gradient background + border-left heading</a:t>
            </a:r>
            <a:endParaRPr lang="en-US" sz="3480" dirty="0"/>
          </a:p>
        </p:txBody>
      </p:sp>
      <p:sp>
        <p:nvSpPr>
          <p:cNvPr id="3" name="Shape 1"/>
          <p:cNvSpPr/>
          <p:nvPr/>
        </p:nvSpPr>
        <p:spPr>
          <a:xfrm>
            <a:off x="747713" y="2345531"/>
            <a:ext cx="47625" cy="556468"/>
          </a:xfrm>
          <a:prstGeom prst="rect">
            <a:avLst/>
          </a:prstGeom>
          <a:solidFill>
            <a:srgbClr val="2563EB"/>
          </a:solidFill>
          <a:ln w="12700">
            <a:solidFill>
              <a:srgbClr val="2563EB"/>
            </a:solidFill>
            <a:prstDash val="solid"/>
          </a:ln>
        </p:spPr>
      </p:sp>
      <p:sp>
        <p:nvSpPr>
          <p:cNvPr id="4" name="Text 2"/>
          <p:cNvSpPr/>
          <p:nvPr/>
        </p:nvSpPr>
        <p:spPr>
          <a:xfrm>
            <a:off x="795338" y="2345531"/>
            <a:ext cx="11244263" cy="556468"/>
          </a:xfrm>
          <a:prstGeom prst="rect">
            <a:avLst/>
          </a:prstGeom>
          <a:noFill/>
          <a:ln/>
        </p:spPr>
        <p:txBody>
          <a:bodyPr wrap="square" lIns="11430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Section heading (with left border)</a:t>
            </a:r>
            <a:endParaRPr lang="en-US" sz="2828" dirty="0"/>
          </a:p>
        </p:txBody>
      </p:sp>
      <p:sp>
        <p:nvSpPr>
          <p:cNvPr id="5" name="Text 3"/>
          <p:cNvSpPr/>
          <p:nvPr/>
        </p:nvSpPr>
        <p:spPr>
          <a:xfrm>
            <a:off x="747713" y="3054400"/>
            <a:ext cx="11001375" cy="837902"/>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Background is </a:t>
            </a:r>
            <a:pPr algn="l" indent="0" marL="0">
              <a:lnSpc>
                <a:spcPct val="150000"/>
              </a:lnSpc>
              <a:buNone/>
            </a:pPr>
            <a:r>
              <a:rPr lang="en-US" sz="1849" dirty="0">
                <a:solidFill>
                  <a:srgbClr val="1F2328"/>
                </a:solidFill>
                <a:highlight>
                  <a:srgbClr val="D5E6F2"/>
                </a:highlight>
                <a:latin typeface="Consolas" pitchFamily="34" charset="0"/>
                <a:ea typeface="Consolas" pitchFamily="34" charset="-122"/>
                <a:cs typeface="Consolas" pitchFamily="34" charset="-120"/>
              </a:rPr>
              <a:t>linear-gradient(135deg, #f0f9ff 0%, #e0f2fe 100%)</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Heading h2 has </a:t>
            </a:r>
            <a:pPr algn="l" indent="0" marL="0">
              <a:lnSpc>
                <a:spcPct val="150000"/>
              </a:lnSpc>
              <a:buNone/>
            </a:pPr>
            <a:r>
              <a:rPr lang="en-US" sz="1849" dirty="0">
                <a:solidFill>
                  <a:srgbClr val="1F2328"/>
                </a:solidFill>
                <a:highlight>
                  <a:srgbClr val="D5E6F2"/>
                </a:highlight>
                <a:latin typeface="Consolas" pitchFamily="34" charset="0"/>
                <a:ea typeface="Consolas" pitchFamily="34" charset="-122"/>
                <a:cs typeface="Consolas" pitchFamily="34" charset="-120"/>
              </a:rPr>
              <a:t>border-left: 5px solid var(--brand)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applied.</a:t>
            </a:r>
            <a:endParaRPr lang="en-US" sz="2175" dirty="0"/>
          </a:p>
        </p:txBody>
      </p:sp>
      <p:sp>
        <p:nvSpPr>
          <p:cNvPr id="6" name="Text 4"/>
          <p:cNvSpPr/>
          <p:nvPr/>
        </p:nvSpPr>
        <p:spPr>
          <a:xfrm>
            <a:off x="747713" y="4044702"/>
            <a:ext cx="106965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Point 1: CSS Custom Properties should resolve correctly</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Point 2: gradient should fall back or be screenshotted in PPTX</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Point 3: border-left should appear as a blue line</a:t>
            </a:r>
            <a:endParaRPr lang="en-US" sz="2175" dirty="0"/>
          </a:p>
        </p:txBody>
      </p:sp>
      <p:sp>
        <p:nvSpPr>
          <p:cNvPr id="7" name="Text 5"/>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41</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024658"/>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42: Marker-style highlight (gradient strong)</a:t>
            </a:r>
            <a:endParaRPr lang="en-US" sz="3480" dirty="0"/>
          </a:p>
        </p:txBody>
      </p:sp>
      <p:sp>
        <p:nvSpPr>
          <p:cNvPr id="3" name="Text 1"/>
          <p:cNvSpPr/>
          <p:nvPr/>
        </p:nvSpPr>
        <p:spPr>
          <a:xfrm>
            <a:off x="747713" y="2861965"/>
            <a:ext cx="11001375" cy="837902"/>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text has a </a:t>
            </a:r>
            <a:pPr algn="l" indent="0" marL="0">
              <a:lnSpc>
                <a:spcPct val="150000"/>
              </a:lnSpc>
              <a:buNone/>
            </a:pPr>
            <a:r>
              <a:rPr lang="en-US" sz="2175" b="1" dirty="0">
                <a:solidFill>
                  <a:srgbClr val="1F2328"/>
                </a:solidFill>
                <a:highlight>
                  <a:srgbClr val="FFF2A8"/>
                </a:highlight>
                <a:latin typeface="Segoe UI" pitchFamily="34" charset="0"/>
                <a:ea typeface="Segoe UI" pitchFamily="34" charset="-122"/>
                <a:cs typeface="Segoe UI" pitchFamily="34" charset="-120"/>
              </a:rPr>
              <a:t>marker-style highlight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applied. The style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linear-gradient(transparent 62%, #fff2a8 62%)</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colours only the bottom 38% yellow.</a:t>
            </a:r>
            <a:endParaRPr lang="en-US" sz="2175" dirty="0"/>
          </a:p>
        </p:txBody>
      </p:sp>
      <p:sp>
        <p:nvSpPr>
          <p:cNvPr id="4" name="Text 2"/>
          <p:cNvSpPr/>
          <p:nvPr/>
        </p:nvSpPr>
        <p:spPr>
          <a:xfrm>
            <a:off x="747713" y="3852267"/>
            <a:ext cx="110013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highlight>
                  <a:srgbClr val="FFF2A8"/>
                </a:highlight>
                <a:latin typeface="Segoe UI" pitchFamily="34" charset="0"/>
                <a:ea typeface="Segoe UI" pitchFamily="34" charset="-122"/>
                <a:cs typeface="Segoe UI" pitchFamily="34" charset="-120"/>
              </a:rPr>
              <a:t>Important keywords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emphasised with this technique. Test whether the marker portion is rendered as text highlight or background colour in PPTX.</a:t>
            </a:r>
            <a:endParaRPr lang="en-US" sz="2175" dirty="0"/>
          </a:p>
        </p:txBody>
      </p:sp>
      <p:sp>
        <p:nvSpPr>
          <p:cNvPr id="5"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42</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3875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43: Scoped style step badge (pill shape)</a:t>
            </a:r>
            <a:endParaRPr lang="en-US" sz="3480" dirty="0"/>
          </a:p>
        </p:txBody>
      </p:sp>
      <p:sp>
        <p:nvSpPr>
          <p:cNvPr id="3" name="Shape 1"/>
          <p:cNvSpPr/>
          <p:nvPr/>
        </p:nvSpPr>
        <p:spPr>
          <a:xfrm>
            <a:off x="747713" y="2661791"/>
            <a:ext cx="514350" cy="333375"/>
          </a:xfrm>
          <a:prstGeom prst="roundRect">
            <a:avLst>
              <a:gd name="adj" fmla="val 137143"/>
            </a:avLst>
          </a:prstGeom>
          <a:solidFill>
            <a:srgbClr val="2563EB"/>
          </a:solidFill>
          <a:ln/>
        </p:spPr>
      </p:sp>
      <p:sp>
        <p:nvSpPr>
          <p:cNvPr id="4" name="Text 2"/>
          <p:cNvSpPr/>
          <p:nvPr/>
        </p:nvSpPr>
        <p:spPr>
          <a:xfrm>
            <a:off x="747713" y="2661791"/>
            <a:ext cx="514350" cy="333375"/>
          </a:xfrm>
          <a:prstGeom prst="rect">
            <a:avLst/>
          </a:prstGeom>
          <a:no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01</a:t>
            </a:r>
            <a:endParaRPr lang="en-US" sz="1350" dirty="0"/>
          </a:p>
        </p:txBody>
      </p:sp>
      <p:sp>
        <p:nvSpPr>
          <p:cNvPr id="5" name="Text 3"/>
          <p:cNvSpPr/>
          <p:nvPr/>
        </p:nvSpPr>
        <p:spPr>
          <a:xfrm>
            <a:off x="1262063" y="2576066"/>
            <a:ext cx="10487025" cy="41910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Set up the environment</a:t>
            </a:r>
            <a:endParaRPr lang="en-US" sz="2175" dirty="0"/>
          </a:p>
        </p:txBody>
      </p:sp>
      <p:sp>
        <p:nvSpPr>
          <p:cNvPr id="6" name="Shape 4"/>
          <p:cNvSpPr/>
          <p:nvPr/>
        </p:nvSpPr>
        <p:spPr>
          <a:xfrm>
            <a:off x="747713" y="3233291"/>
            <a:ext cx="514350" cy="333375"/>
          </a:xfrm>
          <a:prstGeom prst="roundRect">
            <a:avLst>
              <a:gd name="adj" fmla="val 137143"/>
            </a:avLst>
          </a:prstGeom>
          <a:solidFill>
            <a:srgbClr val="2563EB"/>
          </a:solidFill>
          <a:ln/>
        </p:spPr>
      </p:sp>
      <p:sp>
        <p:nvSpPr>
          <p:cNvPr id="7" name="Text 5"/>
          <p:cNvSpPr/>
          <p:nvPr/>
        </p:nvSpPr>
        <p:spPr>
          <a:xfrm>
            <a:off x="747713" y="3233291"/>
            <a:ext cx="514350" cy="333375"/>
          </a:xfrm>
          <a:prstGeom prst="rect">
            <a:avLst/>
          </a:prstGeom>
          <a:no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02</a:t>
            </a:r>
            <a:endParaRPr lang="en-US" sz="1350" dirty="0"/>
          </a:p>
        </p:txBody>
      </p:sp>
      <p:sp>
        <p:nvSpPr>
          <p:cNvPr id="8" name="Text 6"/>
          <p:cNvSpPr/>
          <p:nvPr/>
        </p:nvSpPr>
        <p:spPr>
          <a:xfrm>
            <a:off x="1262063" y="3147566"/>
            <a:ext cx="10487025" cy="41910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Create the configuration file</a:t>
            </a:r>
            <a:endParaRPr lang="en-US" sz="2175" dirty="0"/>
          </a:p>
        </p:txBody>
      </p:sp>
      <p:sp>
        <p:nvSpPr>
          <p:cNvPr id="9" name="Shape 7"/>
          <p:cNvSpPr/>
          <p:nvPr/>
        </p:nvSpPr>
        <p:spPr>
          <a:xfrm>
            <a:off x="747713" y="3804791"/>
            <a:ext cx="514350" cy="333375"/>
          </a:xfrm>
          <a:prstGeom prst="roundRect">
            <a:avLst>
              <a:gd name="adj" fmla="val 137143"/>
            </a:avLst>
          </a:prstGeom>
          <a:solidFill>
            <a:srgbClr val="2563EB"/>
          </a:solidFill>
          <a:ln/>
        </p:spPr>
      </p:sp>
      <p:sp>
        <p:nvSpPr>
          <p:cNvPr id="10" name="Text 8"/>
          <p:cNvSpPr/>
          <p:nvPr/>
        </p:nvSpPr>
        <p:spPr>
          <a:xfrm>
            <a:off x="747713" y="3804791"/>
            <a:ext cx="514350" cy="333375"/>
          </a:xfrm>
          <a:prstGeom prst="rect">
            <a:avLst/>
          </a:prstGeom>
          <a:noFill/>
          <a:ln/>
        </p:spPr>
        <p:txBody>
          <a:bodyPr wrap="square" lIns="0" tIns="0" rIns="0" bIns="0" rtlCol="0" anchor="ctr"/>
          <a:lstStyle/>
          <a:p>
            <a:pPr algn="ctr" indent="0" marL="0">
              <a:lnSpc>
                <a:spcPct val="100000"/>
              </a:lnSpc>
              <a:buNone/>
            </a:pPr>
            <a:r>
              <a:rPr lang="en-US" sz="1350" dirty="0">
                <a:solidFill>
                  <a:srgbClr val="FFFFFF"/>
                </a:solidFill>
                <a:latin typeface="Segoe UI" pitchFamily="34" charset="0"/>
                <a:ea typeface="Segoe UI" pitchFamily="34" charset="-122"/>
                <a:cs typeface="Segoe UI" pitchFamily="34" charset="-120"/>
              </a:rPr>
              <a:t>03</a:t>
            </a:r>
            <a:endParaRPr lang="en-US" sz="1350" dirty="0"/>
          </a:p>
        </p:txBody>
      </p:sp>
      <p:sp>
        <p:nvSpPr>
          <p:cNvPr id="11" name="Text 9"/>
          <p:cNvSpPr/>
          <p:nvPr/>
        </p:nvSpPr>
        <p:spPr>
          <a:xfrm>
            <a:off x="1262063" y="3719066"/>
            <a:ext cx="10487025" cy="419100"/>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Run tests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verify operation</a:t>
            </a:r>
            <a:endParaRPr lang="en-US" sz="2175" dirty="0"/>
          </a:p>
        </p:txBody>
      </p:sp>
      <p:sp>
        <p:nvSpPr>
          <p:cNvPr id="12" name="Text 10"/>
          <p:cNvSpPr/>
          <p:nvPr/>
        </p:nvSpPr>
        <p:spPr>
          <a:xfrm>
            <a:off x="747713" y="4290566"/>
            <a:ext cx="11001375" cy="828675"/>
          </a:xfrm>
          <a:prstGeom prst="rect">
            <a:avLst/>
          </a:prstGeom>
          <a:noFill/>
          <a:ln/>
        </p:spPr>
        <p:txBody>
          <a:bodyPr wrap="square" lIns="0" tIns="0" rIns="0" bIns="0" rtlCol="0" anchor="t"/>
          <a:lstStyle/>
          <a:p>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The badges above should render as pills (border-radius: 999px) with blue background and white text.</a:t>
            </a:r>
            <a:endParaRPr lang="en-US" sz="2175" dirty="0"/>
          </a:p>
        </p:txBody>
      </p:sp>
      <p:sp>
        <p:nvSpPr>
          <p:cNvPr id="13" name="Text 11"/>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43</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68835"/>
            <a:ext cx="11291888" cy="472380"/>
          </a:xfrm>
          <a:prstGeom prst="rect">
            <a:avLst/>
          </a:prstGeom>
          <a:noFill/>
          <a:ln/>
        </p:spPr>
        <p:txBody>
          <a:bodyPr wrap="square" lIns="0" tIns="0" rIns="0" bIns="91440" rtlCol="0" anchor="t"/>
          <a:lstStyle/>
          <a:p>
            <a:pPr algn="l" indent="0" marL="0">
              <a:lnSpc>
                <a:spcPct val="125000"/>
              </a:lnSpc>
              <a:buNone/>
            </a:pPr>
            <a:r>
              <a:rPr lang="en-US" sz="2400" b="1" dirty="0">
                <a:solidFill>
                  <a:srgbClr val="224466"/>
                </a:solidFill>
                <a:latin typeface="Segoe UI" pitchFamily="34" charset="0"/>
                <a:ea typeface="Segoe UI" pitchFamily="34" charset="-122"/>
                <a:cs typeface="Segoe UI" pitchFamily="34" charset="-120"/>
              </a:rPr>
              <a:t>Slide 44: nth-child table column colouring</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47713" y="2493615"/>
          <a:ext cx="6420743" cy="914400"/>
        </p:xfrm>
        <a:graphic>
          <a:graphicData uri="http://schemas.openxmlformats.org/drawingml/2006/table">
            <a:tbl>
              <a:tblPr/>
              <a:tblGrid>
                <a:gridCol w="790575"/>
                <a:gridCol w="1704975"/>
                <a:gridCol w="1533525"/>
                <a:gridCol w="1524000"/>
                <a:gridCol w="857250"/>
              </a:tblGrid>
              <a:tr h="0">
                <a:tc>
                  <a:txBody>
                    <a:bodyPr/>
                    <a:lstStyle/>
                    <a:p>
                      <a:pPr algn="l" indent="0" marL="0">
                        <a:buNone/>
                      </a:pPr>
                      <a:r>
                        <a:rPr lang="en-US" sz="1500" b="1" dirty="0">
                          <a:solidFill>
                            <a:srgbClr val="1F2328"/>
                          </a:solidFill>
                          <a:latin typeface="Segoe UI" pitchFamily="34" charset="0"/>
                          <a:ea typeface="Segoe UI" pitchFamily="34" charset="-122"/>
                          <a:cs typeface="Segoe UI" pitchFamily="34" charset="-120"/>
                        </a:rPr>
                        <a:t>Tool</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2328"/>
                          </a:solidFill>
                          <a:latin typeface="Segoe UI" pitchFamily="34" charset="0"/>
                          <a:ea typeface="Segoe UI" pitchFamily="34" charset="-122"/>
                          <a:cs typeface="Segoe UI" pitchFamily="34" charset="-120"/>
                        </a:rPr>
                        <a:t>Category</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E40AF"/>
                          </a:solidFill>
                          <a:latin typeface="Segoe UI" pitchFamily="34" charset="0"/>
                          <a:ea typeface="Segoe UI" pitchFamily="34" charset="-122"/>
                          <a:cs typeface="Segoe UI" pitchFamily="34" charset="-120"/>
                        </a:rPr>
                        <a:t>Before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b="1" dirty="0">
                          <a:solidFill>
                            <a:srgbClr val="991B1B"/>
                          </a:solidFill>
                          <a:latin typeface="Segoe UI" pitchFamily="34" charset="0"/>
                          <a:ea typeface="Segoe UI" pitchFamily="34" charset="-122"/>
                          <a:cs typeface="Segoe UI" pitchFamily="34" charset="-120"/>
                        </a:rPr>
                        <a:t>After</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b="1" dirty="0">
                          <a:solidFill>
                            <a:srgbClr val="065F46"/>
                          </a:solidFill>
                          <a:latin typeface="Segoe UI" pitchFamily="34" charset="0"/>
                          <a:ea typeface="Segoe UI" pitchFamily="34" charset="-122"/>
                          <a:cs typeface="Segoe UI" pitchFamily="34" charset="-120"/>
                        </a:rPr>
                        <a:t>Verdict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Tool A</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Code completion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Manual input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Auto-complete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Tool B</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Review</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Manual check</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Auto-detect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Tool C</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Test generation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Manual write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Auto-generate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r h="0">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Tool D</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328"/>
                          </a:solidFill>
                          <a:latin typeface="Segoe UI" pitchFamily="34" charset="0"/>
                          <a:ea typeface="Segoe UI" pitchFamily="34" charset="-122"/>
                          <a:cs typeface="Segoe UI" pitchFamily="34" charset="-120"/>
                        </a:rPr>
                        <a:t>Documentation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E40AF"/>
                          </a:solidFill>
                          <a:latin typeface="Segoe UI" pitchFamily="34" charset="0"/>
                          <a:ea typeface="Segoe UI" pitchFamily="34" charset="-122"/>
                          <a:cs typeface="Segoe UI" pitchFamily="34" charset="-120"/>
                        </a:rPr>
                        <a:t>Manual update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BEAFE"/>
                    </a:solidFill>
                  </a:tcPr>
                </a:tc>
                <a:tc>
                  <a:txBody>
                    <a:bodyPr/>
                    <a:lstStyle/>
                    <a:p>
                      <a:pPr algn="ctr" indent="0" marL="0">
                        <a:buNone/>
                      </a:pPr>
                      <a:r>
                        <a:rPr lang="en-US" sz="1500" dirty="0">
                          <a:solidFill>
                            <a:srgbClr val="991B1B"/>
                          </a:solidFill>
                          <a:latin typeface="Segoe UI" pitchFamily="34" charset="0"/>
                          <a:ea typeface="Segoe UI" pitchFamily="34" charset="-122"/>
                          <a:cs typeface="Segoe UI" pitchFamily="34" charset="-120"/>
                        </a:rPr>
                        <a:t>Semi-auto</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EE2E2"/>
                    </a:solidFill>
                  </a:tcPr>
                </a:tc>
                <a:tc>
                  <a:txBody>
                    <a:bodyPr/>
                    <a:lstStyle/>
                    <a:p>
                      <a:pPr algn="ctr" indent="0" marL="0">
                        <a:buNone/>
                      </a:pPr>
                      <a:r>
                        <a:rPr lang="en-US" sz="1500" dirty="0">
                          <a:solidFill>
                            <a:srgbClr val="065F46"/>
                          </a:solidFill>
                          <a:latin typeface="Segoe UI" pitchFamily="34" charset="0"/>
                          <a:ea typeface="Segoe UI" pitchFamily="34" charset="-122"/>
                          <a:cs typeface="Segoe UI" pitchFamily="34" charset="-120"/>
                        </a:rPr>
                        <a: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D1FAE5"/>
                    </a:solidFill>
                  </a:tcPr>
                </a:tc>
              </a:tr>
            </a:tbl>
          </a:graphicData>
        </a:graphic>
      </p:graphicFrame>
      <p:sp>
        <p:nvSpPr>
          <p:cNvPr id="4" name="Text 1"/>
          <p:cNvSpPr/>
          <p:nvPr/>
        </p:nvSpPr>
        <p:spPr>
          <a:xfrm>
            <a:off x="747713" y="4703415"/>
            <a:ext cx="11001375" cy="285750"/>
          </a:xfrm>
          <a:prstGeom prst="rect">
            <a:avLst/>
          </a:prstGeom>
          <a:noFill/>
          <a:ln/>
        </p:spPr>
        <p:txBody>
          <a:bodyPr wrap="square" lIns="0" tIns="0" rIns="0" bIns="0" rtlCol="0" anchor="t"/>
          <a:lstStyle/>
          <a:p>
            <a:pPr algn="l" indent="0" marL="0">
              <a:lnSpc>
                <a:spcPct val="150000"/>
              </a:lnSpc>
              <a:buNone/>
            </a:pPr>
            <a:r>
              <a:rPr lang="en-US" sz="1500" b="1" dirty="0">
                <a:solidFill>
                  <a:srgbClr val="1F2328"/>
                </a:solidFill>
                <a:latin typeface="Segoe UI" pitchFamily="34" charset="0"/>
                <a:ea typeface="Segoe UI" pitchFamily="34" charset="-122"/>
                <a:cs typeface="Segoe UI" pitchFamily="34" charset="-120"/>
              </a:rPr>
              <a:t>Column 3 (blue), column 4 (red), and column 5 (green) should be colour-coded.</a:t>
            </a:r>
            <a:endParaRPr lang="en-US" sz="1500" dirty="0"/>
          </a:p>
        </p:txBody>
      </p:sp>
      <p:sp>
        <p:nvSpPr>
          <p:cNvPr id="5" name="Text 2"/>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44</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24484"/>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45: Chat bubble UI</a:t>
            </a:r>
            <a:endParaRPr lang="en-US" sz="3480" dirty="0"/>
          </a:p>
        </p:txBody>
      </p:sp>
      <p:sp>
        <p:nvSpPr>
          <p:cNvPr id="3" name="Shape 1"/>
          <p:cNvSpPr/>
          <p:nvPr/>
        </p:nvSpPr>
        <p:spPr>
          <a:xfrm>
            <a:off x="7959179" y="2661791"/>
            <a:ext cx="3485108" cy="404813"/>
          </a:xfrm>
          <a:prstGeom prst="roundRect">
            <a:avLst>
              <a:gd name="adj" fmla="val 112941"/>
            </a:avLst>
          </a:prstGeom>
          <a:solidFill>
            <a:srgbClr val="DCF8C6"/>
          </a:solidFill>
          <a:ln w="6350">
            <a:solidFill>
              <a:srgbClr val="CCCCCC"/>
            </a:solidFill>
            <a:prstDash val="solid"/>
          </a:ln>
        </p:spPr>
      </p:sp>
      <p:sp>
        <p:nvSpPr>
          <p:cNvPr id="4" name="Text 2"/>
          <p:cNvSpPr/>
          <p:nvPr/>
        </p:nvSpPr>
        <p:spPr>
          <a:xfrm>
            <a:off x="7959179" y="2661791"/>
            <a:ext cx="3866108" cy="404813"/>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I want to improve the performance of this function.</a:t>
            </a:r>
            <a:endParaRPr lang="en-US" sz="1125" dirty="0"/>
          </a:p>
        </p:txBody>
      </p:sp>
      <p:sp>
        <p:nvSpPr>
          <p:cNvPr id="5" name="Shape 3"/>
          <p:cNvSpPr/>
          <p:nvPr/>
        </p:nvSpPr>
        <p:spPr>
          <a:xfrm>
            <a:off x="747713" y="3161854"/>
            <a:ext cx="3264545" cy="852488"/>
          </a:xfrm>
          <a:prstGeom prst="roundRect">
            <a:avLst>
              <a:gd name="adj" fmla="val 38351"/>
            </a:avLst>
          </a:prstGeom>
          <a:solidFill>
            <a:srgbClr val="FFFFFF"/>
          </a:solidFill>
          <a:ln w="9525">
            <a:solidFill>
              <a:srgbClr val="E2E8F0"/>
            </a:solidFill>
            <a:prstDash val="solid"/>
          </a:ln>
        </p:spPr>
      </p:sp>
      <p:sp>
        <p:nvSpPr>
          <p:cNvPr id="6" name="Text 4"/>
          <p:cNvSpPr/>
          <p:nvPr/>
        </p:nvSpPr>
        <p:spPr>
          <a:xfrm>
            <a:off x="747713" y="3161854"/>
            <a:ext cx="3340745" cy="852488"/>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Sure, here are a few approaches.</a:t>
            </a:r>
            <a:pPr algn="l" indent="0" marL="0">
              <a:lnSpc>
                <a:spcPct val="150000"/>
              </a:lnSpc>
              <a:buNone/>
            </a:pPr>
            <a:endParaRPr lang="en-US" sz="1125" dirty="0"/>
          </a:p>
          <a:p>
            <a:pPr algn="l" indent="0" marL="0">
              <a:lnSpc>
                <a:spcPct val="150000"/>
              </a:lnSpc>
              <a:buNone/>
            </a:pPr>
            <a:r>
              <a:rPr lang="en-US" sz="1125" b="1" dirty="0">
                <a:solidFill>
                  <a:srgbClr val="1E293B"/>
                </a:solidFill>
                <a:latin typeface="Segoe UI" pitchFamily="34" charset="0"/>
                <a:ea typeface="Segoe UI" pitchFamily="34" charset="-122"/>
                <a:cs typeface="Segoe UI" pitchFamily="34" charset="-120"/>
              </a:rPr>
              <a:t>1. Memoisation</a:t>
            </a:r>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 cache computed results</a:t>
            </a:r>
            <a:pPr algn="l" indent="0" marL="0">
              <a:lnSpc>
                <a:spcPct val="150000"/>
              </a:lnSpc>
              <a:buNone/>
            </a:pPr>
            <a:endParaRPr lang="en-US" sz="1125" dirty="0"/>
          </a:p>
          <a:p>
            <a:pPr algn="l" indent="0" marL="0">
              <a:lnSpc>
                <a:spcPct val="150000"/>
              </a:lnSpc>
              <a:buNone/>
            </a:pPr>
            <a:r>
              <a:rPr lang="en-US" sz="1125" b="1" dirty="0">
                <a:solidFill>
                  <a:srgbClr val="1E293B"/>
                </a:solidFill>
                <a:latin typeface="Segoe UI" pitchFamily="34" charset="0"/>
                <a:ea typeface="Segoe UI" pitchFamily="34" charset="-122"/>
                <a:cs typeface="Segoe UI" pitchFamily="34" charset="-120"/>
              </a:rPr>
              <a:t>2. Lazy evaluation</a:t>
            </a:r>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 compute only when needed</a:t>
            </a:r>
            <a:endParaRPr lang="en-US" sz="1125" dirty="0"/>
          </a:p>
        </p:txBody>
      </p:sp>
      <p:sp>
        <p:nvSpPr>
          <p:cNvPr id="7" name="Shape 5"/>
          <p:cNvSpPr/>
          <p:nvPr/>
        </p:nvSpPr>
        <p:spPr>
          <a:xfrm>
            <a:off x="8206234" y="4109591"/>
            <a:ext cx="3238054" cy="404813"/>
          </a:xfrm>
          <a:prstGeom prst="roundRect">
            <a:avLst>
              <a:gd name="adj" fmla="val 112941"/>
            </a:avLst>
          </a:prstGeom>
          <a:solidFill>
            <a:srgbClr val="DCF8C6"/>
          </a:solidFill>
          <a:ln w="6350">
            <a:solidFill>
              <a:srgbClr val="CCCCCC"/>
            </a:solidFill>
            <a:prstDash val="solid"/>
          </a:ln>
        </p:spPr>
      </p:sp>
      <p:sp>
        <p:nvSpPr>
          <p:cNvPr id="8" name="Text 6"/>
          <p:cNvSpPr/>
          <p:nvPr/>
        </p:nvSpPr>
        <p:spPr>
          <a:xfrm>
            <a:off x="8206234" y="4109591"/>
            <a:ext cx="3619054" cy="404813"/>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Can you show me an example of memoisation?</a:t>
            </a:r>
            <a:endParaRPr lang="en-US" sz="1125" dirty="0"/>
          </a:p>
        </p:txBody>
      </p:sp>
      <p:sp>
        <p:nvSpPr>
          <p:cNvPr id="9" name="Shape 7"/>
          <p:cNvSpPr/>
          <p:nvPr/>
        </p:nvSpPr>
        <p:spPr>
          <a:xfrm>
            <a:off x="747713" y="4609654"/>
            <a:ext cx="6541740" cy="423863"/>
          </a:xfrm>
          <a:prstGeom prst="roundRect">
            <a:avLst>
              <a:gd name="adj" fmla="val 107865"/>
            </a:avLst>
          </a:prstGeom>
          <a:solidFill>
            <a:srgbClr val="FFFFFF"/>
          </a:solidFill>
          <a:ln w="9525">
            <a:solidFill>
              <a:srgbClr val="E2E8F0"/>
            </a:solidFill>
            <a:prstDash val="solid"/>
          </a:ln>
        </p:spPr>
      </p:sp>
      <p:sp>
        <p:nvSpPr>
          <p:cNvPr id="10" name="Text 8"/>
          <p:cNvSpPr/>
          <p:nvPr/>
        </p:nvSpPr>
        <p:spPr>
          <a:xfrm>
            <a:off x="747713" y="4609654"/>
            <a:ext cx="6617940" cy="423863"/>
          </a:xfrm>
          <a:prstGeom prst="rect">
            <a:avLst/>
          </a:prstGeom>
          <a:noFill/>
          <a:ln/>
        </p:spPr>
        <p:txBody>
          <a:bodyPr wrap="square" lIns="133350" tIns="95250" rIns="133350" bIns="95250" rtlCol="0" anchor="t"/>
          <a:lstStyle/>
          <a:p>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A </a:t>
            </a:r>
            <a:pPr algn="l" indent="0" marL="0">
              <a:lnSpc>
                <a:spcPct val="150000"/>
              </a:lnSpc>
              <a:buNone/>
            </a:pPr>
            <a:r>
              <a:rPr lang="en-US" sz="956" dirty="0">
                <a:solidFill>
                  <a:srgbClr val="1E293B"/>
                </a:solidFill>
                <a:highlight>
                  <a:srgbClr val="F0F1F3"/>
                </a:highlight>
                <a:latin typeface="Consolas" pitchFamily="34" charset="0"/>
                <a:ea typeface="Consolas" pitchFamily="34" charset="-122"/>
                <a:cs typeface="Consolas" pitchFamily="34" charset="-120"/>
              </a:rPr>
              <a:t>Map</a:t>
            </a:r>
            <a:pPr algn="l" indent="0" marL="0">
              <a:lnSpc>
                <a:spcPct val="150000"/>
              </a:lnSpc>
              <a:buNone/>
            </a:pPr>
            <a:r>
              <a:rPr lang="en-US" sz="1125" dirty="0">
                <a:solidFill>
                  <a:srgbClr val="1E293B"/>
                </a:solidFill>
                <a:latin typeface="Segoe UI" pitchFamily="34" charset="0"/>
                <a:ea typeface="Segoe UI" pitchFamily="34" charset="-122"/>
                <a:cs typeface="Segoe UI" pitchFamily="34" charset="-120"/>
              </a:rPr>
              <a:t>-based memoisation pattern is common. It works well for pure functions with no side effects.</a:t>
            </a:r>
            <a:endParaRPr lang="en-US" sz="1125" dirty="0"/>
          </a:p>
        </p:txBody>
      </p:sp>
      <p:sp>
        <p:nvSpPr>
          <p:cNvPr id="11" name="Text 9"/>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45</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71077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46: box-shadow cards</a:t>
            </a:r>
            <a:endParaRPr lang="en-US" sz="3480" dirty="0"/>
          </a:p>
        </p:txBody>
      </p:sp>
      <p:sp>
        <p:nvSpPr>
          <p:cNvPr id="3" name="Shape 1"/>
          <p:cNvSpPr/>
          <p:nvPr/>
        </p:nvSpPr>
        <p:spPr>
          <a:xfrm>
            <a:off x="747713" y="2548086"/>
            <a:ext cx="5253038" cy="2599134"/>
          </a:xfrm>
          <a:prstGeom prst="roundRect">
            <a:avLst>
              <a:gd name="adj" fmla="val 3094"/>
            </a:avLst>
          </a:prstGeom>
          <a:solidFill>
            <a:srgbClr val="FFFFFF"/>
          </a:solidFill>
          <a:ln w="6350">
            <a:solidFill>
              <a:srgbClr val="CCCCCC"/>
            </a:solidFill>
            <a:prstDash val="solid"/>
          </a:ln>
        </p:spPr>
      </p:sp>
      <p:sp>
        <p:nvSpPr>
          <p:cNvPr id="4" name="Text 2"/>
          <p:cNvSpPr/>
          <p:nvPr/>
        </p:nvSpPr>
        <p:spPr>
          <a:xfrm>
            <a:off x="900113" y="2929086"/>
            <a:ext cx="49482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Analytics report</a:t>
            </a:r>
            <a:endParaRPr lang="en-US" sz="2392" dirty="0"/>
          </a:p>
        </p:txBody>
      </p:sp>
      <p:sp>
        <p:nvSpPr>
          <p:cNvPr id="5" name="Text 3"/>
          <p:cNvSpPr/>
          <p:nvPr/>
        </p:nvSpPr>
        <p:spPr>
          <a:xfrm>
            <a:off x="900113" y="3461296"/>
            <a:ext cx="4948238"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Executions: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1,234</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Success rate: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98.5%</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Average duration: 2.3 s</a:t>
            </a:r>
            <a:endParaRPr lang="en-US" sz="2175" dirty="0"/>
          </a:p>
        </p:txBody>
      </p:sp>
      <p:sp>
        <p:nvSpPr>
          <p:cNvPr id="6" name="Shape 4"/>
          <p:cNvSpPr/>
          <p:nvPr/>
        </p:nvSpPr>
        <p:spPr>
          <a:xfrm>
            <a:off x="6191250" y="2548086"/>
            <a:ext cx="5253038" cy="2599134"/>
          </a:xfrm>
          <a:prstGeom prst="roundRect">
            <a:avLst>
              <a:gd name="adj" fmla="val 3094"/>
            </a:avLst>
          </a:prstGeom>
          <a:solidFill>
            <a:srgbClr val="FFFFFF"/>
          </a:solidFill>
          <a:ln w="6350">
            <a:solidFill>
              <a:srgbClr val="CCCCCC"/>
            </a:solidFill>
            <a:prstDash val="solid"/>
          </a:ln>
        </p:spPr>
      </p:sp>
      <p:sp>
        <p:nvSpPr>
          <p:cNvPr id="7" name="Shape 5"/>
          <p:cNvSpPr/>
          <p:nvPr/>
        </p:nvSpPr>
        <p:spPr>
          <a:xfrm>
            <a:off x="6191250" y="2548086"/>
            <a:ext cx="38100" cy="2599134"/>
          </a:xfrm>
          <a:prstGeom prst="rect">
            <a:avLst/>
          </a:prstGeom>
          <a:solidFill>
            <a:srgbClr val="EA580C"/>
          </a:solidFill>
          <a:ln w="12700">
            <a:solidFill>
              <a:srgbClr val="EA580C"/>
            </a:solidFill>
            <a:prstDash val="solid"/>
          </a:ln>
        </p:spPr>
      </p:sp>
      <p:sp>
        <p:nvSpPr>
          <p:cNvPr id="8" name="Text 6"/>
          <p:cNvSpPr/>
          <p:nvPr/>
        </p:nvSpPr>
        <p:spPr>
          <a:xfrm>
            <a:off x="6381750" y="2929086"/>
            <a:ext cx="491013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a:t>
            </a:r>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Caution</a:t>
            </a:r>
            <a:endParaRPr lang="en-US" sz="2392" dirty="0"/>
          </a:p>
        </p:txBody>
      </p:sp>
      <p:sp>
        <p:nvSpPr>
          <p:cNvPr id="9" name="Text 7"/>
          <p:cNvSpPr/>
          <p:nvPr/>
        </p:nvSpPr>
        <p:spPr>
          <a:xfrm>
            <a:off x="6381750" y="3461296"/>
            <a:ext cx="5214938"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Watch out for API rate limits —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60 requests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per minute max.</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Exceeding will return a 429 error.</a:t>
            </a:r>
            <a:endParaRPr lang="en-US" sz="2175" dirty="0"/>
          </a:p>
        </p:txBody>
      </p:sp>
      <p:sp>
        <p:nvSpPr>
          <p:cNvPr id="10" name="Text 8"/>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46</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24596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47: Note box + strong + code mixed</a:t>
            </a:r>
            <a:endParaRPr lang="en-US" sz="3480" dirty="0"/>
          </a:p>
        </p:txBody>
      </p:sp>
      <p:sp>
        <p:nvSpPr>
          <p:cNvPr id="3" name="Shape 1"/>
          <p:cNvSpPr/>
          <p:nvPr/>
        </p:nvSpPr>
        <p:spPr>
          <a:xfrm>
            <a:off x="747713" y="3083272"/>
            <a:ext cx="10696575" cy="404813"/>
          </a:xfrm>
          <a:prstGeom prst="rect">
            <a:avLst/>
          </a:prstGeom>
          <a:solidFill>
            <a:srgbClr val="FFF7ED"/>
          </a:solidFill>
          <a:ln/>
        </p:spPr>
      </p:sp>
      <p:sp>
        <p:nvSpPr>
          <p:cNvPr id="4" name="Shape 2"/>
          <p:cNvSpPr/>
          <p:nvPr/>
        </p:nvSpPr>
        <p:spPr>
          <a:xfrm>
            <a:off x="747713" y="3083272"/>
            <a:ext cx="57150" cy="404813"/>
          </a:xfrm>
          <a:prstGeom prst="rect">
            <a:avLst/>
          </a:prstGeom>
          <a:solidFill>
            <a:srgbClr val="EA580C"/>
          </a:solidFill>
          <a:ln w="12700">
            <a:solidFill>
              <a:srgbClr val="EA580C"/>
            </a:solidFill>
            <a:prstDash val="solid"/>
          </a:ln>
        </p:spPr>
      </p:sp>
      <p:sp>
        <p:nvSpPr>
          <p:cNvPr id="5" name="Text 3"/>
          <p:cNvSpPr/>
          <p:nvPr/>
        </p:nvSpPr>
        <p:spPr>
          <a:xfrm>
            <a:off x="747713" y="3083272"/>
            <a:ext cx="11077575" cy="404813"/>
          </a:xfrm>
          <a:prstGeom prst="rect">
            <a:avLst/>
          </a:prstGeom>
          <a:noFill/>
          <a:ln/>
        </p:spPr>
        <p:txBody>
          <a:bodyPr wrap="square" lIns="133350" tIns="95250" rIns="133350" bIns="95250" rtlCol="0" anchor="t"/>
          <a:lstStyle/>
          <a:p>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ℹ️ Note:</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Add your key to </a:t>
            </a:r>
            <a:pPr algn="l" indent="0" marL="0">
              <a:lnSpc>
                <a:spcPct val="150000"/>
              </a:lnSpc>
              <a:buNone/>
            </a:pPr>
            <a:r>
              <a:rPr lang="en-US" sz="956" dirty="0">
                <a:solidFill>
                  <a:srgbClr val="1F2328"/>
                </a:solidFill>
                <a:highlight>
                  <a:srgbClr val="F0F1F3"/>
                </a:highlight>
                <a:latin typeface="Consolas" pitchFamily="34" charset="0"/>
                <a:ea typeface="Consolas" pitchFamily="34" charset="-122"/>
                <a:cs typeface="Consolas" pitchFamily="34" charset="-120"/>
              </a:rPr>
              <a:t>config.json</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a:t>
            </a:r>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Do not overwrite</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existing settings — append instead.</a:t>
            </a:r>
            <a:endParaRPr lang="en-US" sz="1125" dirty="0"/>
          </a:p>
        </p:txBody>
      </p:sp>
      <p:sp>
        <p:nvSpPr>
          <p:cNvPr id="6" name="Text 4"/>
          <p:cNvSpPr/>
          <p:nvPr/>
        </p:nvSpPr>
        <p:spPr>
          <a:xfrm>
            <a:off x="747713" y="3640485"/>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Normal paragraph text follows the note box.</a:t>
            </a:r>
            <a:endParaRPr lang="en-US" sz="2175" dirty="0"/>
          </a:p>
        </p:txBody>
      </p:sp>
      <p:sp>
        <p:nvSpPr>
          <p:cNvPr id="7" name="Shape 5"/>
          <p:cNvSpPr/>
          <p:nvPr/>
        </p:nvSpPr>
        <p:spPr>
          <a:xfrm>
            <a:off x="747713" y="4207222"/>
            <a:ext cx="10696575" cy="404813"/>
          </a:xfrm>
          <a:prstGeom prst="rect">
            <a:avLst/>
          </a:prstGeom>
          <a:solidFill>
            <a:srgbClr val="FEF2F2"/>
          </a:solidFill>
          <a:ln/>
        </p:spPr>
      </p:sp>
      <p:sp>
        <p:nvSpPr>
          <p:cNvPr id="8" name="Shape 6"/>
          <p:cNvSpPr/>
          <p:nvPr/>
        </p:nvSpPr>
        <p:spPr>
          <a:xfrm>
            <a:off x="747713" y="4207222"/>
            <a:ext cx="57150" cy="404813"/>
          </a:xfrm>
          <a:prstGeom prst="rect">
            <a:avLst/>
          </a:prstGeom>
          <a:solidFill>
            <a:srgbClr val="DC2626"/>
          </a:solidFill>
          <a:ln w="12700">
            <a:solidFill>
              <a:srgbClr val="DC2626"/>
            </a:solidFill>
            <a:prstDash val="solid"/>
          </a:ln>
        </p:spPr>
      </p:sp>
      <p:sp>
        <p:nvSpPr>
          <p:cNvPr id="9" name="Text 7"/>
          <p:cNvSpPr/>
          <p:nvPr/>
        </p:nvSpPr>
        <p:spPr>
          <a:xfrm>
            <a:off x="747713" y="4207222"/>
            <a:ext cx="11077575" cy="404813"/>
          </a:xfrm>
          <a:prstGeom prst="rect">
            <a:avLst/>
          </a:prstGeom>
          <a:noFill/>
          <a:ln/>
        </p:spPr>
        <p:txBody>
          <a:bodyPr wrap="square" lIns="133350" tIns="95250" rIns="133350" bIns="95250" rtlCol="0" anchor="t"/>
          <a:lstStyle/>
          <a:p>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 Warning:</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This operation is </a:t>
            </a:r>
            <a:pPr algn="l" indent="0" marL="0">
              <a:lnSpc>
                <a:spcPct val="150000"/>
              </a:lnSpc>
              <a:buNone/>
            </a:pPr>
            <a:r>
              <a:rPr lang="en-US" sz="1125" b="1" dirty="0">
                <a:solidFill>
                  <a:srgbClr val="1F2328"/>
                </a:solidFill>
                <a:latin typeface="Segoe UI" pitchFamily="34" charset="0"/>
                <a:ea typeface="Segoe UI" pitchFamily="34" charset="-122"/>
                <a:cs typeface="Segoe UI" pitchFamily="34" charset="-120"/>
              </a:rPr>
              <a:t>irreversible</a:t>
            </a:r>
            <a:pPr algn="l" indent="0" marL="0">
              <a:lnSpc>
                <a:spcPct val="150000"/>
              </a:lnSpc>
              <a:buNone/>
            </a:pPr>
            <a:r>
              <a:rPr lang="en-US" sz="1125" dirty="0">
                <a:solidFill>
                  <a:srgbClr val="1F2328"/>
                </a:solidFill>
                <a:latin typeface="Segoe UI" pitchFamily="34" charset="0"/>
                <a:ea typeface="Segoe UI" pitchFamily="34" charset="-122"/>
                <a:cs typeface="Segoe UI" pitchFamily="34" charset="-120"/>
              </a:rPr>
              <a:t>. Please back up before executing.</a:t>
            </a:r>
            <a:endParaRPr lang="en-US" sz="1125" dirty="0"/>
          </a:p>
        </p:txBody>
      </p:sp>
      <p:sp>
        <p:nvSpPr>
          <p:cNvPr id="10" name="Text 8"/>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47</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36365"/>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48: Flow diagram pattern (parent → arrow → children)</a:t>
            </a:r>
            <a:endParaRPr lang="en-US" sz="3480" dirty="0"/>
          </a:p>
        </p:txBody>
      </p:sp>
      <p:sp>
        <p:nvSpPr>
          <p:cNvPr id="3" name="Shape 1"/>
          <p:cNvSpPr/>
          <p:nvPr/>
        </p:nvSpPr>
        <p:spPr>
          <a:xfrm>
            <a:off x="5191125" y="3026122"/>
            <a:ext cx="1809750" cy="604838"/>
          </a:xfrm>
          <a:prstGeom prst="roundRect">
            <a:avLst>
              <a:gd name="adj" fmla="val 38093"/>
            </a:avLst>
          </a:prstGeom>
          <a:solidFill>
            <a:srgbClr val="2563EB"/>
          </a:solidFill>
          <a:ln/>
        </p:spPr>
      </p:sp>
      <p:sp>
        <p:nvSpPr>
          <p:cNvPr id="4" name="Text 2"/>
          <p:cNvSpPr/>
          <p:nvPr/>
        </p:nvSpPr>
        <p:spPr>
          <a:xfrm>
            <a:off x="5191125" y="3026122"/>
            <a:ext cx="1885950" cy="604838"/>
          </a:xfrm>
          <a:prstGeom prst="rect">
            <a:avLst/>
          </a:prstGeom>
          <a:noFill/>
          <a:ln/>
        </p:spPr>
        <p:txBody>
          <a:bodyPr wrap="square" lIns="228600" tIns="95250" rIns="228600" bIns="95250" rtlCol="0" anchor="t"/>
          <a:lstStyle/>
          <a:p>
            <a:pPr algn="ctr"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Input data</a:t>
            </a:r>
            <a:endParaRPr lang="en-US" sz="2175" dirty="0"/>
          </a:p>
        </p:txBody>
      </p:sp>
      <p:sp>
        <p:nvSpPr>
          <p:cNvPr id="5" name="Text 3"/>
          <p:cNvSpPr/>
          <p:nvPr/>
        </p:nvSpPr>
        <p:spPr>
          <a:xfrm>
            <a:off x="747713" y="3745260"/>
            <a:ext cx="11001375" cy="342900"/>
          </a:xfrm>
          <a:prstGeom prst="rect">
            <a:avLst/>
          </a:prstGeom>
          <a:noFill/>
          <a:ln/>
        </p:spPr>
        <p:txBody>
          <a:bodyPr wrap="square" lIns="0" tIns="0" rIns="0" bIns="0" rtlCol="0" anchor="t"/>
          <a:lstStyle/>
          <a:p>
            <a:pPr algn="ctr" indent="0" marL="0">
              <a:lnSpc>
                <a:spcPct val="150000"/>
              </a:lnSpc>
              <a:buNone/>
            </a:pPr>
            <a:r>
              <a:rPr lang="en-US" sz="1800" dirty="0">
                <a:solidFill>
                  <a:srgbClr val="2563EB"/>
                </a:solidFill>
                <a:latin typeface="Segoe UI" pitchFamily="34" charset="0"/>
                <a:ea typeface="Segoe UI" pitchFamily="34" charset="-122"/>
                <a:cs typeface="Segoe UI" pitchFamily="34" charset="-120"/>
              </a:rPr>
              <a:t>▼</a:t>
            </a:r>
            <a:endParaRPr lang="en-US" sz="1800" dirty="0"/>
          </a:p>
        </p:txBody>
      </p:sp>
      <p:sp>
        <p:nvSpPr>
          <p:cNvPr id="6" name="Shape 4"/>
          <p:cNvSpPr/>
          <p:nvPr/>
        </p:nvSpPr>
        <p:spPr>
          <a:xfrm>
            <a:off x="747713" y="4164360"/>
            <a:ext cx="3514725" cy="1057275"/>
          </a:xfrm>
          <a:prstGeom prst="roundRect">
            <a:avLst>
              <a:gd name="adj" fmla="val 12467"/>
            </a:avLst>
          </a:prstGeom>
          <a:solidFill>
            <a:srgbClr val="DBEAFE"/>
          </a:solidFill>
          <a:ln w="19050">
            <a:solidFill>
              <a:srgbClr val="2563EB"/>
            </a:solidFill>
            <a:prstDash val="solid"/>
          </a:ln>
        </p:spPr>
      </p:sp>
      <p:sp>
        <p:nvSpPr>
          <p:cNvPr id="7" name="Text 5"/>
          <p:cNvSpPr/>
          <p:nvPr/>
        </p:nvSpPr>
        <p:spPr>
          <a:xfrm>
            <a:off x="747713" y="4164360"/>
            <a:ext cx="3590925" cy="1057275"/>
          </a:xfrm>
          <a:prstGeom prst="rect">
            <a:avLst/>
          </a:prstGeom>
          <a:noFill/>
          <a:ln/>
        </p:spPr>
        <p:txBody>
          <a:bodyPr wrap="square" lIns="95250" tIns="95250" rIns="95250" bIns="95250" rtlCol="0" anchor="t"/>
          <a:lstStyle/>
          <a:p>
            <a:pPr algn="ctr"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Step A</a:t>
            </a:r>
            <a:pPr algn="ctr" indent="0" marL="0">
              <a:lnSpc>
                <a:spcPct val="150000"/>
              </a:lnSpc>
              <a:buNone/>
            </a:pPr>
            <a:endParaRPr lang="en-US" sz="2175" dirty="0"/>
          </a:p>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Data validation</a:t>
            </a:r>
            <a:endParaRPr lang="en-US" sz="2175" dirty="0"/>
          </a:p>
        </p:txBody>
      </p:sp>
      <p:sp>
        <p:nvSpPr>
          <p:cNvPr id="8" name="Shape 6"/>
          <p:cNvSpPr/>
          <p:nvPr/>
        </p:nvSpPr>
        <p:spPr>
          <a:xfrm>
            <a:off x="4338638" y="4164360"/>
            <a:ext cx="3514725" cy="1057275"/>
          </a:xfrm>
          <a:prstGeom prst="roundRect">
            <a:avLst>
              <a:gd name="adj" fmla="val 12467"/>
            </a:avLst>
          </a:prstGeom>
          <a:solidFill>
            <a:srgbClr val="FFF7ED"/>
          </a:solidFill>
          <a:ln w="19050">
            <a:solidFill>
              <a:srgbClr val="EA580C"/>
            </a:solidFill>
            <a:prstDash val="solid"/>
          </a:ln>
        </p:spPr>
      </p:sp>
      <p:sp>
        <p:nvSpPr>
          <p:cNvPr id="9" name="Text 7"/>
          <p:cNvSpPr/>
          <p:nvPr/>
        </p:nvSpPr>
        <p:spPr>
          <a:xfrm>
            <a:off x="4338638" y="4164360"/>
            <a:ext cx="3590925" cy="1057275"/>
          </a:xfrm>
          <a:prstGeom prst="rect">
            <a:avLst/>
          </a:prstGeom>
          <a:noFill/>
          <a:ln/>
        </p:spPr>
        <p:txBody>
          <a:bodyPr wrap="square" lIns="95250" tIns="95250" rIns="95250" bIns="95250" rtlCol="0" anchor="t"/>
          <a:lstStyle/>
          <a:p>
            <a:pPr algn="ctr"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Step B</a:t>
            </a:r>
            <a:pPr algn="ctr" indent="0" marL="0">
              <a:lnSpc>
                <a:spcPct val="150000"/>
              </a:lnSpc>
              <a:buNone/>
            </a:pPr>
            <a:endParaRPr lang="en-US" sz="2175" dirty="0"/>
          </a:p>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Transform &amp; format</a:t>
            </a:r>
            <a:endParaRPr lang="en-US" sz="2175" dirty="0"/>
          </a:p>
        </p:txBody>
      </p:sp>
      <p:sp>
        <p:nvSpPr>
          <p:cNvPr id="10" name="Shape 8"/>
          <p:cNvSpPr/>
          <p:nvPr/>
        </p:nvSpPr>
        <p:spPr>
          <a:xfrm>
            <a:off x="7929563" y="4164360"/>
            <a:ext cx="3514725" cy="1057275"/>
          </a:xfrm>
          <a:prstGeom prst="roundRect">
            <a:avLst>
              <a:gd name="adj" fmla="val 12467"/>
            </a:avLst>
          </a:prstGeom>
          <a:solidFill>
            <a:srgbClr val="DCFCE7"/>
          </a:solidFill>
          <a:ln w="19050">
            <a:solidFill>
              <a:srgbClr val="16A34A"/>
            </a:solidFill>
            <a:prstDash val="solid"/>
          </a:ln>
        </p:spPr>
      </p:sp>
      <p:sp>
        <p:nvSpPr>
          <p:cNvPr id="11" name="Text 9"/>
          <p:cNvSpPr/>
          <p:nvPr/>
        </p:nvSpPr>
        <p:spPr>
          <a:xfrm>
            <a:off x="7929563" y="4164360"/>
            <a:ext cx="3895725" cy="1057275"/>
          </a:xfrm>
          <a:prstGeom prst="rect">
            <a:avLst/>
          </a:prstGeom>
          <a:noFill/>
          <a:ln/>
        </p:spPr>
        <p:txBody>
          <a:bodyPr wrap="square" lIns="95250" tIns="95250" rIns="95250" bIns="95250" rtlCol="0" anchor="t"/>
          <a:lstStyle/>
          <a:p>
            <a:pPr algn="ctr"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Step C</a:t>
            </a:r>
            <a:pPr algn="ctr" indent="0" marL="0">
              <a:lnSpc>
                <a:spcPct val="150000"/>
              </a:lnSpc>
              <a:buNone/>
            </a:pPr>
            <a:endParaRPr lang="en-US" sz="2175" dirty="0"/>
          </a:p>
          <a:p>
            <a:pPr algn="ctr" indent="0" marL="0">
              <a:lnSpc>
                <a:spcPct val="150000"/>
              </a:lnSpc>
              <a:buNone/>
            </a:pPr>
            <a:r>
              <a:rPr lang="en-US" sz="2175" dirty="0">
                <a:solidFill>
                  <a:srgbClr val="1F2328"/>
                </a:solidFill>
                <a:latin typeface="Segoe UI" pitchFamily="34" charset="0"/>
                <a:ea typeface="Segoe UI" pitchFamily="34" charset="-122"/>
                <a:cs typeface="Segoe UI" pitchFamily="34" charset="-120"/>
              </a:rPr>
              <a:t>Output &amp; save</a:t>
            </a:r>
            <a:endParaRPr lang="en-US" sz="2175" dirty="0"/>
          </a:p>
        </p:txBody>
      </p:sp>
      <p:sp>
        <p:nvSpPr>
          <p:cNvPr id="12" name="Text 10"/>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48</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046113"/>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49: letter-spacing test</a:t>
            </a:r>
            <a:endParaRPr lang="en-US" sz="3480" dirty="0"/>
          </a:p>
        </p:txBody>
      </p:sp>
      <p:sp>
        <p:nvSpPr>
          <p:cNvPr id="3" name="Text 1"/>
          <p:cNvSpPr/>
          <p:nvPr/>
        </p:nvSpPr>
        <p:spPr>
          <a:xfrm>
            <a:off x="747713" y="1959620"/>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Heading with letter-spacing: 0.04em</a:t>
            </a:r>
            <a:endParaRPr lang="en-US" sz="2828" dirty="0"/>
          </a:p>
        </p:txBody>
      </p:sp>
      <p:sp>
        <p:nvSpPr>
          <p:cNvPr id="4" name="Text 2"/>
          <p:cNvSpPr/>
          <p:nvPr/>
        </p:nvSpPr>
        <p:spPr>
          <a:xfrm>
            <a:off x="747713" y="2668488"/>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Normal paragraph text (no letter-spacing). The difference in character spacing from the heading should be visible.</a:t>
            </a:r>
            <a:endParaRPr lang="en-US" sz="2175"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747713" y="3649563"/>
          <a:ext cx="3720257" cy="914400"/>
        </p:xfrm>
        <a:graphic>
          <a:graphicData uri="http://schemas.openxmlformats.org/drawingml/2006/table">
            <a:tbl>
              <a:tblPr/>
              <a:tblGrid>
                <a:gridCol w="561975"/>
                <a:gridCol w="1152525"/>
                <a:gridCol w="1990725"/>
              </a:tblGrid>
              <a:tr h="0">
                <a:tc>
                  <a:txBody>
                    <a:bodyPr/>
                    <a:lstStyle/>
                    <a:p>
                      <a:pPr algn="l" indent="0" marL="0">
                        <a:buNone/>
                      </a:pPr>
                      <a:endParaRPr lang="en-US" sz="2175" dirty="0">
                        <a:latin typeface="Segoe UI" charset="0"/>
                        <a:ea typeface="Segoe UI" charset="0"/>
                        <a:cs typeface="Segoe UI" charset="0"/>
                      </a:endParaRPr>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Setting</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b="1" dirty="0">
                          <a:solidFill>
                            <a:srgbClr val="1F2328"/>
                          </a:solidFill>
                          <a:latin typeface="Segoe UI" pitchFamily="34" charset="0"/>
                          <a:ea typeface="Segoe UI" pitchFamily="34" charset="-122"/>
                          <a:cs typeface="Segoe UI" pitchFamily="34" charset="-120"/>
                        </a:rPr>
                        <a:t>Effect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h1</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0.04em</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Wider spacing</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h2</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0.04em</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Wider spacing</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p</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none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indent="0" marL="0">
                        <a:buNone/>
                      </a:pPr>
                      <a:r>
                        <a:rPr lang="en-US" sz="2175" dirty="0">
                          <a:solidFill>
                            <a:srgbClr val="1F2328"/>
                          </a:solidFill>
                          <a:latin typeface="Segoe UI" pitchFamily="34" charset="0"/>
                          <a:ea typeface="Segoe UI" pitchFamily="34" charset="-122"/>
                          <a:cs typeface="Segoe UI" pitchFamily="34" charset="-120"/>
                        </a:rPr>
                        <a:t>Default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6"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49</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231025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FFFFFF"/>
                </a:solidFill>
                <a:latin typeface="Segoe UI" pitchFamily="34" charset="0"/>
                <a:ea typeface="Segoe UI" pitchFamily="34" charset="-122"/>
                <a:cs typeface="Segoe UI" pitchFamily="34" charset="-120"/>
              </a:rPr>
              <a:t>Slide 50: Marp bg filter syntax test</a:t>
            </a:r>
            <a:endParaRPr lang="en-US" sz="3480" dirty="0"/>
          </a:p>
        </p:txBody>
      </p:sp>
      <p:sp>
        <p:nvSpPr>
          <p:cNvPr id="3" name="Text 1"/>
          <p:cNvSpPr/>
          <p:nvPr/>
        </p:nvSpPr>
        <p:spPr>
          <a:xfrm>
            <a:off x="747713" y="3147566"/>
            <a:ext cx="11001375" cy="833289"/>
          </a:xfrm>
          <a:prstGeom prst="rect">
            <a:avLst/>
          </a:prstGeom>
          <a:noFill/>
          <a:ln/>
        </p:spPr>
        <p:txBody>
          <a:bodyPr wrap="square" lIns="0" tIns="0" rIns="0" bIns="0" rtlCol="0" anchor="t"/>
          <a:lstStyle/>
          <a:p>
            <a:pPr algn="l" indent="0" marL="0">
              <a:lnSpc>
                <a:spcPct val="150000"/>
              </a:lnSpc>
              <a:buNone/>
            </a:pPr>
            <a:r>
              <a:rPr lang="en-US" sz="1849" b="1" dirty="0">
                <a:solidFill>
                  <a:srgbClr val="FFFFFF"/>
                </a:solidFill>
                <a:latin typeface="Consolas" pitchFamily="34" charset="0"/>
                <a:ea typeface="Consolas" pitchFamily="34" charset="-122"/>
                <a:cs typeface="Consolas" pitchFamily="34" charset="-120"/>
              </a:rPr>
              <a:t>![bg cover blur:5px brightness:0.3 grayscale]</a:t>
            </a:r>
            <a:pPr algn="l" indent="0" marL="0">
              <a:lnSpc>
                <a:spcPct val="150000"/>
              </a:lnSpc>
              <a:buNone/>
            </a:pPr>
            <a:r>
              <a:rPr lang="en-US" sz="2175" b="1" dirty="0">
                <a:solidFill>
                  <a:srgbClr val="FFFFFF"/>
                </a:solidFill>
                <a:latin typeface="Segoe UI" pitchFamily="34" charset="0"/>
                <a:ea typeface="Segoe UI" pitchFamily="34" charset="-122"/>
                <a:cs typeface="Segoe UI" pitchFamily="34" charset="-120"/>
              </a:rPr>
              <a:t> — Multiple filters applied simultaneously.</a:t>
            </a:r>
            <a:endParaRPr lang="en-US" sz="1849" dirty="0"/>
          </a:p>
        </p:txBody>
      </p:sp>
      <p:sp>
        <p:nvSpPr>
          <p:cNvPr id="4" name="Text 2"/>
          <p:cNvSpPr/>
          <p:nvPr/>
        </p:nvSpPr>
        <p:spPr>
          <a:xfrm>
            <a:off x="747713" y="4133255"/>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FFFFFF"/>
                </a:solidFill>
                <a:latin typeface="Segoe UI" pitchFamily="34" charset="0"/>
                <a:ea typeface="Segoe UI" pitchFamily="34" charset="-122"/>
                <a:cs typeface="Segoe UI" pitchFamily="34" charset="-120"/>
              </a:rPr>
              <a:t>Background image should appear blurred, darkened, and greyscale. Text is white.</a:t>
            </a:r>
            <a:endParaRPr lang="en-US" sz="2175" dirty="0"/>
          </a:p>
        </p:txBody>
      </p:sp>
      <p:sp>
        <p:nvSpPr>
          <p:cNvPr id="5"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50</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34400" y="0"/>
            <a:ext cx="3657600" cy="6858000"/>
          </a:xfrm>
          <a:prstGeom prst="rect">
            <a:avLst/>
          </a:prstGeom>
        </p:spPr>
      </p:pic>
      <p:sp>
        <p:nvSpPr>
          <p:cNvPr id="3" name="Text 0"/>
          <p:cNvSpPr/>
          <p:nvPr/>
        </p:nvSpPr>
        <p:spPr>
          <a:xfrm>
            <a:off x="747713" y="1826865"/>
            <a:ext cx="76342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51: Split background test</a:t>
            </a:r>
            <a:endParaRPr lang="en-US" sz="3480" dirty="0"/>
          </a:p>
        </p:txBody>
      </p:sp>
      <p:sp>
        <p:nvSpPr>
          <p:cNvPr id="4" name="Text 1"/>
          <p:cNvSpPr/>
          <p:nvPr/>
        </p:nvSpPr>
        <p:spPr>
          <a:xfrm>
            <a:off x="747713" y="2664172"/>
            <a:ext cx="7343775" cy="833289"/>
          </a:xfrm>
          <a:prstGeom prst="rect">
            <a:avLst/>
          </a:prstGeom>
          <a:noFill/>
          <a:ln/>
        </p:spPr>
        <p:txBody>
          <a:bodyPr wrap="square" lIns="0" tIns="0" rIns="0" bIns="0" rtlCol="0" anchor="t"/>
          <a:lstStyle/>
          <a:p>
            <a:pPr algn="l" indent="0" marL="0">
              <a:lnSpc>
                <a:spcPct val="150000"/>
              </a:lnSpc>
              <a:buNone/>
            </a:pPr>
            <a:r>
              <a:rPr lang="en-US" sz="1849" b="1" dirty="0">
                <a:solidFill>
                  <a:srgbClr val="1F2328"/>
                </a:solidFill>
                <a:highlight>
                  <a:srgbClr val="F0F1F3"/>
                </a:highlight>
                <a:latin typeface="Consolas" pitchFamily="34" charset="0"/>
                <a:ea typeface="Consolas" pitchFamily="34" charset="-122"/>
                <a:cs typeface="Consolas" pitchFamily="34" charset="-120"/>
              </a:rPr>
              <a:t>![bg right:30%]</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 — Image occupies right 30%, content uses left 70%.</a:t>
            </a:r>
            <a:endParaRPr lang="en-US" sz="1849" dirty="0"/>
          </a:p>
        </p:txBody>
      </p:sp>
      <p:sp>
        <p:nvSpPr>
          <p:cNvPr id="5" name="Text 2"/>
          <p:cNvSpPr/>
          <p:nvPr/>
        </p:nvSpPr>
        <p:spPr>
          <a:xfrm>
            <a:off x="747713" y="3649861"/>
            <a:ext cx="70389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split layout is reproduced correctly</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Text should be on the left side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Image should occupy the right 30%</a:t>
            </a:r>
            <a:endParaRPr lang="en-US" sz="2175" dirty="0"/>
          </a:p>
        </p:txBody>
      </p:sp>
      <p:sp>
        <p:nvSpPr>
          <p:cNvPr id="6" name="Text 3"/>
          <p:cNvSpPr/>
          <p:nvPr/>
        </p:nvSpPr>
        <p:spPr>
          <a:xfrm>
            <a:off x="0" y="0"/>
            <a:ext cx="85344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51</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2563EB"/>
          </a:solidFill>
          <a:ln/>
        </p:spPr>
      </p:sp>
      <p:sp>
        <p:nvSpPr>
          <p:cNvPr id="3" name="Shape 1"/>
          <p:cNvSpPr/>
          <p:nvPr/>
        </p:nvSpPr>
        <p:spPr>
          <a:xfrm>
            <a:off x="0" y="6781800"/>
            <a:ext cx="12192000" cy="76200"/>
          </a:xfrm>
          <a:prstGeom prst="rect">
            <a:avLst/>
          </a:prstGeom>
          <a:solidFill>
            <a:srgbClr val="EA580C"/>
          </a:solidFill>
          <a:ln/>
        </p:spPr>
      </p:sp>
      <p:sp>
        <p:nvSpPr>
          <p:cNvPr id="4" name="Text 2"/>
          <p:cNvSpPr/>
          <p:nvPr/>
        </p:nvSpPr>
        <p:spPr>
          <a:xfrm>
            <a:off x="747713" y="1614339"/>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52: Negative margin + fixed-width container</a:t>
            </a:r>
            <a:endParaRPr lang="en-US" sz="3480" dirty="0"/>
          </a:p>
        </p:txBody>
      </p:sp>
      <p:sp>
        <p:nvSpPr>
          <p:cNvPr id="5" name="Text 3"/>
          <p:cNvSpPr/>
          <p:nvPr/>
        </p:nvSpPr>
        <p:spPr>
          <a:xfrm>
            <a:off x="747713" y="2680246"/>
            <a:ext cx="7667625"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Text content</a:t>
            </a:r>
            <a:endParaRPr lang="en-US" sz="2392" dirty="0"/>
          </a:p>
        </p:txBody>
      </p:sp>
      <p:sp>
        <p:nvSpPr>
          <p:cNvPr id="6" name="Text 4"/>
          <p:cNvSpPr/>
          <p:nvPr/>
        </p:nvSpPr>
        <p:spPr>
          <a:xfrm>
            <a:off x="747713" y="3212455"/>
            <a:ext cx="766762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Normal flow text. The image on the right slightly overlaps upward.</a:t>
            </a:r>
            <a:endParaRPr lang="en-US" sz="2175" dirty="0"/>
          </a:p>
        </p:txBody>
      </p:sp>
      <p:sp>
        <p:nvSpPr>
          <p:cNvPr id="7" name="Text 5"/>
          <p:cNvSpPr/>
          <p:nvPr/>
        </p:nvSpPr>
        <p:spPr>
          <a:xfrm>
            <a:off x="747713" y="4193530"/>
            <a:ext cx="7667625"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A</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Item B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8" name="Shape 6"/>
          <p:cNvSpPr/>
          <p:nvPr/>
        </p:nvSpPr>
        <p:spPr>
          <a:xfrm>
            <a:off x="8567738" y="2261146"/>
            <a:ext cx="2876550" cy="585788"/>
          </a:xfrm>
          <a:prstGeom prst="roundRect">
            <a:avLst>
              <a:gd name="adj" fmla="val 40611"/>
            </a:avLst>
          </a:prstGeom>
          <a:ln w="9525">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8577263" y="2575471"/>
            <a:ext cx="9525" cy="952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258886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53: HTML inline flex side-by-side images</a:t>
            </a:r>
            <a:endParaRPr lang="en-US" sz="3480" dirty="0"/>
          </a:p>
        </p:txBody>
      </p:sp>
      <p:pic>
        <p:nvPicPr>
          <p:cNvPr id="3" name="Image 0" descr="preencoded.png">    </p:cNvPr>
          <p:cNvPicPr>
            <a:picLocks noChangeAspect="1"/>
          </p:cNvPicPr>
          <p:nvPr/>
        </p:nvPicPr>
        <p:blipFill>
          <a:blip r:embed="rId1"/>
          <a:stretch>
            <a:fillRect/>
          </a:stretch>
        </p:blipFill>
        <p:spPr>
          <a:xfrm>
            <a:off x="747713" y="3730972"/>
            <a:ext cx="9525" cy="9525"/>
          </a:xfrm>
          <a:prstGeom prst="rect">
            <a:avLst/>
          </a:prstGeom>
        </p:spPr>
      </p:pic>
      <p:sp>
        <p:nvSpPr>
          <p:cNvPr id="4" name="Text 1"/>
          <p:cNvSpPr/>
          <p:nvPr/>
        </p:nvSpPr>
        <p:spPr>
          <a:xfrm>
            <a:off x="5997327" y="3538091"/>
            <a:ext cx="197346" cy="342900"/>
          </a:xfrm>
          <a:prstGeom prst="rect">
            <a:avLst/>
          </a:prstGeom>
          <a:noFill/>
          <a:ln/>
        </p:spPr>
        <p:txBody>
          <a:bodyPr wrap="square" lIns="0" tIns="0" rIns="0" bIns="0" rtlCol="0" anchor="t"/>
          <a:lstStyle/>
          <a:p>
            <a:pPr algn="l" indent="0" marL="0">
              <a:lnSpc>
                <a:spcPct val="150000"/>
              </a:lnSpc>
              <a:buNone/>
            </a:pPr>
            <a:r>
              <a:rPr lang="en-US" sz="1800" dirty="0">
                <a:solidFill>
                  <a:srgbClr val="2563EB"/>
                </a:solidFill>
                <a:latin typeface="Segoe UI" pitchFamily="34" charset="0"/>
                <a:ea typeface="Segoe UI" pitchFamily="34" charset="-122"/>
                <a:cs typeface="Segoe UI" pitchFamily="34" charset="-120"/>
              </a:rPr>
              <a:t>→</a:t>
            </a:r>
            <a:endParaRPr lang="en-US" sz="1800" dirty="0"/>
          </a:p>
        </p:txBody>
      </p:sp>
      <p:sp>
        <p:nvSpPr>
          <p:cNvPr id="5" name="Text 2"/>
          <p:cNvSpPr/>
          <p:nvPr/>
        </p:nvSpPr>
        <p:spPr>
          <a:xfrm>
            <a:off x="747713" y="4069110"/>
            <a:ext cx="11001375" cy="200025"/>
          </a:xfrm>
          <a:prstGeom prst="rect">
            <a:avLst/>
          </a:prstGeom>
          <a:noFill/>
          <a:ln/>
        </p:spPr>
        <p:txBody>
          <a:bodyPr wrap="square" lIns="0" tIns="0" rIns="0" bIns="0" rtlCol="0" anchor="t"/>
          <a:lstStyle/>
          <a:p>
            <a:pPr algn="ctr" indent="0" marL="0">
              <a:lnSpc>
                <a:spcPct val="150000"/>
              </a:lnSpc>
              <a:buNone/>
            </a:pPr>
            <a:r>
              <a:rPr lang="en-US" sz="1050" dirty="0">
                <a:solidFill>
                  <a:srgbClr val="64748B"/>
                </a:solidFill>
                <a:latin typeface="Segoe UI" pitchFamily="34" charset="0"/>
                <a:ea typeface="Segoe UI" pitchFamily="34" charset="-122"/>
                <a:cs typeface="Segoe UI" pitchFamily="34" charset="-120"/>
              </a:rPr>
              <a:t>Left: Before → Right: After</a:t>
            </a:r>
            <a:endParaRPr lang="en-US" sz="1050" dirty="0"/>
          </a:p>
        </p:txBody>
      </p:sp>
      <p:sp>
        <p:nvSpPr>
          <p:cNvPr id="6"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53</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897707"/>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54: h3 + step badge (heading with mixed badge)</a:t>
            </a:r>
            <a:endParaRPr lang="en-US" sz="3480" dirty="0"/>
          </a:p>
        </p:txBody>
      </p:sp>
      <p:sp>
        <p:nvSpPr>
          <p:cNvPr id="3" name="Shape 1"/>
          <p:cNvSpPr/>
          <p:nvPr/>
        </p:nvSpPr>
        <p:spPr>
          <a:xfrm>
            <a:off x="747713" y="3468439"/>
            <a:ext cx="495300" cy="271463"/>
          </a:xfrm>
          <a:prstGeom prst="roundRect">
            <a:avLst>
              <a:gd name="adj" fmla="val 168421"/>
            </a:avLst>
          </a:prstGeom>
          <a:solidFill>
            <a:srgbClr val="0F6CBD"/>
          </a:solidFill>
          <a:ln/>
        </p:spPr>
      </p:sp>
      <p:sp>
        <p:nvSpPr>
          <p:cNvPr id="4" name="Text 2"/>
          <p:cNvSpPr/>
          <p:nvPr/>
        </p:nvSpPr>
        <p:spPr>
          <a:xfrm>
            <a:off x="747713" y="3468439"/>
            <a:ext cx="495300" cy="271463"/>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1</a:t>
            </a:r>
            <a:endParaRPr lang="en-US" sz="1350" dirty="0"/>
          </a:p>
        </p:txBody>
      </p:sp>
      <p:sp>
        <p:nvSpPr>
          <p:cNvPr id="5" name="Text 3"/>
          <p:cNvSpPr/>
          <p:nvPr/>
        </p:nvSpPr>
        <p:spPr>
          <a:xfrm>
            <a:off x="1243013" y="3363664"/>
            <a:ext cx="107965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Copy the config directory</a:t>
            </a:r>
            <a:endParaRPr lang="en-US" sz="2392" dirty="0"/>
          </a:p>
        </p:txBody>
      </p:sp>
      <p:sp>
        <p:nvSpPr>
          <p:cNvPr id="6" name="Shape 4"/>
          <p:cNvSpPr/>
          <p:nvPr/>
        </p:nvSpPr>
        <p:spPr>
          <a:xfrm>
            <a:off x="747713" y="4076849"/>
            <a:ext cx="495300" cy="271463"/>
          </a:xfrm>
          <a:prstGeom prst="roundRect">
            <a:avLst>
              <a:gd name="adj" fmla="val 168421"/>
            </a:avLst>
          </a:prstGeom>
          <a:solidFill>
            <a:srgbClr val="0F6CBD"/>
          </a:solidFill>
          <a:ln/>
        </p:spPr>
      </p:sp>
      <p:sp>
        <p:nvSpPr>
          <p:cNvPr id="7" name="Text 5"/>
          <p:cNvSpPr/>
          <p:nvPr/>
        </p:nvSpPr>
        <p:spPr>
          <a:xfrm>
            <a:off x="747713" y="4076849"/>
            <a:ext cx="495300" cy="271463"/>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2</a:t>
            </a:r>
            <a:endParaRPr lang="en-US" sz="1350" dirty="0"/>
          </a:p>
        </p:txBody>
      </p:sp>
      <p:sp>
        <p:nvSpPr>
          <p:cNvPr id="8" name="Text 6"/>
          <p:cNvSpPr/>
          <p:nvPr/>
        </p:nvSpPr>
        <p:spPr>
          <a:xfrm>
            <a:off x="1243013" y="3972074"/>
            <a:ext cx="107965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Restart the application</a:t>
            </a:r>
            <a:endParaRPr lang="en-US" sz="2392" dirty="0"/>
          </a:p>
        </p:txBody>
      </p:sp>
      <p:sp>
        <p:nvSpPr>
          <p:cNvPr id="9" name="Shape 7"/>
          <p:cNvSpPr/>
          <p:nvPr/>
        </p:nvSpPr>
        <p:spPr>
          <a:xfrm>
            <a:off x="747713" y="4685258"/>
            <a:ext cx="495300" cy="271463"/>
          </a:xfrm>
          <a:prstGeom prst="roundRect">
            <a:avLst>
              <a:gd name="adj" fmla="val 168421"/>
            </a:avLst>
          </a:prstGeom>
          <a:solidFill>
            <a:srgbClr val="0F6CBD"/>
          </a:solidFill>
          <a:ln/>
        </p:spPr>
      </p:sp>
      <p:sp>
        <p:nvSpPr>
          <p:cNvPr id="10" name="Text 8"/>
          <p:cNvSpPr/>
          <p:nvPr/>
        </p:nvSpPr>
        <p:spPr>
          <a:xfrm>
            <a:off x="747713" y="4685258"/>
            <a:ext cx="495300" cy="271463"/>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Segoe UI" pitchFamily="34" charset="0"/>
                <a:ea typeface="Segoe UI" pitchFamily="34" charset="-122"/>
                <a:cs typeface="Segoe UI" pitchFamily="34" charset="-120"/>
              </a:rPr>
              <a:t>3</a:t>
            </a:r>
            <a:endParaRPr lang="en-US" sz="1350" dirty="0"/>
          </a:p>
        </p:txBody>
      </p:sp>
      <p:sp>
        <p:nvSpPr>
          <p:cNvPr id="11" name="Text 9"/>
          <p:cNvSpPr/>
          <p:nvPr/>
        </p:nvSpPr>
        <p:spPr>
          <a:xfrm>
            <a:off x="1243013" y="4580483"/>
            <a:ext cx="10796588" cy="379809"/>
          </a:xfrm>
          <a:prstGeom prst="rect">
            <a:avLst/>
          </a:prstGeom>
          <a:noFill/>
          <a:ln/>
        </p:spPr>
        <p:txBody>
          <a:bodyPr wrap="square" lIns="0" tIns="0" rIns="0" bIns="0" rtlCol="0" anchor="t"/>
          <a:lstStyle/>
          <a:p>
            <a:pPr algn="l" indent="0" marL="0">
              <a:lnSpc>
                <a:spcPct val="125000"/>
              </a:lnSpc>
              <a:buNone/>
            </a:pPr>
            <a:r>
              <a:rPr lang="en-US" sz="2392" b="1" dirty="0">
                <a:solidFill>
                  <a:srgbClr val="1F2328"/>
                </a:solidFill>
                <a:latin typeface="Segoe UI" pitchFamily="34" charset="0"/>
                <a:ea typeface="Segoe UI" pitchFamily="34" charset="-122"/>
                <a:cs typeface="Segoe UI" pitchFamily="34" charset="-120"/>
              </a:rPr>
              <a:t> Launch from the command palette</a:t>
            </a:r>
            <a:endParaRPr lang="en-US" sz="2392" dirty="0"/>
          </a:p>
        </p:txBody>
      </p:sp>
      <p:sp>
        <p:nvSpPr>
          <p:cNvPr id="12" name="Text 10"/>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54</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515100"/>
            <a:ext cx="246459" cy="342900"/>
          </a:xfrm>
          <a:prstGeom prst="rect">
            <a:avLst/>
          </a:prstGeom>
          <a:solidFill>
            <a:srgbClr val="2563EB"/>
          </a:solidFill>
          <a:ln/>
        </p:spPr>
      </p:sp>
      <p:sp>
        <p:nvSpPr>
          <p:cNvPr id="3" name="Text 1"/>
          <p:cNvSpPr/>
          <p:nvPr/>
        </p:nvSpPr>
        <p:spPr>
          <a:xfrm>
            <a:off x="747713" y="224358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55: section::before/after (banner suppression test)</a:t>
            </a:r>
            <a:endParaRPr lang="en-US" sz="3480" dirty="0"/>
          </a:p>
        </p:txBody>
      </p:sp>
      <p:sp>
        <p:nvSpPr>
          <p:cNvPr id="4" name="Text 2"/>
          <p:cNvSpPr/>
          <p:nvPr/>
        </p:nvSpPr>
        <p:spPr>
          <a:xfrm>
            <a:off x="747713" y="3633341"/>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Verify that the PPTX for this slide does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not display top/bottom banners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endParaRPr lang="en-US" sz="2175" dirty="0"/>
          </a:p>
        </p:txBody>
      </p:sp>
      <p:sp>
        <p:nvSpPr>
          <p:cNvPr id="5" name="Text 3"/>
          <p:cNvSpPr/>
          <p:nvPr/>
        </p:nvSpPr>
        <p:spPr>
          <a:xfrm>
            <a:off x="747713" y="4200079"/>
            <a:ext cx="11001375" cy="414338"/>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section::before and section::after with content:"" should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not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be extracted as banners.</a:t>
            </a:r>
            <a:endParaRPr lang="en-US" sz="217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194941"/>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56: h2 border-left vertical decoration + ZWJ emoji</a:t>
            </a:r>
            <a:endParaRPr lang="en-US" sz="3480" dirty="0"/>
          </a:p>
        </p:txBody>
      </p:sp>
      <p:sp>
        <p:nvSpPr>
          <p:cNvPr id="3" name="Shape 1"/>
          <p:cNvSpPr/>
          <p:nvPr/>
        </p:nvSpPr>
        <p:spPr>
          <a:xfrm>
            <a:off x="747713" y="2660898"/>
            <a:ext cx="38100" cy="556468"/>
          </a:xfrm>
          <a:prstGeom prst="rect">
            <a:avLst/>
          </a:prstGeom>
          <a:solidFill>
            <a:srgbClr val="3498DB"/>
          </a:solidFill>
          <a:ln w="12700">
            <a:solidFill>
              <a:srgbClr val="3498DB"/>
            </a:solidFill>
            <a:prstDash val="solid"/>
          </a:ln>
        </p:spPr>
      </p:sp>
      <p:sp>
        <p:nvSpPr>
          <p:cNvPr id="4" name="Text 2"/>
          <p:cNvSpPr/>
          <p:nvPr/>
        </p:nvSpPr>
        <p:spPr>
          <a:xfrm>
            <a:off x="785813" y="2660898"/>
            <a:ext cx="11253788" cy="556468"/>
          </a:xfrm>
          <a:prstGeom prst="rect">
            <a:avLst/>
          </a:prstGeom>
          <a:noFill/>
          <a:ln/>
        </p:spPr>
        <p:txBody>
          <a:bodyPr wrap="square" lIns="95250" tIns="0" rIns="0" bIns="107728" rtlCol="0" anchor="t"/>
          <a:lstStyle/>
          <a:p>
            <a:pPr algn="l" indent="0" marL="0">
              <a:lnSpc>
                <a:spcPct val="125000"/>
              </a:lnSpc>
              <a:buNone/>
            </a:pPr>
            <a:r>
              <a:rPr lang="en-US" sz="2828" b="1" dirty="0">
                <a:solidFill>
                  <a:srgbClr val="2980B9"/>
                </a:solidFill>
                <a:latin typeface="Segoe UI" pitchFamily="34" charset="0"/>
                <a:ea typeface="Segoe UI" pitchFamily="34" charset="-122"/>
                <a:cs typeface="Segoe UI" pitchFamily="34" charset="-120"/>
              </a:rPr>
              <a:t>Vertical decoration heading: text must not overlap the bar</a:t>
            </a:r>
            <a:endParaRPr lang="en-US" sz="2828" dirty="0"/>
          </a:p>
        </p:txBody>
      </p:sp>
      <p:sp>
        <p:nvSpPr>
          <p:cNvPr id="5" name="Shape 3"/>
          <p:cNvSpPr/>
          <p:nvPr/>
        </p:nvSpPr>
        <p:spPr>
          <a:xfrm>
            <a:off x="3620839" y="3369766"/>
            <a:ext cx="677614" cy="400050"/>
          </a:xfrm>
          <a:prstGeom prst="roundRect">
            <a:avLst>
              <a:gd name="adj" fmla="val 43537"/>
            </a:avLst>
          </a:prstGeom>
          <a:solidFill>
            <a:srgbClr val="F1C40F"/>
          </a:solidFill>
          <a:ln/>
        </p:spPr>
      </p:sp>
      <p:sp>
        <p:nvSpPr>
          <p:cNvPr id="6" name="Text 4"/>
          <p:cNvSpPr/>
          <p:nvPr/>
        </p:nvSpPr>
        <p:spPr>
          <a:xfrm>
            <a:off x="747713" y="3369766"/>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Text should start to the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right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of the border-left bar.</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Developer: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(ZWJ composed emoji)</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Family: </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(family ZWJ sequence)</a:t>
            </a:r>
            <a:endParaRPr lang="en-US" sz="2175" dirty="0"/>
          </a:p>
        </p:txBody>
      </p:sp>
      <p:sp>
        <p:nvSpPr>
          <p:cNvPr id="7" name="Shape 5"/>
          <p:cNvSpPr/>
          <p:nvPr/>
        </p:nvSpPr>
        <p:spPr>
          <a:xfrm>
            <a:off x="2797969" y="4765179"/>
            <a:ext cx="2995613" cy="400050"/>
          </a:xfrm>
          <a:prstGeom prst="roundRect">
            <a:avLst>
              <a:gd name="adj" fmla="val 43537"/>
            </a:avLst>
          </a:prstGeom>
          <a:solidFill>
            <a:srgbClr val="F1C40F"/>
          </a:solidFill>
          <a:ln/>
        </p:spPr>
      </p:sp>
      <p:sp>
        <p:nvSpPr>
          <p:cNvPr id="8" name="Text 6"/>
          <p:cNvSpPr/>
          <p:nvPr/>
        </p:nvSpPr>
        <p:spPr>
          <a:xfrm>
            <a:off x="747713" y="4765179"/>
            <a:ext cx="10696575" cy="897731"/>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Working on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development efficiency</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improvements</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The 4px border-left should render as a vertical bar with no text overlap</a:t>
            </a:r>
            <a:endParaRPr lang="en-US" sz="2175" dirty="0"/>
          </a:p>
        </p:txBody>
      </p:sp>
      <p:sp>
        <p:nvSpPr>
          <p:cNvPr id="9" name="Text 7"/>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56</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74750"/>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57: Section-scoped colour themes (class-scoped h2 border)</a:t>
            </a:r>
            <a:endParaRPr lang="en-US" sz="3480" dirty="0"/>
          </a:p>
        </p:txBody>
      </p:sp>
      <p:sp>
        <p:nvSpPr>
          <p:cNvPr id="3" name="Shape 1"/>
          <p:cNvSpPr/>
          <p:nvPr/>
        </p:nvSpPr>
        <p:spPr>
          <a:xfrm>
            <a:off x="747713" y="3040707"/>
            <a:ext cx="38100" cy="556468"/>
          </a:xfrm>
          <a:prstGeom prst="rect">
            <a:avLst/>
          </a:prstGeom>
          <a:solidFill>
            <a:srgbClr val="27AE60"/>
          </a:solidFill>
          <a:ln w="12700">
            <a:solidFill>
              <a:srgbClr val="27AE60"/>
            </a:solidFill>
            <a:prstDash val="solid"/>
          </a:ln>
        </p:spPr>
      </p:sp>
      <p:sp>
        <p:nvSpPr>
          <p:cNvPr id="4" name="Text 2"/>
          <p:cNvSpPr/>
          <p:nvPr/>
        </p:nvSpPr>
        <p:spPr>
          <a:xfrm>
            <a:off x="785813" y="3040707"/>
            <a:ext cx="11253788" cy="556468"/>
          </a:xfrm>
          <a:prstGeom prst="rect">
            <a:avLst/>
          </a:prstGeom>
          <a:noFill/>
          <a:ln/>
        </p:spPr>
        <p:txBody>
          <a:bodyPr wrap="square" lIns="95250" tIns="0" rIns="0" bIns="107728" rtlCol="0" anchor="t"/>
          <a:lstStyle/>
          <a:p>
            <a:pPr algn="l" indent="0" marL="0">
              <a:lnSpc>
                <a:spcPct val="125000"/>
              </a:lnSpc>
              <a:buNone/>
            </a:pPr>
            <a:r>
              <a:rPr lang="en-US" sz="2828" b="1" dirty="0">
                <a:solidFill>
                  <a:srgbClr val="27AE60"/>
                </a:solidFill>
                <a:latin typeface="Segoe UI" pitchFamily="34" charset="0"/>
                <a:ea typeface="Segoe UI" pitchFamily="34" charset="-122"/>
                <a:cs typeface="Segoe UI" pitchFamily="34" charset="-120"/>
              </a:rPr>
              <a:t>Theme-colour vertical decoration</a:t>
            </a:r>
            <a:endParaRPr lang="en-US" sz="2828"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47713" y="3749576"/>
          <a:ext cx="10696575" cy="914400"/>
        </p:xfrm>
        <a:graphic>
          <a:graphicData uri="http://schemas.openxmlformats.org/drawingml/2006/table">
            <a:tbl>
              <a:tblPr/>
              <a:tblGrid>
                <a:gridCol w="1514475"/>
                <a:gridCol w="1400175"/>
                <a:gridCol w="1257300"/>
              </a:tblGrid>
              <a:tr h="0">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Item</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Current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Target</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27AE60"/>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Test automation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Partial</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Full coverage</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CI integration</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Manual trigger</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Automated</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6F8FA"/>
                    </a:solidFill>
                  </a:tcPr>
                </a:tc>
              </a:tr>
              <a:tr h="0">
                <a:tc>
                  <a:txBody>
                    <a:bodyPr/>
                    <a:lstStyle/>
                    <a:p>
                      <a:pPr indent="0" marL="0">
                        <a:buNone/>
                      </a:pPr>
                      <a:r>
                        <a:rPr lang="en-US" sz="1350" b="1" dirty="0">
                          <a:solidFill>
                            <a:srgbClr val="1F2328"/>
                          </a:solidFill>
                          <a:latin typeface="Segoe UI" pitchFamily="34" charset="0"/>
                          <a:ea typeface="Segoe UI" pitchFamily="34" charset="-122"/>
                          <a:cs typeface="Segoe UI" pitchFamily="34" charset="-120"/>
                        </a:rPr>
                        <a:t>Deploy</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Weekly manual</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indent="0" marL="0">
                        <a:buNone/>
                      </a:pPr>
                      <a:r>
                        <a:rPr lang="en-US" sz="1350" dirty="0">
                          <a:solidFill>
                            <a:srgbClr val="1F2328"/>
                          </a:solidFill>
                          <a:latin typeface="Segoe UI" pitchFamily="34" charset="0"/>
                          <a:ea typeface="Segoe UI" pitchFamily="34" charset="-122"/>
                          <a:cs typeface="Segoe UI" pitchFamily="34" charset="-120"/>
                        </a:rPr>
                        <a:t>Daily auto</a:t>
                      </a:r>
                      <a:endParaRPr lang="en-US" sz="1200" dirty="0"/>
                    </a:p>
                  </a:txBody>
                  <a:tcPr marL="45720" marR="45720" marT="91440" marB="91440">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6"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57</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7833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58: Solid background strong highlight</a:t>
            </a:r>
            <a:endParaRPr lang="en-US" sz="3480" dirty="0"/>
          </a:p>
        </p:txBody>
      </p:sp>
      <p:sp>
        <p:nvSpPr>
          <p:cNvPr id="3" name="Text 1"/>
          <p:cNvSpPr/>
          <p:nvPr/>
        </p:nvSpPr>
        <p:spPr>
          <a:xfrm>
            <a:off x="747713" y="2591842"/>
            <a:ext cx="11291888" cy="556468"/>
          </a:xfrm>
          <a:prstGeom prst="rect">
            <a:avLst/>
          </a:prstGeom>
          <a:noFill/>
          <a:ln/>
        </p:spPr>
        <p:txBody>
          <a:bodyPr wrap="square" lIns="0" tIns="0" rIns="0" bIns="107728" rtlCol="0" anchor="t"/>
          <a:lstStyle/>
          <a:p>
            <a:pPr algn="l" indent="0" marL="0">
              <a:lnSpc>
                <a:spcPct val="125000"/>
              </a:lnSpc>
              <a:buNone/>
            </a:pPr>
            <a:r>
              <a:rPr lang="en-US" sz="2828" b="1" dirty="0">
                <a:solidFill>
                  <a:srgbClr val="1F2328"/>
                </a:solidFill>
                <a:latin typeface="Segoe UI" pitchFamily="34" charset="0"/>
                <a:ea typeface="Segoe UI" pitchFamily="34" charset="-122"/>
                <a:cs typeface="Segoe UI" pitchFamily="34" charset="-120"/>
              </a:rPr>
              <a:t>Solid-colour strong tag</a:t>
            </a:r>
            <a:endParaRPr lang="en-US" sz="2828" dirty="0"/>
          </a:p>
        </p:txBody>
      </p:sp>
      <p:sp>
        <p:nvSpPr>
          <p:cNvPr id="4" name="Shape 2"/>
          <p:cNvSpPr/>
          <p:nvPr/>
        </p:nvSpPr>
        <p:spPr>
          <a:xfrm>
            <a:off x="3361879" y="3300710"/>
            <a:ext cx="2601069" cy="400050"/>
          </a:xfrm>
          <a:prstGeom prst="roundRect">
            <a:avLst>
              <a:gd name="adj" fmla="val 43537"/>
            </a:avLst>
          </a:prstGeom>
          <a:solidFill>
            <a:srgbClr val="F1C40F"/>
          </a:solidFill>
          <a:ln/>
        </p:spPr>
      </p:sp>
      <p:sp>
        <p:nvSpPr>
          <p:cNvPr id="5" name="Shape 3"/>
          <p:cNvSpPr/>
          <p:nvPr/>
        </p:nvSpPr>
        <p:spPr>
          <a:xfrm>
            <a:off x="6573887" y="3300710"/>
            <a:ext cx="2407295" cy="400050"/>
          </a:xfrm>
          <a:prstGeom prst="roundRect">
            <a:avLst>
              <a:gd name="adj" fmla="val 43537"/>
            </a:avLst>
          </a:prstGeom>
          <a:solidFill>
            <a:srgbClr val="F1C40F"/>
          </a:solidFill>
          <a:ln/>
        </p:spPr>
      </p:sp>
      <p:sp>
        <p:nvSpPr>
          <p:cNvPr id="6" name="Text 4"/>
          <p:cNvSpPr/>
          <p:nvPr/>
        </p:nvSpPr>
        <p:spPr>
          <a:xfrm>
            <a:off x="747713" y="3300710"/>
            <a:ext cx="11001375" cy="828675"/>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Inline highlighting of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important keywords</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percentages (42%)</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in paragraphs.</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Solid colour (#f1c40f) background — not a gradient — should render correctly.</a:t>
            </a:r>
            <a:endParaRPr lang="en-US" sz="2175" dirty="0"/>
          </a:p>
        </p:txBody>
      </p:sp>
      <p:sp>
        <p:nvSpPr>
          <p:cNvPr id="7" name="Shape 5"/>
          <p:cNvSpPr/>
          <p:nvPr/>
        </p:nvSpPr>
        <p:spPr>
          <a:xfrm>
            <a:off x="1300163" y="4281785"/>
            <a:ext cx="1127373" cy="400050"/>
          </a:xfrm>
          <a:prstGeom prst="roundRect">
            <a:avLst>
              <a:gd name="adj" fmla="val 43537"/>
            </a:avLst>
          </a:prstGeom>
          <a:solidFill>
            <a:srgbClr val="F1C40F"/>
          </a:solidFill>
          <a:ln/>
        </p:spPr>
      </p:sp>
      <p:sp>
        <p:nvSpPr>
          <p:cNvPr id="8" name="Shape 6"/>
          <p:cNvSpPr/>
          <p:nvPr/>
        </p:nvSpPr>
        <p:spPr>
          <a:xfrm>
            <a:off x="1704529" y="4765179"/>
            <a:ext cx="1991320" cy="400050"/>
          </a:xfrm>
          <a:prstGeom prst="roundRect">
            <a:avLst>
              <a:gd name="adj" fmla="val 43537"/>
            </a:avLst>
          </a:prstGeom>
          <a:solidFill>
            <a:srgbClr val="F1C40F"/>
          </a:solidFill>
          <a:ln/>
        </p:spPr>
      </p:sp>
      <p:sp>
        <p:nvSpPr>
          <p:cNvPr id="9" name="Text 7"/>
          <p:cNvSpPr/>
          <p:nvPr/>
        </p:nvSpPr>
        <p:spPr>
          <a:xfrm>
            <a:off x="747713" y="4281785"/>
            <a:ext cx="10696575" cy="897731"/>
          </a:xfrm>
          <a:prstGeom prst="rect">
            <a:avLst/>
          </a:prstGeom>
          <a:noFill/>
          <a:ln/>
        </p:spPr>
        <p:txBody>
          <a:bodyPr wrap="square" lIns="0" tIns="0" rIns="0" bIns="0" rtlCol="0" anchor="t"/>
          <a:lstStyle/>
          <a:p>
            <a:pPr algn="l" marL="342900" indent="-342900">
              <a:lnSpc>
                <a:spcPct val="150000"/>
              </a:lnSpc>
              <a:buSzPct val="100000"/>
              <a:buChar char="•"/>
            </a:pPr>
            <a:r>
              <a:rPr lang="en-US" sz="2175" b="1" dirty="0">
                <a:solidFill>
                  <a:srgbClr val="1F2328"/>
                </a:solidFill>
                <a:latin typeface="Segoe UI" pitchFamily="34" charset="0"/>
                <a:ea typeface="Segoe UI" pitchFamily="34" charset="-122"/>
                <a:cs typeface="Segoe UI" pitchFamily="34" charset="-120"/>
              </a:rPr>
              <a:t>test-first</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approach for quality assurance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Fix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High / Medium</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findings during review before completion</a:t>
            </a:r>
            <a:endParaRPr lang="en-US" sz="2175" dirty="0"/>
          </a:p>
        </p:txBody>
      </p:sp>
      <p:sp>
        <p:nvSpPr>
          <p:cNvPr id="10" name="Text 8"/>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58</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7713" y="1720007"/>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59: Compound background filters (blur + brightness + grayscale)</a:t>
            </a:r>
            <a:endParaRPr lang="en-US" sz="3480" dirty="0"/>
          </a:p>
        </p:txBody>
      </p:sp>
      <p:sp>
        <p:nvSpPr>
          <p:cNvPr id="3" name="Shape 1"/>
          <p:cNvSpPr/>
          <p:nvPr/>
        </p:nvSpPr>
        <p:spPr>
          <a:xfrm>
            <a:off x="747713" y="3185964"/>
            <a:ext cx="38100" cy="556468"/>
          </a:xfrm>
          <a:prstGeom prst="rect">
            <a:avLst/>
          </a:prstGeom>
          <a:solidFill>
            <a:srgbClr val="E74C3C"/>
          </a:solidFill>
          <a:ln w="12700">
            <a:solidFill>
              <a:srgbClr val="E74C3C"/>
            </a:solidFill>
            <a:prstDash val="solid"/>
          </a:ln>
        </p:spPr>
      </p:sp>
      <p:sp>
        <p:nvSpPr>
          <p:cNvPr id="4" name="Text 2"/>
          <p:cNvSpPr/>
          <p:nvPr/>
        </p:nvSpPr>
        <p:spPr>
          <a:xfrm>
            <a:off x="785813" y="3185964"/>
            <a:ext cx="11253788" cy="556468"/>
          </a:xfrm>
          <a:prstGeom prst="rect">
            <a:avLst/>
          </a:prstGeom>
          <a:noFill/>
          <a:ln/>
        </p:spPr>
        <p:txBody>
          <a:bodyPr wrap="square" lIns="95250" tIns="0" rIns="0" bIns="107728" rtlCol="0" anchor="t"/>
          <a:lstStyle/>
          <a:p>
            <a:pPr algn="l" indent="0" marL="0">
              <a:lnSpc>
                <a:spcPct val="125000"/>
              </a:lnSpc>
              <a:buNone/>
            </a:pPr>
            <a:r>
              <a:rPr lang="en-US" sz="2828" b="1" dirty="0">
                <a:solidFill>
                  <a:srgbClr val="C0392B"/>
                </a:solidFill>
                <a:latin typeface="Segoe UI" pitchFamily="34" charset="0"/>
                <a:ea typeface="Segoe UI" pitchFamily="34" charset="-122"/>
                <a:cs typeface="Segoe UI" pitchFamily="34" charset="-120"/>
              </a:rPr>
              <a:t>Background image with filters</a:t>
            </a:r>
            <a:endParaRPr lang="en-US" sz="2828" dirty="0"/>
          </a:p>
        </p:txBody>
      </p:sp>
      <p:sp>
        <p:nvSpPr>
          <p:cNvPr id="5" name="Text 3"/>
          <p:cNvSpPr/>
          <p:nvPr/>
        </p:nvSpPr>
        <p:spPr>
          <a:xfrm>
            <a:off x="747713" y="3894832"/>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Three filters applied simultaneously to the background image: blur + brightness + grayscale.</a:t>
            </a:r>
            <a:pPr algn="l" indent="0" marL="0">
              <a:lnSpc>
                <a:spcPct val="150000"/>
              </a:lnSpc>
              <a:buNone/>
            </a:pPr>
            <a:endParaRPr lang="en-US" sz="2175" dirty="0"/>
          </a:p>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Foreground text is displayed with a border-left vertical decoration heading.</a:t>
            </a:r>
            <a:endParaRPr lang="en-US" sz="2175" dirty="0"/>
          </a:p>
        </p:txBody>
      </p:sp>
      <p:sp>
        <p:nvSpPr>
          <p:cNvPr id="6" name="Text 4"/>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59</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16324F"/>
          </a:solidFill>
          <a:ln/>
        </p:spPr>
      </p:sp>
      <p:sp>
        <p:nvSpPr>
          <p:cNvPr id="3" name="Shape 1"/>
          <p:cNvSpPr/>
          <p:nvPr/>
        </p:nvSpPr>
        <p:spPr>
          <a:xfrm>
            <a:off x="0" y="6762750"/>
            <a:ext cx="12192000" cy="95250"/>
          </a:xfrm>
          <a:prstGeom prst="rect">
            <a:avLst/>
          </a:prstGeom>
          <a:solidFill>
            <a:srgbClr val="0F6CBD"/>
          </a:solidFill>
          <a:ln/>
        </p:spPr>
      </p:sp>
      <p:sp>
        <p:nvSpPr>
          <p:cNvPr id="4" name="Text 2"/>
          <p:cNvSpPr/>
          <p:nvPr/>
        </p:nvSpPr>
        <p:spPr>
          <a:xfrm>
            <a:off x="747713" y="85293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60: global section::before + user class (no banner test)</a:t>
            </a:r>
            <a:endParaRPr lang="en-US" sz="3480" dirty="0"/>
          </a:p>
        </p:txBody>
      </p:sp>
      <p:sp>
        <p:nvSpPr>
          <p:cNvPr id="5" name="Text 3"/>
          <p:cNvSpPr/>
          <p:nvPr/>
        </p:nvSpPr>
        <p:spPr>
          <a:xfrm>
            <a:off x="747713" y="2242691"/>
            <a:ext cx="11001375" cy="833289"/>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This slide has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class="decorated"</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also defines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section::before</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 </a:t>
            </a:r>
            <a:pPr algn="l" indent="0" marL="0">
              <a:lnSpc>
                <a:spcPct val="150000"/>
              </a:lnSpc>
              <a:buNone/>
            </a:pPr>
            <a:r>
              <a:rPr lang="en-US" sz="1849" dirty="0">
                <a:solidFill>
                  <a:srgbClr val="1F2328"/>
                </a:solidFill>
                <a:highlight>
                  <a:srgbClr val="F0F1F3"/>
                </a:highlight>
                <a:latin typeface="Consolas" pitchFamily="34" charset="0"/>
                <a:ea typeface="Consolas" pitchFamily="34" charset="-122"/>
                <a:cs typeface="Consolas" pitchFamily="34" charset="-120"/>
              </a:rPr>
              <a:t>section::after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as scoped styles.</a:t>
            </a:r>
            <a:endParaRPr lang="en-US" sz="2175" dirty="0"/>
          </a:p>
        </p:txBody>
      </p:sp>
      <p:sp>
        <p:nvSpPr>
          <p:cNvPr id="6" name="Text 4"/>
          <p:cNvSpPr/>
          <p:nvPr/>
        </p:nvSpPr>
        <p:spPr>
          <a:xfrm>
            <a:off x="747713" y="3228380"/>
            <a:ext cx="11001375" cy="1243013"/>
          </a:xfrm>
          <a:prstGeom prst="rect">
            <a:avLst/>
          </a:prstGeom>
          <a:noFill/>
          <a:ln/>
        </p:spPr>
        <p:txBody>
          <a:bodyPr wrap="square" lIns="0" tIns="0" rIns="0" bIns="0" rtlCol="0" anchor="t"/>
          <a:lstStyle/>
          <a:p>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Because the same pseudo-element also applies to a classless slide (slide 55), the rule is treated as a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global theme decoration</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and </a:t>
            </a:r>
            <a:pPr algn="l" indent="0" marL="0">
              <a:lnSpc>
                <a:spcPct val="150000"/>
              </a:lnSpc>
              <a:buNone/>
            </a:pPr>
            <a:r>
              <a:rPr lang="en-US" sz="2175" b="1" dirty="0">
                <a:solidFill>
                  <a:srgbClr val="1F2328"/>
                </a:solidFill>
                <a:latin typeface="Segoe UI" pitchFamily="34" charset="0"/>
                <a:ea typeface="Segoe UI" pitchFamily="34" charset="-122"/>
                <a:cs typeface="Segoe UI" pitchFamily="34" charset="-120"/>
              </a:rPr>
              <a:t>no banner should appear</a:t>
            </a:r>
            <a:pPr algn="l" indent="0" marL="0">
              <a:lnSpc>
                <a:spcPct val="150000"/>
              </a:lnSpc>
              <a:buNone/>
            </a:pPr>
            <a:r>
              <a:rPr lang="en-US" sz="2175" dirty="0">
                <a:solidFill>
                  <a:srgbClr val="1F2328"/>
                </a:solidFill>
                <a:latin typeface="Segoe UI" pitchFamily="34" charset="0"/>
                <a:ea typeface="Segoe UI" pitchFamily="34" charset="-122"/>
                <a:cs typeface="Segoe UI" pitchFamily="34" charset="-120"/>
              </a:rPr>
              <a:t> at the top or bottom.</a:t>
            </a:r>
            <a:endParaRPr lang="en-US" sz="2175" dirty="0"/>
          </a:p>
        </p:txBody>
      </p:sp>
      <p:sp>
        <p:nvSpPr>
          <p:cNvPr id="7" name="Text 5"/>
          <p:cNvSpPr/>
          <p:nvPr/>
        </p:nvSpPr>
        <p:spPr>
          <a:xfrm>
            <a:off x="747713" y="4623792"/>
            <a:ext cx="10696575" cy="1381125"/>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no dark navy bar at top of slide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Verify: no blue bar at bottom of slide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Only the content text should be visible</a:t>
            </a:r>
            <a:endParaRPr lang="en-US" sz="217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957834"/>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61: Grid + flex agenda (direct text node bug regression)</a:t>
            </a:r>
            <a:endParaRPr lang="en-US" sz="3480" dirty="0"/>
          </a:p>
        </p:txBody>
      </p:sp>
      <p:sp>
        <p:nvSpPr>
          <p:cNvPr id="3" name="Shape 1"/>
          <p:cNvSpPr/>
          <p:nvPr/>
        </p:nvSpPr>
        <p:spPr>
          <a:xfrm>
            <a:off x="747713" y="3423791"/>
            <a:ext cx="304800" cy="304800"/>
          </a:xfrm>
          <a:prstGeom prst="roundRect">
            <a:avLst>
              <a:gd name="adj" fmla="val 150000"/>
            </a:avLst>
          </a:prstGeom>
          <a:solidFill>
            <a:srgbClr val="0F6CBD"/>
          </a:solidFill>
          <a:ln/>
        </p:spPr>
      </p:sp>
      <p:sp>
        <p:nvSpPr>
          <p:cNvPr id="4" name="Text 2"/>
          <p:cNvSpPr/>
          <p:nvPr/>
        </p:nvSpPr>
        <p:spPr>
          <a:xfrm>
            <a:off x="747713" y="342379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1</a:t>
            </a:r>
            <a:endParaRPr lang="en-US" sz="1125" dirty="0"/>
          </a:p>
        </p:txBody>
      </p:sp>
      <p:sp>
        <p:nvSpPr>
          <p:cNvPr id="5" name="Text 3"/>
          <p:cNvSpPr/>
          <p:nvPr/>
        </p:nvSpPr>
        <p:spPr>
          <a:xfrm>
            <a:off x="1185863" y="3423791"/>
            <a:ext cx="47767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Background and Purpose</a:t>
            </a:r>
            <a:endParaRPr lang="en-US" sz="1650" dirty="0"/>
          </a:p>
        </p:txBody>
      </p:sp>
      <p:sp>
        <p:nvSpPr>
          <p:cNvPr id="6" name="Shape 4"/>
          <p:cNvSpPr/>
          <p:nvPr/>
        </p:nvSpPr>
        <p:spPr>
          <a:xfrm>
            <a:off x="6229350" y="3423791"/>
            <a:ext cx="304800" cy="304800"/>
          </a:xfrm>
          <a:prstGeom prst="roundRect">
            <a:avLst>
              <a:gd name="adj" fmla="val 150000"/>
            </a:avLst>
          </a:prstGeom>
          <a:solidFill>
            <a:srgbClr val="0F6CBD"/>
          </a:solidFill>
          <a:ln/>
        </p:spPr>
      </p:sp>
      <p:sp>
        <p:nvSpPr>
          <p:cNvPr id="7" name="Text 5"/>
          <p:cNvSpPr/>
          <p:nvPr/>
        </p:nvSpPr>
        <p:spPr>
          <a:xfrm>
            <a:off x="6229350" y="342379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2</a:t>
            </a:r>
            <a:endParaRPr lang="en-US" sz="1125" dirty="0"/>
          </a:p>
        </p:txBody>
      </p:sp>
      <p:sp>
        <p:nvSpPr>
          <p:cNvPr id="8" name="Text 6"/>
          <p:cNvSpPr/>
          <p:nvPr/>
        </p:nvSpPr>
        <p:spPr>
          <a:xfrm>
            <a:off x="6667500" y="3423791"/>
            <a:ext cx="50815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Current Issues</a:t>
            </a:r>
            <a:endParaRPr lang="en-US" sz="1650" dirty="0"/>
          </a:p>
        </p:txBody>
      </p:sp>
      <p:sp>
        <p:nvSpPr>
          <p:cNvPr id="9" name="Shape 7"/>
          <p:cNvSpPr/>
          <p:nvPr/>
        </p:nvSpPr>
        <p:spPr>
          <a:xfrm>
            <a:off x="747713" y="4004816"/>
            <a:ext cx="304800" cy="304800"/>
          </a:xfrm>
          <a:prstGeom prst="roundRect">
            <a:avLst>
              <a:gd name="adj" fmla="val 150000"/>
            </a:avLst>
          </a:prstGeom>
          <a:solidFill>
            <a:srgbClr val="0F6CBD"/>
          </a:solidFill>
          <a:ln/>
        </p:spPr>
      </p:sp>
      <p:sp>
        <p:nvSpPr>
          <p:cNvPr id="10" name="Text 8"/>
          <p:cNvSpPr/>
          <p:nvPr/>
        </p:nvSpPr>
        <p:spPr>
          <a:xfrm>
            <a:off x="747713" y="4004816"/>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3</a:t>
            </a:r>
            <a:endParaRPr lang="en-US" sz="1125" dirty="0"/>
          </a:p>
        </p:txBody>
      </p:sp>
      <p:sp>
        <p:nvSpPr>
          <p:cNvPr id="11" name="Text 9"/>
          <p:cNvSpPr/>
          <p:nvPr/>
        </p:nvSpPr>
        <p:spPr>
          <a:xfrm>
            <a:off x="1185863" y="4004816"/>
            <a:ext cx="47767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Migration Strategy</a:t>
            </a:r>
            <a:endParaRPr lang="en-US" sz="1650" dirty="0"/>
          </a:p>
        </p:txBody>
      </p:sp>
      <p:sp>
        <p:nvSpPr>
          <p:cNvPr id="12" name="Shape 10"/>
          <p:cNvSpPr/>
          <p:nvPr/>
        </p:nvSpPr>
        <p:spPr>
          <a:xfrm>
            <a:off x="6229350" y="4004816"/>
            <a:ext cx="304800" cy="304800"/>
          </a:xfrm>
          <a:prstGeom prst="roundRect">
            <a:avLst>
              <a:gd name="adj" fmla="val 150000"/>
            </a:avLst>
          </a:prstGeom>
          <a:solidFill>
            <a:srgbClr val="0F6CBD"/>
          </a:solidFill>
          <a:ln/>
        </p:spPr>
      </p:sp>
      <p:sp>
        <p:nvSpPr>
          <p:cNvPr id="13" name="Text 11"/>
          <p:cNvSpPr/>
          <p:nvPr/>
        </p:nvSpPr>
        <p:spPr>
          <a:xfrm>
            <a:off x="6229350" y="4004816"/>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4</a:t>
            </a:r>
            <a:endParaRPr lang="en-US" sz="1125" dirty="0"/>
          </a:p>
        </p:txBody>
      </p:sp>
      <p:sp>
        <p:nvSpPr>
          <p:cNvPr id="14" name="Text 12"/>
          <p:cNvSpPr/>
          <p:nvPr/>
        </p:nvSpPr>
        <p:spPr>
          <a:xfrm>
            <a:off x="6667500" y="4004816"/>
            <a:ext cx="50815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Technical Approach</a:t>
            </a:r>
            <a:endParaRPr lang="en-US" sz="1650" dirty="0"/>
          </a:p>
        </p:txBody>
      </p:sp>
      <p:sp>
        <p:nvSpPr>
          <p:cNvPr id="15" name="Shape 13"/>
          <p:cNvSpPr/>
          <p:nvPr/>
        </p:nvSpPr>
        <p:spPr>
          <a:xfrm>
            <a:off x="747713" y="4585841"/>
            <a:ext cx="304800" cy="304800"/>
          </a:xfrm>
          <a:prstGeom prst="roundRect">
            <a:avLst>
              <a:gd name="adj" fmla="val 150000"/>
            </a:avLst>
          </a:prstGeom>
          <a:solidFill>
            <a:srgbClr val="0F6CBD"/>
          </a:solidFill>
          <a:ln/>
        </p:spPr>
      </p:sp>
      <p:sp>
        <p:nvSpPr>
          <p:cNvPr id="16" name="Text 14"/>
          <p:cNvSpPr/>
          <p:nvPr/>
        </p:nvSpPr>
        <p:spPr>
          <a:xfrm>
            <a:off x="747713" y="458584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5</a:t>
            </a:r>
            <a:endParaRPr lang="en-US" sz="1125" dirty="0"/>
          </a:p>
        </p:txBody>
      </p:sp>
      <p:sp>
        <p:nvSpPr>
          <p:cNvPr id="17" name="Text 15"/>
          <p:cNvSpPr/>
          <p:nvPr/>
        </p:nvSpPr>
        <p:spPr>
          <a:xfrm>
            <a:off x="1185863" y="4585841"/>
            <a:ext cx="47767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Implementation Plan</a:t>
            </a:r>
            <a:endParaRPr lang="en-US" sz="1650" dirty="0"/>
          </a:p>
        </p:txBody>
      </p:sp>
      <p:sp>
        <p:nvSpPr>
          <p:cNvPr id="18" name="Shape 16"/>
          <p:cNvSpPr/>
          <p:nvPr/>
        </p:nvSpPr>
        <p:spPr>
          <a:xfrm>
            <a:off x="6229350" y="4585841"/>
            <a:ext cx="304800" cy="304800"/>
          </a:xfrm>
          <a:prstGeom prst="roundRect">
            <a:avLst>
              <a:gd name="adj" fmla="val 150000"/>
            </a:avLst>
          </a:prstGeom>
          <a:solidFill>
            <a:srgbClr val="0F6CBD"/>
          </a:solidFill>
          <a:ln/>
        </p:spPr>
      </p:sp>
      <p:sp>
        <p:nvSpPr>
          <p:cNvPr id="19" name="Text 17"/>
          <p:cNvSpPr/>
          <p:nvPr/>
        </p:nvSpPr>
        <p:spPr>
          <a:xfrm>
            <a:off x="6229350" y="4585841"/>
            <a:ext cx="381000" cy="304800"/>
          </a:xfrm>
          <a:prstGeom prst="rect">
            <a:avLst/>
          </a:prstGeom>
          <a:noFill/>
          <a:ln/>
        </p:spPr>
        <p:txBody>
          <a:bodyPr wrap="square" lIns="0" tIns="0" rIns="0" bIns="0" rtlCol="0" anchor="ctr"/>
          <a:lstStyle/>
          <a:p>
            <a:pPr algn="ctr" indent="0" marL="0">
              <a:lnSpc>
                <a:spcPct val="150000"/>
              </a:lnSpc>
              <a:buNone/>
            </a:pPr>
            <a:r>
              <a:rPr lang="en-US" sz="1125" b="1" dirty="0">
                <a:solidFill>
                  <a:srgbClr val="FFFFFF"/>
                </a:solidFill>
                <a:latin typeface="Segoe UI" pitchFamily="34" charset="0"/>
                <a:ea typeface="Segoe UI" pitchFamily="34" charset="-122"/>
                <a:cs typeface="Segoe UI" pitchFamily="34" charset="-120"/>
              </a:rPr>
              <a:t>6</a:t>
            </a:r>
            <a:endParaRPr lang="en-US" sz="1125" dirty="0"/>
          </a:p>
        </p:txBody>
      </p:sp>
      <p:sp>
        <p:nvSpPr>
          <p:cNvPr id="20" name="Text 18"/>
          <p:cNvSpPr/>
          <p:nvPr/>
        </p:nvSpPr>
        <p:spPr>
          <a:xfrm>
            <a:off x="6667500" y="4585841"/>
            <a:ext cx="5081588" cy="314325"/>
          </a:xfrm>
          <a:prstGeom prst="rect">
            <a:avLst/>
          </a:prstGeom>
          <a:noFill/>
          <a:ln/>
        </p:spPr>
        <p:txBody>
          <a:bodyPr wrap="square" lIns="0" tIns="0" rIns="0" bIns="0" rtlCol="0" anchor="t"/>
          <a:lstStyle/>
          <a:p>
            <a:pPr algn="l" indent="0" marL="0">
              <a:lnSpc>
                <a:spcPct val="150000"/>
              </a:lnSpc>
              <a:buNone/>
            </a:pPr>
            <a:r>
              <a:rPr lang="en-US" sz="1650" dirty="0">
                <a:solidFill>
                  <a:srgbClr val="1F2328"/>
                </a:solidFill>
                <a:latin typeface="Segoe UI" pitchFamily="34" charset="0"/>
                <a:ea typeface="Segoe UI" pitchFamily="34" charset="-122"/>
                <a:cs typeface="Segoe UI" pitchFamily="34" charset="-120"/>
              </a:rPr>
              <a:t>Expected Outcomes</a:t>
            </a:r>
            <a:endParaRPr lang="en-US" sz="1650" dirty="0"/>
          </a:p>
        </p:txBody>
      </p:sp>
      <p:sp>
        <p:nvSpPr>
          <p:cNvPr id="21" name="Text 19"/>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61</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629221"/>
            <a:ext cx="11291888" cy="123735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62: Trailing-space hard line break inside list item</a:t>
            </a:r>
            <a:endParaRPr lang="en-US" sz="3480" dirty="0"/>
          </a:p>
        </p:txBody>
      </p:sp>
      <p:sp>
        <p:nvSpPr>
          <p:cNvPr id="3" name="Text 1"/>
          <p:cNvSpPr/>
          <p:nvPr/>
        </p:nvSpPr>
        <p:spPr>
          <a:xfrm>
            <a:off x="747713" y="3018979"/>
            <a:ext cx="10696575" cy="2209800"/>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Line one</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Line two (same bullet, separated by trailing-space line break)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Normal item (no line break)</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Third bullet</a:t>
            </a:r>
            <a:endParaRPr lang="en-US" sz="2175" dirty="0"/>
          </a:p>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Also has a second line</a:t>
            </a:r>
            <a:endParaRPr lang="en-US" sz="2175" dirty="0"/>
          </a:p>
        </p:txBody>
      </p:sp>
      <p:sp>
        <p:nvSpPr>
          <p:cNvPr id="4" name="Text 2"/>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62</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7713" y="1558975"/>
            <a:ext cx="11291888" cy="684907"/>
          </a:xfrm>
          <a:prstGeom prst="rect">
            <a:avLst/>
          </a:prstGeom>
          <a:noFill/>
          <a:ln/>
        </p:spPr>
        <p:txBody>
          <a:bodyPr wrap="square" lIns="0" tIns="0" rIns="0" bIns="132588" rtlCol="0" anchor="t"/>
          <a:lstStyle/>
          <a:p>
            <a:pPr algn="l" indent="0" marL="0">
              <a:lnSpc>
                <a:spcPct val="125000"/>
              </a:lnSpc>
              <a:buNone/>
            </a:pPr>
            <a:r>
              <a:rPr lang="en-US" sz="3480" b="1" dirty="0">
                <a:solidFill>
                  <a:srgbClr val="224466"/>
                </a:solidFill>
                <a:latin typeface="Segoe UI" pitchFamily="34" charset="0"/>
                <a:ea typeface="Segoe UI" pitchFamily="34" charset="-122"/>
                <a:cs typeface="Segoe UI" pitchFamily="34" charset="-120"/>
              </a:rPr>
              <a:t>Slide 63: Image between list items (no blank lines)</a:t>
            </a:r>
            <a:endParaRPr lang="en-US" sz="3480" dirty="0"/>
          </a:p>
        </p:txBody>
      </p:sp>
      <p:sp>
        <p:nvSpPr>
          <p:cNvPr id="3" name="Text 1"/>
          <p:cNvSpPr/>
          <p:nvPr/>
        </p:nvSpPr>
        <p:spPr>
          <a:xfrm>
            <a:off x="747713" y="2396282"/>
            <a:ext cx="10696575" cy="2419350"/>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First item</a:t>
            </a:r>
            <a:endParaRPr lang="en-US" sz="2175" dirty="0"/>
          </a:p>
        </p:txBody>
      </p:sp>
      <p:pic>
        <p:nvPicPr>
          <p:cNvPr id="4" name="Image 0" descr="preencoded.png">    </p:cNvPr>
          <p:cNvPicPr>
            <a:picLocks noChangeAspect="1"/>
          </p:cNvPicPr>
          <p:nvPr/>
        </p:nvPicPr>
        <p:blipFill>
          <a:blip r:embed="rId1"/>
          <a:stretch>
            <a:fillRect/>
          </a:stretch>
        </p:blipFill>
        <p:spPr>
          <a:xfrm>
            <a:off x="1300163" y="2810619"/>
            <a:ext cx="1905000" cy="1905000"/>
          </a:xfrm>
          <a:prstGeom prst="rect">
            <a:avLst/>
          </a:prstGeom>
        </p:spPr>
      </p:pic>
      <p:sp>
        <p:nvSpPr>
          <p:cNvPr id="5" name="Text 2"/>
          <p:cNvSpPr/>
          <p:nvPr/>
        </p:nvSpPr>
        <p:spPr>
          <a:xfrm>
            <a:off x="747713" y="4884688"/>
            <a:ext cx="10696575" cy="414338"/>
          </a:xfrm>
          <a:prstGeom prst="rect">
            <a:avLst/>
          </a:prstGeom>
          <a:noFill/>
          <a:ln/>
        </p:spPr>
        <p:txBody>
          <a:bodyPr wrap="square" lIns="0" tIns="0" rIns="0" bIns="0" rtlCol="0" anchor="t"/>
          <a:lstStyle/>
          <a:p>
            <a:pPr algn="l" marL="342900" indent="-342900">
              <a:lnSpc>
                <a:spcPct val="150000"/>
              </a:lnSpc>
              <a:buSzPct val="100000"/>
              <a:buChar char="•"/>
            </a:pPr>
            <a:r>
              <a:rPr lang="en-US" sz="2175" dirty="0">
                <a:solidFill>
                  <a:srgbClr val="1F2328"/>
                </a:solidFill>
                <a:latin typeface="Segoe UI" pitchFamily="34" charset="0"/>
                <a:ea typeface="Segoe UI" pitchFamily="34" charset="-122"/>
                <a:cs typeface="Segoe UI" pitchFamily="34" charset="-120"/>
              </a:rPr>
              <a:t>Second item</a:t>
            </a:r>
            <a:endParaRPr lang="en-US" sz="2175" dirty="0"/>
          </a:p>
        </p:txBody>
      </p:sp>
      <p:sp>
        <p:nvSpPr>
          <p:cNvPr id="6" name="Text 3"/>
          <p:cNvSpPr/>
          <p:nvPr/>
        </p:nvSpPr>
        <p:spPr>
          <a:xfrm>
            <a:off x="0" y="0"/>
            <a:ext cx="12192000" cy="6858000"/>
          </a:xfrm>
          <a:prstGeom prst="rect">
            <a:avLst/>
          </a:prstGeom>
          <a:noFill/>
          <a:ln/>
        </p:spPr>
        <p:txBody>
          <a:bodyPr wrap="square" lIns="747713" tIns="0" rIns="747713" bIns="747713" rtlCol="0" anchor="b"/>
          <a:lstStyle/>
          <a:p>
            <a:pPr algn="r" indent="0" marL="0">
              <a:lnSpc>
                <a:spcPct val="150000"/>
              </a:lnSpc>
              <a:buNone/>
            </a:pPr>
            <a:r>
              <a:rPr lang="en-US" sz="1800" dirty="0">
                <a:solidFill>
                  <a:srgbClr val="777777"/>
                </a:solidFill>
                <a:latin typeface="Segoe UI" pitchFamily="34" charset="0"/>
                <a:ea typeface="Segoe UI" pitchFamily="34" charset="-122"/>
                <a:cs typeface="Segoe UI" pitchFamily="34" charset="-120"/>
              </a:rPr>
              <a:t>63</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2026-04-11T09:59:50Z</dcterms:created>
  <dcterms:modified xsi:type="dcterms:W3CDTF">2026-04-11T09:59:50Z</dcterms:modified>
</cp:coreProperties>
</file>